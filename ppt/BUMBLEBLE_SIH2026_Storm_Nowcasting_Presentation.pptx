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18288000" cy="10287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Trade Gothic Next LT Pro"/>
                <a:cs typeface="Trade Gothic Next LT Pro"/>
              </a:defRPr>
            </a:lvl1pPr>
          </a:lstStyle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dirty="0"/>
              <a:t>@SIH</a:t>
            </a:r>
            <a:r>
              <a:rPr dirty="0" spc="-15"/>
              <a:t> </a:t>
            </a:r>
            <a:r>
              <a:rPr dirty="0"/>
              <a:t>Idea</a:t>
            </a:r>
            <a:r>
              <a:rPr dirty="0" spc="-10"/>
              <a:t> </a:t>
            </a:r>
            <a:r>
              <a:rPr dirty="0"/>
              <a:t>submission-</a:t>
            </a:r>
            <a:r>
              <a:rPr dirty="0" spc="-10"/>
              <a:t> Template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AlternateGotNo3D"/>
                <a:cs typeface="AlternateGotNo3D"/>
              </a:defRPr>
            </a:lvl1pPr>
          </a:lstStyle>
          <a:p>
            <a:pPr marL="38100">
              <a:lnSpc>
                <a:spcPts val="2085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Trade Gothic Next LT Pro"/>
                <a:cs typeface="Trade Gothic Next LT Pro"/>
              </a:defRPr>
            </a:lvl1pPr>
          </a:lstStyle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dirty="0"/>
              <a:t>@SIH</a:t>
            </a:r>
            <a:r>
              <a:rPr dirty="0" spc="-15"/>
              <a:t> </a:t>
            </a:r>
            <a:r>
              <a:rPr dirty="0"/>
              <a:t>Idea</a:t>
            </a:r>
            <a:r>
              <a:rPr dirty="0" spc="-10"/>
              <a:t> </a:t>
            </a:r>
            <a:r>
              <a:rPr dirty="0"/>
              <a:t>submission-</a:t>
            </a:r>
            <a:r>
              <a:rPr dirty="0" spc="-10"/>
              <a:t> Template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AlternateGotNo3D"/>
                <a:cs typeface="AlternateGotNo3D"/>
              </a:defRPr>
            </a:lvl1pPr>
          </a:lstStyle>
          <a:p>
            <a:pPr marL="38100">
              <a:lnSpc>
                <a:spcPts val="2085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Trade Gothic Next LT Pro"/>
                <a:cs typeface="Trade Gothic Next LT Pro"/>
              </a:defRPr>
            </a:lvl1pPr>
          </a:lstStyle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dirty="0"/>
              <a:t>@SIH</a:t>
            </a:r>
            <a:r>
              <a:rPr dirty="0" spc="-15"/>
              <a:t> </a:t>
            </a:r>
            <a:r>
              <a:rPr dirty="0"/>
              <a:t>Idea</a:t>
            </a:r>
            <a:r>
              <a:rPr dirty="0" spc="-10"/>
              <a:t> </a:t>
            </a:r>
            <a:r>
              <a:rPr dirty="0"/>
              <a:t>submission-</a:t>
            </a:r>
            <a:r>
              <a:rPr dirty="0" spc="-10"/>
              <a:t> Template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AlternateGotNo3D"/>
                <a:cs typeface="AlternateGotNo3D"/>
              </a:defRPr>
            </a:lvl1pPr>
          </a:lstStyle>
          <a:p>
            <a:pPr marL="38100">
              <a:lnSpc>
                <a:spcPts val="2085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Trade Gothic Next LT Pro"/>
                <a:cs typeface="Trade Gothic Next LT Pro"/>
              </a:defRPr>
            </a:lvl1pPr>
          </a:lstStyle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dirty="0"/>
              <a:t>@SIH</a:t>
            </a:r>
            <a:r>
              <a:rPr dirty="0" spc="-15"/>
              <a:t> </a:t>
            </a:r>
            <a:r>
              <a:rPr dirty="0"/>
              <a:t>Idea</a:t>
            </a:r>
            <a:r>
              <a:rPr dirty="0" spc="-10"/>
              <a:t> </a:t>
            </a:r>
            <a:r>
              <a:rPr dirty="0"/>
              <a:t>submission-</a:t>
            </a:r>
            <a:r>
              <a:rPr dirty="0" spc="-10"/>
              <a:t> Template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AlternateGotNo3D"/>
                <a:cs typeface="AlternateGotNo3D"/>
              </a:defRPr>
            </a:lvl1pPr>
          </a:lstStyle>
          <a:p>
            <a:pPr marL="38100">
              <a:lnSpc>
                <a:spcPts val="2085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Trade Gothic Next LT Pro"/>
                <a:cs typeface="Trade Gothic Next LT Pro"/>
              </a:defRPr>
            </a:lvl1pPr>
          </a:lstStyle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dirty="0"/>
              <a:t>@SIH</a:t>
            </a:r>
            <a:r>
              <a:rPr dirty="0" spc="-15"/>
              <a:t> </a:t>
            </a:r>
            <a:r>
              <a:rPr dirty="0"/>
              <a:t>Idea</a:t>
            </a:r>
            <a:r>
              <a:rPr dirty="0" spc="-10"/>
              <a:t> </a:t>
            </a:r>
            <a:r>
              <a:rPr dirty="0"/>
              <a:t>submission-</a:t>
            </a:r>
            <a:r>
              <a:rPr dirty="0" spc="-10"/>
              <a:t> Template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AlternateGotNo3D"/>
                <a:cs typeface="AlternateGotNo3D"/>
              </a:defRPr>
            </a:lvl1pPr>
          </a:lstStyle>
          <a:p>
            <a:pPr marL="38100">
              <a:lnSpc>
                <a:spcPts val="2085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9559506"/>
            <a:ext cx="18288000" cy="727494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0" y="9532137"/>
            <a:ext cx="18288000" cy="755015"/>
          </a:xfrm>
          <a:custGeom>
            <a:avLst/>
            <a:gdLst/>
            <a:ahLst/>
            <a:cxnLst/>
            <a:rect l="l" t="t" r="r" b="b"/>
            <a:pathLst>
              <a:path w="18288000" h="755015">
                <a:moveTo>
                  <a:pt x="18288000" y="0"/>
                </a:moveTo>
                <a:lnTo>
                  <a:pt x="0" y="0"/>
                </a:lnTo>
                <a:lnTo>
                  <a:pt x="0" y="754862"/>
                </a:lnTo>
                <a:lnTo>
                  <a:pt x="18288000" y="754862"/>
                </a:lnTo>
                <a:lnTo>
                  <a:pt x="18288000" y="0"/>
                </a:lnTo>
                <a:close/>
              </a:path>
            </a:pathLst>
          </a:custGeom>
          <a:solidFill>
            <a:srgbClr val="0070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939199" y="298276"/>
            <a:ext cx="10409600" cy="8483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923399" y="2395538"/>
            <a:ext cx="8640444" cy="21482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7750099" y="9635368"/>
            <a:ext cx="3250565" cy="3136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bg1"/>
                </a:solidFill>
                <a:latin typeface="Trade Gothic Next LT Pro"/>
                <a:cs typeface="Trade Gothic Next LT Pro"/>
              </a:defRPr>
            </a:lvl1pPr>
          </a:lstStyle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dirty="0"/>
              <a:t>@SIH</a:t>
            </a:r>
            <a:r>
              <a:rPr dirty="0" spc="-15"/>
              <a:t> </a:t>
            </a:r>
            <a:r>
              <a:rPr dirty="0"/>
              <a:t>Idea</a:t>
            </a:r>
            <a:r>
              <a:rPr dirty="0" spc="-10"/>
              <a:t> </a:t>
            </a:r>
            <a:r>
              <a:rPr dirty="0"/>
              <a:t>submission-</a:t>
            </a:r>
            <a:r>
              <a:rPr dirty="0" spc="-10"/>
              <a:t> Template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7104614" y="9656285"/>
            <a:ext cx="182880" cy="2889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bg1"/>
                </a:solidFill>
                <a:latin typeface="AlternateGotNo3D"/>
                <a:cs typeface="AlternateGotNo3D"/>
              </a:defRPr>
            </a:lvl1pPr>
          </a:lstStyle>
          <a:p>
            <a:pPr marL="38100">
              <a:lnSpc>
                <a:spcPts val="2085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png"/><Relationship Id="rId9" Type="http://schemas.openxmlformats.org/officeDocument/2006/relationships/hyperlink" Target="http://localhost:8000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15.png"/><Relationship Id="rId8" Type="http://schemas.openxmlformats.org/officeDocument/2006/relationships/image" Target="../media/image16.png"/><Relationship Id="rId9" Type="http://schemas.openxmlformats.org/officeDocument/2006/relationships/image" Target="../media/image17.png"/><Relationship Id="rId10" Type="http://schemas.openxmlformats.org/officeDocument/2006/relationships/image" Target="../media/image18.png"/><Relationship Id="rId11" Type="http://schemas.openxmlformats.org/officeDocument/2006/relationships/image" Target="../media/image19.png"/><Relationship Id="rId12" Type="http://schemas.openxmlformats.org/officeDocument/2006/relationships/image" Target="../media/image20.png"/><Relationship Id="rId13" Type="http://schemas.openxmlformats.org/officeDocument/2006/relationships/image" Target="../media/image21.png"/><Relationship Id="rId14" Type="http://schemas.openxmlformats.org/officeDocument/2006/relationships/image" Target="../media/image22.png"/><Relationship Id="rId15" Type="http://schemas.openxmlformats.org/officeDocument/2006/relationships/image" Target="../media/image23.png"/><Relationship Id="rId16" Type="http://schemas.openxmlformats.org/officeDocument/2006/relationships/image" Target="../media/image24.png"/><Relationship Id="rId17" Type="http://schemas.openxmlformats.org/officeDocument/2006/relationships/image" Target="../media/image25.png"/><Relationship Id="rId18" Type="http://schemas.openxmlformats.org/officeDocument/2006/relationships/image" Target="../media/image26.png"/><Relationship Id="rId19" Type="http://schemas.openxmlformats.org/officeDocument/2006/relationships/image" Target="../media/image27.png"/><Relationship Id="rId20" Type="http://schemas.openxmlformats.org/officeDocument/2006/relationships/image" Target="../media/image3.png"/><Relationship Id="rId21" Type="http://schemas.openxmlformats.org/officeDocument/2006/relationships/image" Target="../media/image42.png"/><Relationship Id="rId22" Type="http://schemas.openxmlformats.org/officeDocument/2006/relationships/image" Target="../media/image43.png"/><Relationship Id="rId23" Type="http://schemas.openxmlformats.org/officeDocument/2006/relationships/image" Target="../media/image44.png"/><Relationship Id="rId24" Type="http://schemas.openxmlformats.org/officeDocument/2006/relationships/image" Target="../media/image45.png"/><Relationship Id="rId25" Type="http://schemas.openxmlformats.org/officeDocument/2006/relationships/image" Target="../media/image46.png"/><Relationship Id="rId26" Type="http://schemas.openxmlformats.org/officeDocument/2006/relationships/image" Target="../media/image47.png"/><Relationship Id="rId27" Type="http://schemas.openxmlformats.org/officeDocument/2006/relationships/image" Target="../media/image48.png"/><Relationship Id="rId28" Type="http://schemas.openxmlformats.org/officeDocument/2006/relationships/image" Target="../media/image49.png"/><Relationship Id="rId29" Type="http://schemas.openxmlformats.org/officeDocument/2006/relationships/image" Target="../media/image50.png"/><Relationship Id="rId30" Type="http://schemas.openxmlformats.org/officeDocument/2006/relationships/image" Target="../media/image51.png"/><Relationship Id="rId31" Type="http://schemas.openxmlformats.org/officeDocument/2006/relationships/image" Target="../media/image52.png"/><Relationship Id="rId32" Type="http://schemas.openxmlformats.org/officeDocument/2006/relationships/image" Target="../media/image53.png"/><Relationship Id="rId33" Type="http://schemas.openxmlformats.org/officeDocument/2006/relationships/image" Target="../media/image54.png"/><Relationship Id="rId34" Type="http://schemas.openxmlformats.org/officeDocument/2006/relationships/image" Target="../media/image5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.png"/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image" Target="../media/image30.png"/><Relationship Id="rId6" Type="http://schemas.openxmlformats.org/officeDocument/2006/relationships/image" Target="../media/image31.png"/><Relationship Id="rId7" Type="http://schemas.openxmlformats.org/officeDocument/2006/relationships/image" Target="../media/image32.png"/><Relationship Id="rId8" Type="http://schemas.openxmlformats.org/officeDocument/2006/relationships/image" Target="../media/image33.png"/><Relationship Id="rId9" Type="http://schemas.openxmlformats.org/officeDocument/2006/relationships/image" Target="../media/image34.png"/><Relationship Id="rId10" Type="http://schemas.openxmlformats.org/officeDocument/2006/relationships/image" Target="../media/image3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36.png"/><Relationship Id="rId4" Type="http://schemas.openxmlformats.org/officeDocument/2006/relationships/image" Target="../media/image37.png"/><Relationship Id="rId5" Type="http://schemas.openxmlformats.org/officeDocument/2006/relationships/image" Target="../media/image38.png"/><Relationship Id="rId6" Type="http://schemas.openxmlformats.org/officeDocument/2006/relationships/image" Target="../media/image39.png"/><Relationship Id="rId7" Type="http://schemas.openxmlformats.org/officeDocument/2006/relationships/image" Target="../media/image40.png"/><Relationship Id="rId8" Type="http://schemas.openxmlformats.org/officeDocument/2006/relationships/image" Target="../media/image41.png"/><Relationship Id="rId9" Type="http://schemas.openxmlformats.org/officeDocument/2006/relationships/image" Target="../media/image2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0058400" y="1783080"/>
            <a:ext cx="6958330" cy="7733030"/>
            <a:chOff x="8485169" y="1277282"/>
            <a:chExt cx="6958330" cy="7733030"/>
          </a:xfrm>
        </p:grpSpPr>
        <p:sp>
          <p:nvSpPr>
            <p:cNvPr id="3" name="object 3"/>
            <p:cNvSpPr/>
            <p:nvPr/>
          </p:nvSpPr>
          <p:spPr>
            <a:xfrm>
              <a:off x="8485169" y="1277282"/>
              <a:ext cx="6958330" cy="7733030"/>
            </a:xfrm>
            <a:custGeom>
              <a:avLst/>
              <a:gdLst/>
              <a:ahLst/>
              <a:cxnLst/>
              <a:rect l="l" t="t" r="r" b="b"/>
              <a:pathLst>
                <a:path w="6958330" h="7733030">
                  <a:moveTo>
                    <a:pt x="2809862" y="0"/>
                  </a:moveTo>
                  <a:lnTo>
                    <a:pt x="1769922" y="0"/>
                  </a:lnTo>
                  <a:lnTo>
                    <a:pt x="1730468" y="5586"/>
                  </a:lnTo>
                  <a:lnTo>
                    <a:pt x="1693600" y="21773"/>
                  </a:lnTo>
                  <a:lnTo>
                    <a:pt x="1660289" y="47698"/>
                  </a:lnTo>
                  <a:lnTo>
                    <a:pt x="1631508" y="82502"/>
                  </a:lnTo>
                  <a:lnTo>
                    <a:pt x="1608226" y="125323"/>
                  </a:lnTo>
                  <a:lnTo>
                    <a:pt x="1089367" y="1321790"/>
                  </a:lnTo>
                  <a:lnTo>
                    <a:pt x="1073189" y="1368721"/>
                  </a:lnTo>
                  <a:lnTo>
                    <a:pt x="1065099" y="1418659"/>
                  </a:lnTo>
                  <a:lnTo>
                    <a:pt x="1065099" y="1469599"/>
                  </a:lnTo>
                  <a:lnTo>
                    <a:pt x="1073189" y="1519537"/>
                  </a:lnTo>
                  <a:lnTo>
                    <a:pt x="1089367" y="1566468"/>
                  </a:lnTo>
                  <a:lnTo>
                    <a:pt x="1608226" y="2762948"/>
                  </a:lnTo>
                  <a:lnTo>
                    <a:pt x="1638222" y="2815250"/>
                  </a:lnTo>
                  <a:lnTo>
                    <a:pt x="1676438" y="2854693"/>
                  </a:lnTo>
                  <a:lnTo>
                    <a:pt x="1677797" y="2855468"/>
                  </a:lnTo>
                  <a:lnTo>
                    <a:pt x="1180401" y="4002455"/>
                  </a:lnTo>
                  <a:lnTo>
                    <a:pt x="1162019" y="4047839"/>
                  </a:lnTo>
                  <a:lnTo>
                    <a:pt x="1146979" y="4094949"/>
                  </a:lnTo>
                  <a:lnTo>
                    <a:pt x="1135281" y="4143441"/>
                  </a:lnTo>
                  <a:lnTo>
                    <a:pt x="1126926" y="4192968"/>
                  </a:lnTo>
                  <a:lnTo>
                    <a:pt x="1121912" y="4243186"/>
                  </a:lnTo>
                  <a:lnTo>
                    <a:pt x="1120241" y="4293749"/>
                  </a:lnTo>
                  <a:lnTo>
                    <a:pt x="1121912" y="4344312"/>
                  </a:lnTo>
                  <a:lnTo>
                    <a:pt x="1126926" y="4394530"/>
                  </a:lnTo>
                  <a:lnTo>
                    <a:pt x="1135281" y="4444057"/>
                  </a:lnTo>
                  <a:lnTo>
                    <a:pt x="1146979" y="4492548"/>
                  </a:lnTo>
                  <a:lnTo>
                    <a:pt x="1162019" y="4539659"/>
                  </a:lnTo>
                  <a:lnTo>
                    <a:pt x="1180401" y="4585042"/>
                  </a:lnTo>
                  <a:lnTo>
                    <a:pt x="2415870" y="7434059"/>
                  </a:lnTo>
                  <a:lnTo>
                    <a:pt x="2439302" y="7482644"/>
                  </a:lnTo>
                  <a:lnTo>
                    <a:pt x="2465700" y="7527513"/>
                  </a:lnTo>
                  <a:lnTo>
                    <a:pt x="2494847" y="7568475"/>
                  </a:lnTo>
                  <a:lnTo>
                    <a:pt x="2526527" y="7605337"/>
                  </a:lnTo>
                  <a:lnTo>
                    <a:pt x="2560521" y="7637907"/>
                  </a:lnTo>
                  <a:lnTo>
                    <a:pt x="2596613" y="7665993"/>
                  </a:lnTo>
                  <a:lnTo>
                    <a:pt x="2634587" y="7689404"/>
                  </a:lnTo>
                  <a:lnTo>
                    <a:pt x="2674224" y="7707946"/>
                  </a:lnTo>
                  <a:lnTo>
                    <a:pt x="2715307" y="7721429"/>
                  </a:lnTo>
                  <a:lnTo>
                    <a:pt x="2757621" y="7729659"/>
                  </a:lnTo>
                  <a:lnTo>
                    <a:pt x="2800946" y="7732445"/>
                  </a:lnTo>
                  <a:lnTo>
                    <a:pt x="5277205" y="7732445"/>
                  </a:lnTo>
                  <a:lnTo>
                    <a:pt x="5319321" y="7729659"/>
                  </a:lnTo>
                  <a:lnTo>
                    <a:pt x="5360859" y="7721429"/>
                  </a:lnTo>
                  <a:lnTo>
                    <a:pt x="5401503" y="7707946"/>
                  </a:lnTo>
                  <a:lnTo>
                    <a:pt x="5440942" y="7689404"/>
                  </a:lnTo>
                  <a:lnTo>
                    <a:pt x="5478862" y="7665993"/>
                  </a:lnTo>
                  <a:lnTo>
                    <a:pt x="5514950" y="7637907"/>
                  </a:lnTo>
                  <a:lnTo>
                    <a:pt x="5548892" y="7605337"/>
                  </a:lnTo>
                  <a:lnTo>
                    <a:pt x="5580375" y="7568475"/>
                  </a:lnTo>
                  <a:lnTo>
                    <a:pt x="5609085" y="7527513"/>
                  </a:lnTo>
                  <a:lnTo>
                    <a:pt x="5634710" y="7482644"/>
                  </a:lnTo>
                  <a:lnTo>
                    <a:pt x="5656935" y="7434059"/>
                  </a:lnTo>
                  <a:lnTo>
                    <a:pt x="6897738" y="4585042"/>
                  </a:lnTo>
                  <a:lnTo>
                    <a:pt x="6916120" y="4539659"/>
                  </a:lnTo>
                  <a:lnTo>
                    <a:pt x="6931160" y="4492548"/>
                  </a:lnTo>
                  <a:lnTo>
                    <a:pt x="6942858" y="4444057"/>
                  </a:lnTo>
                  <a:lnTo>
                    <a:pt x="6951213" y="4394530"/>
                  </a:lnTo>
                  <a:lnTo>
                    <a:pt x="6956227" y="4344312"/>
                  </a:lnTo>
                  <a:lnTo>
                    <a:pt x="6957898" y="4293749"/>
                  </a:lnTo>
                  <a:lnTo>
                    <a:pt x="6956227" y="4243186"/>
                  </a:lnTo>
                  <a:lnTo>
                    <a:pt x="6951213" y="4192968"/>
                  </a:lnTo>
                  <a:lnTo>
                    <a:pt x="6942858" y="4143441"/>
                  </a:lnTo>
                  <a:lnTo>
                    <a:pt x="6931160" y="4094949"/>
                  </a:lnTo>
                  <a:lnTo>
                    <a:pt x="6916120" y="4047839"/>
                  </a:lnTo>
                  <a:lnTo>
                    <a:pt x="6897738" y="4002455"/>
                  </a:lnTo>
                  <a:lnTo>
                    <a:pt x="6406386" y="2874264"/>
                  </a:lnTo>
                  <a:lnTo>
                    <a:pt x="1765515" y="2874264"/>
                  </a:lnTo>
                  <a:lnTo>
                    <a:pt x="1752967" y="2873706"/>
                  </a:lnTo>
                  <a:lnTo>
                    <a:pt x="1740603" y="2872055"/>
                  </a:lnTo>
                  <a:lnTo>
                    <a:pt x="1728455" y="2869340"/>
                  </a:lnTo>
                  <a:lnTo>
                    <a:pt x="1716559" y="2865590"/>
                  </a:lnTo>
                  <a:lnTo>
                    <a:pt x="1687626" y="2849397"/>
                  </a:lnTo>
                  <a:lnTo>
                    <a:pt x="1753044" y="2698534"/>
                  </a:lnTo>
                  <a:lnTo>
                    <a:pt x="1746046" y="2694647"/>
                  </a:lnTo>
                  <a:lnTo>
                    <a:pt x="1712167" y="2659665"/>
                  </a:lnTo>
                  <a:lnTo>
                    <a:pt x="1685556" y="2613291"/>
                  </a:lnTo>
                  <a:lnTo>
                    <a:pt x="1225588" y="1552587"/>
                  </a:lnTo>
                  <a:lnTo>
                    <a:pt x="1211250" y="1510983"/>
                  </a:lnTo>
                  <a:lnTo>
                    <a:pt x="1204081" y="1466711"/>
                  </a:lnTo>
                  <a:lnTo>
                    <a:pt x="1204081" y="1421551"/>
                  </a:lnTo>
                  <a:lnTo>
                    <a:pt x="1211250" y="1377282"/>
                  </a:lnTo>
                  <a:lnTo>
                    <a:pt x="1225588" y="1335684"/>
                  </a:lnTo>
                  <a:lnTo>
                    <a:pt x="1685556" y="274967"/>
                  </a:lnTo>
                  <a:lnTo>
                    <a:pt x="1712160" y="228590"/>
                  </a:lnTo>
                  <a:lnTo>
                    <a:pt x="1746045" y="193624"/>
                  </a:lnTo>
                  <a:lnTo>
                    <a:pt x="1785528" y="171554"/>
                  </a:lnTo>
                  <a:lnTo>
                    <a:pt x="1828927" y="163868"/>
                  </a:lnTo>
                  <a:lnTo>
                    <a:pt x="2986136" y="163868"/>
                  </a:lnTo>
                  <a:lnTo>
                    <a:pt x="2969348" y="125323"/>
                  </a:lnTo>
                  <a:lnTo>
                    <a:pt x="2940323" y="73016"/>
                  </a:lnTo>
                  <a:lnTo>
                    <a:pt x="2902240" y="33572"/>
                  </a:lnTo>
                  <a:lnTo>
                    <a:pt x="2857840" y="8673"/>
                  </a:lnTo>
                  <a:lnTo>
                    <a:pt x="2809862" y="0"/>
                  </a:lnTo>
                  <a:close/>
                </a:path>
                <a:path w="6958330" h="7733030">
                  <a:moveTo>
                    <a:pt x="1010551" y="4687785"/>
                  </a:moveTo>
                  <a:lnTo>
                    <a:pt x="408584" y="4687785"/>
                  </a:lnTo>
                  <a:lnTo>
                    <a:pt x="380245" y="4692805"/>
                  </a:lnTo>
                  <a:lnTo>
                    <a:pt x="332339" y="4730042"/>
                  </a:lnTo>
                  <a:lnTo>
                    <a:pt x="14630" y="5452910"/>
                  </a:lnTo>
                  <a:lnTo>
                    <a:pt x="0" y="5523730"/>
                  </a:lnTo>
                  <a:lnTo>
                    <a:pt x="3657" y="5560271"/>
                  </a:lnTo>
                  <a:lnTo>
                    <a:pt x="314972" y="6287122"/>
                  </a:lnTo>
                  <a:lnTo>
                    <a:pt x="354463" y="6340238"/>
                  </a:lnTo>
                  <a:lnTo>
                    <a:pt x="408584" y="6359664"/>
                  </a:lnTo>
                  <a:lnTo>
                    <a:pt x="1010551" y="6359664"/>
                  </a:lnTo>
                  <a:lnTo>
                    <a:pt x="1064025" y="6340238"/>
                  </a:lnTo>
                  <a:lnTo>
                    <a:pt x="1102868" y="6287122"/>
                  </a:lnTo>
                  <a:lnTo>
                    <a:pt x="1404505" y="5594540"/>
                  </a:lnTo>
                  <a:lnTo>
                    <a:pt x="1419136" y="5523730"/>
                  </a:lnTo>
                  <a:lnTo>
                    <a:pt x="1415478" y="5487186"/>
                  </a:lnTo>
                  <a:lnTo>
                    <a:pt x="1102868" y="4760315"/>
                  </a:lnTo>
                  <a:lnTo>
                    <a:pt x="1064025" y="4707215"/>
                  </a:lnTo>
                  <a:lnTo>
                    <a:pt x="1010551" y="4687785"/>
                  </a:lnTo>
                  <a:close/>
                </a:path>
                <a:path w="6958330" h="7733030">
                  <a:moveTo>
                    <a:pt x="5277205" y="855052"/>
                  </a:moveTo>
                  <a:lnTo>
                    <a:pt x="3288855" y="855052"/>
                  </a:lnTo>
                  <a:lnTo>
                    <a:pt x="3486035" y="1307795"/>
                  </a:lnTo>
                  <a:lnTo>
                    <a:pt x="3502208" y="1354726"/>
                  </a:lnTo>
                  <a:lnTo>
                    <a:pt x="3510294" y="1404664"/>
                  </a:lnTo>
                  <a:lnTo>
                    <a:pt x="3510294" y="1455604"/>
                  </a:lnTo>
                  <a:lnTo>
                    <a:pt x="3502208" y="1505542"/>
                  </a:lnTo>
                  <a:lnTo>
                    <a:pt x="3485985" y="1552587"/>
                  </a:lnTo>
                  <a:lnTo>
                    <a:pt x="2964942" y="2748940"/>
                  </a:lnTo>
                  <a:lnTo>
                    <a:pt x="2935918" y="2801247"/>
                  </a:lnTo>
                  <a:lnTo>
                    <a:pt x="2897839" y="2840691"/>
                  </a:lnTo>
                  <a:lnTo>
                    <a:pt x="2853444" y="2865590"/>
                  </a:lnTo>
                  <a:lnTo>
                    <a:pt x="2805468" y="2874264"/>
                  </a:lnTo>
                  <a:lnTo>
                    <a:pt x="6406386" y="2874264"/>
                  </a:lnTo>
                  <a:lnTo>
                    <a:pt x="5656935" y="1153452"/>
                  </a:lnTo>
                  <a:lnTo>
                    <a:pt x="5634710" y="1104869"/>
                  </a:lnTo>
                  <a:lnTo>
                    <a:pt x="5609085" y="1060001"/>
                  </a:lnTo>
                  <a:lnTo>
                    <a:pt x="5580375" y="1019039"/>
                  </a:lnTo>
                  <a:lnTo>
                    <a:pt x="5548892" y="982176"/>
                  </a:lnTo>
                  <a:lnTo>
                    <a:pt x="5514950" y="949603"/>
                  </a:lnTo>
                  <a:lnTo>
                    <a:pt x="5478862" y="921514"/>
                  </a:lnTo>
                  <a:lnTo>
                    <a:pt x="5440942" y="898101"/>
                  </a:lnTo>
                  <a:lnTo>
                    <a:pt x="5401503" y="879556"/>
                  </a:lnTo>
                  <a:lnTo>
                    <a:pt x="5360859" y="866071"/>
                  </a:lnTo>
                  <a:lnTo>
                    <a:pt x="5319321" y="857839"/>
                  </a:lnTo>
                  <a:lnTo>
                    <a:pt x="5277205" y="855052"/>
                  </a:lnTo>
                  <a:close/>
                </a:path>
                <a:path w="6958330" h="7733030">
                  <a:moveTo>
                    <a:pt x="3146590" y="855052"/>
                  </a:moveTo>
                  <a:lnTo>
                    <a:pt x="2800946" y="855052"/>
                  </a:lnTo>
                  <a:lnTo>
                    <a:pt x="2757621" y="857839"/>
                  </a:lnTo>
                  <a:lnTo>
                    <a:pt x="2715307" y="866071"/>
                  </a:lnTo>
                  <a:lnTo>
                    <a:pt x="2674224" y="879556"/>
                  </a:lnTo>
                  <a:lnTo>
                    <a:pt x="2634587" y="898101"/>
                  </a:lnTo>
                  <a:lnTo>
                    <a:pt x="2596613" y="921514"/>
                  </a:lnTo>
                  <a:lnTo>
                    <a:pt x="2560521" y="949603"/>
                  </a:lnTo>
                  <a:lnTo>
                    <a:pt x="2526527" y="982176"/>
                  </a:lnTo>
                  <a:lnTo>
                    <a:pt x="2494847" y="1019039"/>
                  </a:lnTo>
                  <a:lnTo>
                    <a:pt x="2465700" y="1060001"/>
                  </a:lnTo>
                  <a:lnTo>
                    <a:pt x="2439302" y="1104869"/>
                  </a:lnTo>
                  <a:lnTo>
                    <a:pt x="2415870" y="1153452"/>
                  </a:lnTo>
                  <a:lnTo>
                    <a:pt x="1751266" y="2686024"/>
                  </a:lnTo>
                  <a:lnTo>
                    <a:pt x="1781124" y="2702712"/>
                  </a:lnTo>
                  <a:lnTo>
                    <a:pt x="1791671" y="2706034"/>
                  </a:lnTo>
                  <a:lnTo>
                    <a:pt x="1802436" y="2708440"/>
                  </a:lnTo>
                  <a:lnTo>
                    <a:pt x="1813394" y="2709902"/>
                  </a:lnTo>
                  <a:lnTo>
                    <a:pt x="1824520" y="2710395"/>
                  </a:lnTo>
                  <a:lnTo>
                    <a:pt x="2746463" y="2710395"/>
                  </a:lnTo>
                  <a:lnTo>
                    <a:pt x="2788966" y="2702712"/>
                  </a:lnTo>
                  <a:lnTo>
                    <a:pt x="2828347" y="2680635"/>
                  </a:lnTo>
                  <a:lnTo>
                    <a:pt x="2862099" y="2645668"/>
                  </a:lnTo>
                  <a:lnTo>
                    <a:pt x="2887827" y="2599296"/>
                  </a:lnTo>
                  <a:lnTo>
                    <a:pt x="3349802" y="1538579"/>
                  </a:lnTo>
                  <a:lnTo>
                    <a:pt x="3364146" y="1496981"/>
                  </a:lnTo>
                  <a:lnTo>
                    <a:pt x="3371318" y="1452712"/>
                  </a:lnTo>
                  <a:lnTo>
                    <a:pt x="3371318" y="1407552"/>
                  </a:lnTo>
                  <a:lnTo>
                    <a:pt x="3364146" y="1363280"/>
                  </a:lnTo>
                  <a:lnTo>
                    <a:pt x="3349842" y="1321790"/>
                  </a:lnTo>
                  <a:lnTo>
                    <a:pt x="3146590" y="855052"/>
                  </a:lnTo>
                  <a:close/>
                </a:path>
                <a:path w="6958330" h="7733030">
                  <a:moveTo>
                    <a:pt x="2986136" y="163868"/>
                  </a:moveTo>
                  <a:lnTo>
                    <a:pt x="2750870" y="163868"/>
                  </a:lnTo>
                  <a:lnTo>
                    <a:pt x="2793399" y="171554"/>
                  </a:lnTo>
                  <a:lnTo>
                    <a:pt x="2832760" y="193624"/>
                  </a:lnTo>
                  <a:lnTo>
                    <a:pt x="2866520" y="228590"/>
                  </a:lnTo>
                  <a:lnTo>
                    <a:pt x="2892247" y="274967"/>
                  </a:lnTo>
                  <a:lnTo>
                    <a:pt x="3138157" y="839584"/>
                  </a:lnTo>
                  <a:lnTo>
                    <a:pt x="3280435" y="839584"/>
                  </a:lnTo>
                  <a:lnTo>
                    <a:pt x="2986136" y="163868"/>
                  </a:lnTo>
                  <a:close/>
                </a:path>
              </a:pathLst>
            </a:custGeom>
            <a:solidFill>
              <a:srgbClr val="808080">
                <a:alpha val="149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282339" y="2573821"/>
              <a:ext cx="4805260" cy="5139358"/>
            </a:xfrm>
            <a:prstGeom prst="rect">
              <a:avLst/>
            </a:prstGeom>
          </p:spPr>
        </p:pic>
      </p:grpSp>
      <p:sp>
        <p:nvSpPr>
          <p:cNvPr id="5" name="Hexagon 4"/>
          <p:cNvSpPr/>
          <p:nvPr/>
        </p:nvSpPr>
        <p:spPr>
          <a:xfrm>
            <a:off x="822960" y="566928"/>
            <a:ext cx="329184" cy="292608"/>
          </a:xfrm>
          <a:prstGeom prst="hexagon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280160" y="457200"/>
            <a:ext cx="237744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 dirty="0" b="1">
                <a:solidFill>
                  <a:srgbClr val="1B559B"/>
                </a:solidFill>
                <a:latin typeface="Arial"/>
                <a:cs typeface="Arial"/>
              </a:rPr>
              <a:t>Bumblebee</a:t>
            </a:r>
            <a:endParaRPr sz="2000"/>
          </a:p>
        </p:txBody>
      </p:sp>
      <p:sp>
        <p:nvSpPr>
          <p:cNvPr id="7" name="TextBox 6"/>
          <p:cNvSpPr txBox="1"/>
          <p:nvPr/>
        </p:nvSpPr>
        <p:spPr>
          <a:xfrm>
            <a:off x="3657600" y="274320"/>
            <a:ext cx="10972800" cy="9601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5400" dirty="0" b="1">
                <a:solidFill>
                  <a:srgbClr val="000000"/>
                </a:solidFill>
                <a:latin typeface="Times New Roman"/>
                <a:cs typeface="Times New Roman"/>
              </a:rPr>
              <a:t>TITLE PAGE</a:t>
            </a:r>
            <a:endParaRPr sz="5400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66976" y="0"/>
            <a:ext cx="3374136" cy="159105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22960" y="2377440"/>
            <a:ext cx="8778240" cy="6400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 marL="365760" indent="-365760">
              <a:spcBef>
                <a:spcPts val="0"/>
              </a:spcBef>
              <a:spcAft>
                <a:spcPts val="0"/>
              </a:spcAft>
              <a:buClr>
                <a:srgbClr val="0066CC"/>
              </a:buClr>
              <a:buSzPct val="90000"/>
              <a:buFont typeface="Wingdings" pitchFamily="2" charset="2"/>
              <a:buChar char="v"/>
            </a:pPr>
            <a:r>
              <a:rPr lang="en-IN" sz="2200" dirty="0" b="1">
                <a:solidFill>
                  <a:srgbClr val="0F172A"/>
                </a:solidFill>
                <a:latin typeface="Arial"/>
                <a:cs typeface="Arial"/>
              </a:rPr>
              <a:t>Problem Statement ID – </a:t>
            </a:r>
            <a:r>
              <a:rPr lang="en-IN" sz="2200" dirty="0" b="1">
                <a:solidFill>
                  <a:srgbClr val="0066CC"/>
                </a:solidFill>
                <a:latin typeface="Arial"/>
                <a:cs typeface="Arial"/>
              </a:rPr>
              <a:t>SIH26084</a:t>
            </a:r>
            <a:endParaRPr sz="2200"/>
          </a:p>
          <a:p>
            <a:pPr algn="l" marL="365760" indent="-365760">
              <a:spcBef>
                <a:spcPts val="2000"/>
              </a:spcBef>
              <a:spcAft>
                <a:spcPts val="0"/>
              </a:spcAft>
              <a:buClr>
                <a:srgbClr val="0066CC"/>
              </a:buClr>
              <a:buSzPct val="90000"/>
              <a:buFont typeface="Wingdings" pitchFamily="2" charset="2"/>
              <a:buChar char="v"/>
            </a:pPr>
            <a:r>
              <a:rPr lang="en-IN" sz="2200" dirty="0" b="1">
                <a:solidFill>
                  <a:srgbClr val="0F172A"/>
                </a:solidFill>
                <a:latin typeface="Arial"/>
                <a:cs typeface="Arial"/>
              </a:rPr>
              <a:t>Problem Statement Title – </a:t>
            </a:r>
            <a:r>
              <a:rPr lang="en-IN" sz="2200" dirty="0">
                <a:solidFill>
                  <a:srgbClr val="0F172A"/>
                </a:solidFill>
                <a:latin typeface="Arial"/>
                <a:cs typeface="Arial"/>
              </a:rPr>
              <a:t>Real-Time Convective-Scale Nowcasting (0–6 h) of Severe Storms using Multi-Source Data Fusion</a:t>
            </a:r>
            <a:endParaRPr sz="2200"/>
          </a:p>
          <a:p>
            <a:pPr algn="l" marL="365760" indent="-365760">
              <a:spcBef>
                <a:spcPts val="2000"/>
              </a:spcBef>
              <a:spcAft>
                <a:spcPts val="0"/>
              </a:spcAft>
              <a:buClr>
                <a:srgbClr val="0066CC"/>
              </a:buClr>
              <a:buSzPct val="90000"/>
              <a:buFont typeface="Wingdings" pitchFamily="2" charset="2"/>
              <a:buChar char="v"/>
            </a:pPr>
            <a:r>
              <a:rPr lang="en-IN" sz="2200" dirty="0" b="1">
                <a:solidFill>
                  <a:srgbClr val="0F172A"/>
                </a:solidFill>
                <a:latin typeface="Arial"/>
                <a:cs typeface="Arial"/>
              </a:rPr>
              <a:t>Theme – </a:t>
            </a:r>
            <a:r>
              <a:rPr lang="en-IN" sz="2200" dirty="0">
                <a:solidFill>
                  <a:srgbClr val="0F172A"/>
                </a:solidFill>
                <a:latin typeface="Arial"/>
                <a:cs typeface="Arial"/>
              </a:rPr>
              <a:t>Disaster Management / Smart Automation</a:t>
            </a:r>
            <a:endParaRPr sz="2200"/>
          </a:p>
          <a:p>
            <a:pPr algn="l" marL="365760" indent="-365760">
              <a:spcBef>
                <a:spcPts val="2000"/>
              </a:spcBef>
              <a:spcAft>
                <a:spcPts val="0"/>
              </a:spcAft>
              <a:buClr>
                <a:srgbClr val="0066CC"/>
              </a:buClr>
              <a:buSzPct val="90000"/>
              <a:buFont typeface="Wingdings" pitchFamily="2" charset="2"/>
              <a:buChar char="v"/>
            </a:pPr>
            <a:r>
              <a:rPr lang="en-IN" sz="2200" dirty="0" b="1">
                <a:solidFill>
                  <a:srgbClr val="0F172A"/>
                </a:solidFill>
                <a:latin typeface="Arial"/>
                <a:cs typeface="Arial"/>
              </a:rPr>
              <a:t>PS Category – </a:t>
            </a:r>
            <a:r>
              <a:rPr lang="en-IN" sz="2200" dirty="0">
                <a:solidFill>
                  <a:srgbClr val="0F172A"/>
                </a:solidFill>
                <a:latin typeface="Arial"/>
                <a:cs typeface="Arial"/>
              </a:rPr>
              <a:t>Software</a:t>
            </a:r>
            <a:endParaRPr sz="2200"/>
          </a:p>
          <a:p>
            <a:pPr algn="l" marL="365760" indent="-365760">
              <a:spcBef>
                <a:spcPts val="2000"/>
              </a:spcBef>
              <a:spcAft>
                <a:spcPts val="0"/>
              </a:spcAft>
              <a:buClr>
                <a:srgbClr val="0066CC"/>
              </a:buClr>
              <a:buSzPct val="90000"/>
              <a:buFont typeface="Wingdings" pitchFamily="2" charset="2"/>
              <a:buChar char="v"/>
            </a:pPr>
            <a:r>
              <a:rPr lang="en-IN" sz="2200" dirty="0" b="1">
                <a:solidFill>
                  <a:srgbClr val="0F172A"/>
                </a:solidFill>
                <a:latin typeface="Arial"/>
                <a:cs typeface="Arial"/>
              </a:rPr>
              <a:t>Team ID – </a:t>
            </a:r>
            <a:r>
              <a:rPr lang="en-IN" sz="2200" dirty="0" b="1">
                <a:solidFill>
                  <a:srgbClr val="0066CC"/>
                </a:solidFill>
                <a:latin typeface="Arial"/>
                <a:cs typeface="Arial"/>
              </a:rPr>
              <a:t>85508 (SIH26084_BUMBLEBEE)</a:t>
            </a:r>
            <a:endParaRPr sz="2200"/>
          </a:p>
          <a:p>
            <a:pPr algn="l" marL="365760" indent="-365760">
              <a:spcBef>
                <a:spcPts val="2000"/>
              </a:spcBef>
              <a:spcAft>
                <a:spcPts val="0"/>
              </a:spcAft>
              <a:buClr>
                <a:srgbClr val="0066CC"/>
              </a:buClr>
              <a:buSzPct val="90000"/>
              <a:buFont typeface="Wingdings" pitchFamily="2" charset="2"/>
              <a:buChar char="v"/>
            </a:pPr>
            <a:r>
              <a:rPr lang="en-IN" sz="2200" dirty="0" b="1">
                <a:solidFill>
                  <a:srgbClr val="0F172A"/>
                </a:solidFill>
                <a:latin typeface="Arial"/>
                <a:cs typeface="Arial"/>
              </a:rPr>
              <a:t>Team Name – </a:t>
            </a:r>
            <a:r>
              <a:rPr lang="en-IN" sz="2200" dirty="0" b="1">
                <a:solidFill>
                  <a:srgbClr val="0066CC"/>
                </a:solidFill>
                <a:latin typeface="Arial"/>
                <a:cs typeface="Arial"/>
              </a:rPr>
              <a:t>Bumblebee</a:t>
            </a:r>
            <a:endParaRPr sz="2200"/>
          </a:p>
          <a:p>
            <a:pPr algn="l" marL="365760" indent="-365760">
              <a:spcBef>
                <a:spcPts val="2000"/>
              </a:spcBef>
              <a:spcAft>
                <a:spcPts val="0"/>
              </a:spcAft>
              <a:buClr>
                <a:srgbClr val="0066CC"/>
              </a:buClr>
              <a:buSzPct val="90000"/>
              <a:buFont typeface="Wingdings" pitchFamily="2" charset="2"/>
              <a:buChar char="v"/>
            </a:pPr>
            <a:r>
              <a:rPr lang="en-IN" sz="2200" dirty="0" b="1">
                <a:solidFill>
                  <a:srgbClr val="0F172A"/>
                </a:solidFill>
                <a:latin typeface="Arial"/>
                <a:cs typeface="Arial"/>
              </a:rPr>
              <a:t>Ministry / Agency – </a:t>
            </a:r>
            <a:r>
              <a:rPr lang="en-IN" sz="2200" dirty="0">
                <a:solidFill>
                  <a:srgbClr val="0F172A"/>
                </a:solidFill>
                <a:latin typeface="Arial"/>
                <a:cs typeface="Arial"/>
              </a:rPr>
              <a:t>Ministry of Earth Sciences (MoES) &amp; India Meteorological Department (IMD)</a:t>
            </a:r>
            <a:endParaRPr sz="2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object 49"/>
          <p:cNvSpPr txBox="1">
            <a:spLocks noGrp="1"/>
          </p:cNvSpPr>
          <p:nvPr>
            <p:ph type="ftr" idx="5" sz="quarter"/>
          </p:nvPr>
        </p:nvSpPr>
        <p:spPr>
          <a:xfrm>
            <a:off x="5943600" y="9637776"/>
            <a:ext cx="6400800" cy="310896"/>
          </a:xfrm>
          <a:prstGeom prst="rect"/>
        </p:spPr>
        <p:txBody>
          <a:bodyPr wrap="square" lIns="0" tIns="26034" rIns="0" bIns="0" rtlCol="0" vert="horz">
            <a:spAutoFit/>
          </a:bodyPr>
          <a:lstStyle/>
          <a:p>
            <a:pPr marL="0" algn="ctr" indent="0">
              <a:lnSpc>
                <a:spcPct val="100000"/>
              </a:lnSpc>
              <a:spcBef>
                <a:spcPts val="204"/>
              </a:spcBef>
            </a:pPr>
            <a:r>
              <a:rPr dirty="0"/>
              <a:t>@SIH</a:t>
            </a:r>
            <a:r>
              <a:rPr dirty="0" spc="-15"/>
              <a:t> </a:t>
            </a:r>
            <a:r>
              <a:rPr dirty="0"/>
              <a:t>Idea</a:t>
            </a:r>
            <a:r>
              <a:rPr dirty="0" spc="-10"/>
              <a:t> </a:t>
            </a:r>
            <a:r>
              <a:rPr dirty="0"/>
              <a:t>submission-</a:t>
            </a:r>
            <a:r>
              <a:rPr dirty="0" spc="-10"/>
              <a:t> Template</a:t>
            </a:r>
          </a:p>
        </p:txBody>
      </p:sp>
      <p:sp>
        <p:nvSpPr>
          <p:cNvPr id="50" name="object 5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2085"/>
              </a:lnSpc>
            </a:pPr>
            <a:fld id="{81D60167-4931-47E6-BA6A-407CBD079E47}" type="slidenum">
              <a:rPr dirty="0" spc="-50"/>
              <a:t>4</a:t>
            </a:fld>
          </a:p>
        </p:txBody>
      </p:sp>
      <p:sp>
        <p:nvSpPr>
          <p:cNvPr id="51" name="Hexagon 50"/>
          <p:cNvSpPr/>
          <p:nvPr/>
        </p:nvSpPr>
        <p:spPr>
          <a:xfrm>
            <a:off x="822960" y="566928"/>
            <a:ext cx="329184" cy="292608"/>
          </a:xfrm>
          <a:prstGeom prst="hexagon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1280160" y="457200"/>
            <a:ext cx="237744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 dirty="0" b="1">
                <a:solidFill>
                  <a:srgbClr val="1B559B"/>
                </a:solidFill>
                <a:latin typeface="Arial"/>
                <a:cs typeface="Arial"/>
              </a:rPr>
              <a:t>Bumblebee</a:t>
            </a:r>
            <a:endParaRPr sz="2000"/>
          </a:p>
        </p:txBody>
      </p:sp>
      <p:sp>
        <p:nvSpPr>
          <p:cNvPr id="53" name="TextBox 52"/>
          <p:cNvSpPr txBox="1"/>
          <p:nvPr/>
        </p:nvSpPr>
        <p:spPr>
          <a:xfrm>
            <a:off x="3657600" y="274320"/>
            <a:ext cx="10972800" cy="9601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5400" dirty="0" b="1">
                <a:solidFill>
                  <a:srgbClr val="000000"/>
                </a:solidFill>
                <a:latin typeface="Times New Roman"/>
                <a:cs typeface="Times New Roman"/>
              </a:rPr>
              <a:t>IDEA TITLE</a:t>
            </a:r>
            <a:endParaRPr sz="5400"/>
          </a:p>
        </p:txBody>
      </p:sp>
      <p:pic>
        <p:nvPicPr>
          <p:cNvPr id="54" name="Picture 5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66976" y="0"/>
            <a:ext cx="3374136" cy="1591056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822960" y="1627632"/>
            <a:ext cx="16642080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dirty="0" b="1">
                <a:solidFill>
                  <a:srgbClr val="1B559B"/>
                </a:solidFill>
                <a:latin typeface="Arial"/>
                <a:cs typeface="Arial"/>
              </a:rPr>
              <a:t>GIST : </a:t>
            </a:r>
            <a:r>
              <a:rPr lang="en-IN" sz="1800" dirty="0">
                <a:solidFill>
                  <a:srgbClr val="0066CC"/>
                </a:solidFill>
                <a:latin typeface="Arial"/>
                <a:cs typeface="Arial"/>
              </a:rPr>
              <a:t>BUMBLEBLE fuses radar, INSAT-3DR &amp; lightning data on a 2 km grid to nowcast severe storms 0–6 h ahead, with live arrival countdowns.</a:t>
            </a:r>
            <a:endParaRPr sz="1800"/>
          </a:p>
        </p:txBody>
      </p:sp>
      <p:sp>
        <p:nvSpPr>
          <p:cNvPr id="56" name="Rectangle 55"/>
          <p:cNvSpPr/>
          <p:nvPr/>
        </p:nvSpPr>
        <p:spPr>
          <a:xfrm>
            <a:off x="822960" y="2395728"/>
            <a:ext cx="5394960" cy="3337560"/>
          </a:xfrm>
          <a:prstGeom prst="rect">
            <a:avLst/>
          </a:prstGeom>
          <a:solidFill>
            <a:srgbClr val="FFFFFF"/>
          </a:solidFill>
          <a:ln w="254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3716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200"/>
              </a:spcAft>
              <a:buNone/>
            </a:pPr>
            <a:r>
              <a:rPr lang="en-IN" sz="1800" dirty="0" b="1">
                <a:solidFill>
                  <a:srgbClr val="0066CC"/>
                </a:solidFill>
                <a:latin typeface="Arial"/>
                <a:cs typeface="Arial"/>
              </a:rPr>
              <a:t>IDEA / SOLUTION</a:t>
            </a:r>
            <a:endParaRPr sz="1800"/>
          </a:p>
          <a:p>
            <a:pPr algn="l" marL="292608" indent="-292608">
              <a:spcBef>
                <a:spcPts val="1000"/>
              </a:spcBef>
              <a:spcAft>
                <a:spcPts val="0"/>
              </a:spcAft>
              <a:buClr>
                <a:srgbClr val="0066CC"/>
              </a:buClr>
              <a:buSzPct val="90000"/>
              <a:buFont typeface="Wingdings" pitchFamily="2" charset="2"/>
              <a:buChar char="v"/>
            </a:pPr>
            <a:r>
              <a:rPr lang="en-IN" sz="1600" dirty="0" b="1">
                <a:solidFill>
                  <a:srgbClr val="0F172A"/>
                </a:solidFill>
                <a:latin typeface="Arial"/>
                <a:cs typeface="Arial"/>
              </a:rPr>
              <a:t>Multi-Source Data Fusion</a:t>
            </a:r>
            <a:r>
              <a:rPr lang="en-IN" sz="1600" dirty="0">
                <a:solidFill>
                  <a:srgbClr val="0F172A"/>
                </a:solidFill>
                <a:latin typeface="Arial"/>
                <a:cs typeface="Arial"/>
              </a:rPr>
              <a:t> – DWR radar, INSAT-3DR IR/WV &amp; lightning on one 2 km grid</a:t>
            </a:r>
            <a:endParaRPr sz="1600"/>
          </a:p>
          <a:p>
            <a:pPr algn="l" marL="292608" indent="-292608">
              <a:spcBef>
                <a:spcPts val="1000"/>
              </a:spcBef>
              <a:spcAft>
                <a:spcPts val="0"/>
              </a:spcAft>
              <a:buClr>
                <a:srgbClr val="0066CC"/>
              </a:buClr>
              <a:buSzPct val="90000"/>
              <a:buFont typeface="Wingdings" pitchFamily="2" charset="2"/>
              <a:buChar char="v"/>
            </a:pPr>
            <a:r>
              <a:rPr lang="en-IN" sz="1600" dirty="0" b="1">
                <a:solidFill>
                  <a:srgbClr val="0F172A"/>
                </a:solidFill>
                <a:latin typeface="Arial"/>
                <a:cs typeface="Arial"/>
              </a:rPr>
              <a:t>Early Storm Detection</a:t>
            </a:r>
            <a:r>
              <a:rPr lang="en-IN" sz="1600" dirty="0">
                <a:solidFill>
                  <a:srgbClr val="0F172A"/>
                </a:solidFill>
                <a:latin typeface="Arial"/>
                <a:cs typeface="Arial"/>
              </a:rPr>
              <a:t> – cloud-top cooling flags new storms before radar sees them</a:t>
            </a:r>
            <a:endParaRPr sz="1600"/>
          </a:p>
          <a:p>
            <a:pPr algn="l" marL="292608" indent="-292608">
              <a:spcBef>
                <a:spcPts val="1000"/>
              </a:spcBef>
              <a:spcAft>
                <a:spcPts val="0"/>
              </a:spcAft>
              <a:buClr>
                <a:srgbClr val="0066CC"/>
              </a:buClr>
              <a:buSzPct val="90000"/>
              <a:buFont typeface="Wingdings" pitchFamily="2" charset="2"/>
              <a:buChar char="v"/>
            </a:pPr>
            <a:r>
              <a:rPr lang="en-IN" sz="1600" dirty="0" b="1">
                <a:solidFill>
                  <a:srgbClr val="0F172A"/>
                </a:solidFill>
                <a:latin typeface="Arial"/>
                <a:cs typeface="Arial"/>
              </a:rPr>
              <a:t>0–6 h Hazard Nowcast</a:t>
            </a:r>
            <a:r>
              <a:rPr lang="en-IN" sz="1600" dirty="0">
                <a:solidFill>
                  <a:srgbClr val="0F172A"/>
                </a:solidFill>
                <a:latin typeface="Arial"/>
                <a:cs typeface="Arial"/>
              </a:rPr>
              <a:t> – lightning, hail, gust &amp; cloudburst every 10 min</a:t>
            </a:r>
            <a:endParaRPr sz="1600"/>
          </a:p>
          <a:p>
            <a:pPr algn="l" marL="292608" indent="-292608">
              <a:spcBef>
                <a:spcPts val="1000"/>
              </a:spcBef>
              <a:spcAft>
                <a:spcPts val="0"/>
              </a:spcAft>
              <a:buClr>
                <a:srgbClr val="0066CC"/>
              </a:buClr>
              <a:buSzPct val="90000"/>
              <a:buFont typeface="Wingdings" pitchFamily="2" charset="2"/>
              <a:buChar char="v"/>
            </a:pPr>
            <a:r>
              <a:rPr lang="en-IN" sz="1600" dirty="0" b="1">
                <a:solidFill>
                  <a:srgbClr val="0F172A"/>
                </a:solidFill>
                <a:latin typeface="Arial"/>
                <a:cs typeface="Arial"/>
              </a:rPr>
              <a:t>Live GIS Dashboard</a:t>
            </a:r>
            <a:r>
              <a:rPr lang="en-IN" sz="1600" dirty="0">
                <a:solidFill>
                  <a:srgbClr val="0F172A"/>
                </a:solidFill>
                <a:latin typeface="Arial"/>
                <a:cs typeface="Arial"/>
              </a:rPr>
              <a:t> – arrival countdowns for 80+ cities, airports &amp; farms</a:t>
            </a:r>
            <a:endParaRPr sz="1600"/>
          </a:p>
        </p:txBody>
      </p:sp>
      <p:sp>
        <p:nvSpPr>
          <p:cNvPr id="57" name="Rectangle 56"/>
          <p:cNvSpPr/>
          <p:nvPr/>
        </p:nvSpPr>
        <p:spPr>
          <a:xfrm>
            <a:off x="822960" y="5916168"/>
            <a:ext cx="5394960" cy="3364992"/>
          </a:xfrm>
          <a:prstGeom prst="rect">
            <a:avLst/>
          </a:prstGeom>
          <a:solidFill>
            <a:srgbClr val="FFFFFF"/>
          </a:solidFill>
          <a:ln w="254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3716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200"/>
              </a:spcAft>
              <a:buNone/>
            </a:pPr>
            <a:r>
              <a:rPr lang="en-IN" sz="1800" dirty="0" b="1">
                <a:solidFill>
                  <a:srgbClr val="0066CC"/>
                </a:solidFill>
                <a:latin typeface="Arial"/>
                <a:cs typeface="Arial"/>
              </a:rPr>
              <a:t>PROBLEM RESOLUTION</a:t>
            </a:r>
            <a:endParaRPr sz="1800"/>
          </a:p>
          <a:p>
            <a:pPr algn="l" marL="292608" indent="-292608">
              <a:spcBef>
                <a:spcPts val="1000"/>
              </a:spcBef>
              <a:spcAft>
                <a:spcPts val="0"/>
              </a:spcAft>
              <a:buClr>
                <a:srgbClr val="0066CC"/>
              </a:buClr>
              <a:buSzPct val="90000"/>
              <a:buFont typeface="Wingdings" pitchFamily="2" charset="2"/>
              <a:buChar char="v"/>
            </a:pPr>
            <a:r>
              <a:rPr lang="en-IN" sz="1600" dirty="0" b="1">
                <a:solidFill>
                  <a:srgbClr val="0F172A"/>
                </a:solidFill>
                <a:latin typeface="Arial"/>
                <a:cs typeface="Arial"/>
              </a:rPr>
              <a:t>Coarse, slow NWP grids → </a:t>
            </a:r>
            <a:r>
              <a:rPr lang="en-IN" sz="1600" dirty="0" b="1">
                <a:solidFill>
                  <a:srgbClr val="0066CC"/>
                </a:solidFill>
                <a:latin typeface="Arial"/>
                <a:cs typeface="Arial"/>
              </a:rPr>
              <a:t>2 km nowcast every 5–10 min</a:t>
            </a:r>
            <a:endParaRPr sz="1600"/>
          </a:p>
          <a:p>
            <a:pPr algn="l" marL="292608" indent="-292608">
              <a:spcBef>
                <a:spcPts val="1000"/>
              </a:spcBef>
              <a:spcAft>
                <a:spcPts val="0"/>
              </a:spcAft>
              <a:buClr>
                <a:srgbClr val="0066CC"/>
              </a:buClr>
              <a:buSzPct val="90000"/>
              <a:buFont typeface="Wingdings" pitchFamily="2" charset="2"/>
              <a:buChar char="v"/>
            </a:pPr>
            <a:r>
              <a:rPr lang="en-IN" sz="1600" dirty="0" b="1">
                <a:solidFill>
                  <a:srgbClr val="0F172A"/>
                </a:solidFill>
                <a:latin typeface="Arial"/>
                <a:cs typeface="Arial"/>
              </a:rPr>
              <a:t>Storms forming in minutes</a:t>
            </a:r>
            <a:r>
              <a:rPr lang="en-IN" sz="1600" dirty="0">
                <a:solidFill>
                  <a:srgbClr val="0F172A"/>
                </a:solidFill>
                <a:latin typeface="Arial"/>
                <a:cs typeface="Arial"/>
              </a:rPr>
              <a:t> are caught by satellite CI + lightning jumps</a:t>
            </a:r>
            <a:endParaRPr sz="1600"/>
          </a:p>
          <a:p>
            <a:pPr algn="l" marL="292608" indent="-292608">
              <a:spcBef>
                <a:spcPts val="1000"/>
              </a:spcBef>
              <a:spcAft>
                <a:spcPts val="0"/>
              </a:spcAft>
              <a:buClr>
                <a:srgbClr val="0066CC"/>
              </a:buClr>
              <a:buSzPct val="90000"/>
              <a:buFont typeface="Wingdings" pitchFamily="2" charset="2"/>
              <a:buChar char="v"/>
            </a:pPr>
            <a:r>
              <a:rPr lang="en-IN" sz="1600" dirty="0" b="1">
                <a:solidFill>
                  <a:srgbClr val="0F172A"/>
                </a:solidFill>
                <a:latin typeface="Arial"/>
                <a:cs typeface="Arial"/>
              </a:rPr>
              <a:t>Radar gaps</a:t>
            </a:r>
            <a:r>
              <a:rPr lang="en-IN" sz="1600" dirty="0">
                <a:solidFill>
                  <a:srgbClr val="0F172A"/>
                </a:solidFill>
                <a:latin typeface="Arial"/>
                <a:cs typeface="Arial"/>
              </a:rPr>
              <a:t> are filled by a satellite + lightning proxy</a:t>
            </a:r>
            <a:endParaRPr sz="1600"/>
          </a:p>
          <a:p>
            <a:pPr algn="l" marL="292608" indent="-292608">
              <a:spcBef>
                <a:spcPts val="1000"/>
              </a:spcBef>
              <a:spcAft>
                <a:spcPts val="0"/>
              </a:spcAft>
              <a:buClr>
                <a:srgbClr val="0066CC"/>
              </a:buClr>
              <a:buSzPct val="90000"/>
              <a:buFont typeface="Wingdings" pitchFamily="2" charset="2"/>
              <a:buChar char="v"/>
            </a:pPr>
            <a:r>
              <a:rPr lang="en-IN" sz="1600" dirty="0" b="1">
                <a:solidFill>
                  <a:srgbClr val="0F172A"/>
                </a:solidFill>
                <a:latin typeface="Arial"/>
                <a:cs typeface="Arial"/>
              </a:rPr>
              <a:t>Vague district warnings</a:t>
            </a:r>
            <a:r>
              <a:rPr lang="en-IN" sz="1600" dirty="0">
                <a:solidFill>
                  <a:srgbClr val="0F172A"/>
                </a:solidFill>
                <a:latin typeface="Arial"/>
                <a:cs typeface="Arial"/>
              </a:rPr>
              <a:t> replaced by minute-level ETAs per place</a:t>
            </a:r>
            <a:endParaRPr sz="1600"/>
          </a:p>
        </p:txBody>
      </p:sp>
      <p:sp>
        <p:nvSpPr>
          <p:cNvPr id="58" name="Rectangle 57"/>
          <p:cNvSpPr/>
          <p:nvPr/>
        </p:nvSpPr>
        <p:spPr>
          <a:xfrm>
            <a:off x="12070080" y="2395728"/>
            <a:ext cx="5394960" cy="5559552"/>
          </a:xfrm>
          <a:prstGeom prst="rect">
            <a:avLst/>
          </a:prstGeom>
          <a:solidFill>
            <a:srgbClr val="FFFFFF"/>
          </a:solidFill>
          <a:ln w="254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3716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200"/>
              </a:spcAft>
              <a:buNone/>
            </a:pPr>
            <a:r>
              <a:rPr lang="en-IN" sz="1800" dirty="0" b="1">
                <a:solidFill>
                  <a:srgbClr val="0066CC"/>
                </a:solidFill>
                <a:latin typeface="Arial"/>
                <a:cs typeface="Arial"/>
              </a:rPr>
              <a:t>UNIQUENESS</a:t>
            </a:r>
            <a:endParaRPr sz="1800"/>
          </a:p>
          <a:p>
            <a:pPr algn="l" marL="292608" indent="-292608">
              <a:spcBef>
                <a:spcPts val="2200"/>
              </a:spcBef>
              <a:spcAft>
                <a:spcPts val="0"/>
              </a:spcAft>
              <a:buClr>
                <a:srgbClr val="0066CC"/>
              </a:buClr>
              <a:buSzPct val="90000"/>
              <a:buFont typeface="Wingdings" pitchFamily="2" charset="2"/>
              <a:buChar char="v"/>
            </a:pPr>
            <a:r>
              <a:rPr lang="en-IN" sz="1700" dirty="0" b="1">
                <a:solidFill>
                  <a:srgbClr val="0F172A"/>
                </a:solidFill>
                <a:latin typeface="Arial"/>
                <a:cs typeface="Arial"/>
              </a:rPr>
              <a:t>Minute-precise countdowns</a:t>
            </a:r>
            <a:r>
              <a:rPr lang="en-IN" sz="1700" dirty="0">
                <a:solidFill>
                  <a:srgbClr val="0F172A"/>
                </a:solidFill>
                <a:latin typeface="Arial"/>
                <a:cs typeface="Arial"/>
              </a:rPr>
              <a:t> to storm arrival for every city, airport &amp; farm</a:t>
            </a:r>
            <a:endParaRPr sz="1700"/>
          </a:p>
          <a:p>
            <a:pPr algn="l" marL="292608" indent="-292608">
              <a:spcBef>
                <a:spcPts val="2200"/>
              </a:spcBef>
              <a:spcAft>
                <a:spcPts val="0"/>
              </a:spcAft>
              <a:buClr>
                <a:srgbClr val="0066CC"/>
              </a:buClr>
              <a:buSzPct val="90000"/>
              <a:buFont typeface="Wingdings" pitchFamily="2" charset="2"/>
              <a:buChar char="v"/>
            </a:pPr>
            <a:r>
              <a:rPr lang="en-IN" sz="1700" dirty="0" b="1">
                <a:solidFill>
                  <a:srgbClr val="0F172A"/>
                </a:solidFill>
                <a:latin typeface="Arial"/>
                <a:cs typeface="Arial"/>
              </a:rPr>
              <a:t>Survives sensor outages</a:t>
            </a:r>
            <a:r>
              <a:rPr lang="en-IN" sz="1700" dirty="0">
                <a:solidFill>
                  <a:srgbClr val="0F172A"/>
                </a:solidFill>
                <a:latin typeface="Arial"/>
                <a:cs typeface="Arial"/>
              </a:rPr>
              <a:t> – satellite + lightning fill radar gaps</a:t>
            </a:r>
            <a:endParaRPr sz="1700"/>
          </a:p>
          <a:p>
            <a:pPr algn="l" marL="292608" indent="-292608">
              <a:spcBef>
                <a:spcPts val="2200"/>
              </a:spcBef>
              <a:spcAft>
                <a:spcPts val="0"/>
              </a:spcAft>
              <a:buClr>
                <a:srgbClr val="0066CC"/>
              </a:buClr>
              <a:buSzPct val="90000"/>
              <a:buFont typeface="Wingdings" pitchFamily="2" charset="2"/>
              <a:buChar char="v"/>
            </a:pPr>
            <a:r>
              <a:rPr lang="en-IN" sz="1700" dirty="0" b="1">
                <a:solidFill>
                  <a:srgbClr val="0F172A"/>
                </a:solidFill>
                <a:latin typeface="Arial"/>
                <a:cs typeface="Arial"/>
              </a:rPr>
              <a:t>Self-verifying:</a:t>
            </a:r>
            <a:r>
              <a:rPr lang="en-IN" sz="1700" dirty="0">
                <a:solidFill>
                  <a:srgbClr val="0F172A"/>
                </a:solidFill>
                <a:latin typeface="Arial"/>
                <a:cs typeface="Arial"/>
              </a:rPr>
              <a:t> live CSI skill vs persistence every cycle</a:t>
            </a:r>
            <a:endParaRPr sz="1700"/>
          </a:p>
          <a:p>
            <a:pPr algn="l" marL="292608" indent="-292608">
              <a:spcBef>
                <a:spcPts val="2200"/>
              </a:spcBef>
              <a:spcAft>
                <a:spcPts val="0"/>
              </a:spcAft>
              <a:buClr>
                <a:srgbClr val="0066CC"/>
              </a:buClr>
              <a:buSzPct val="90000"/>
              <a:buFont typeface="Wingdings" pitchFamily="2" charset="2"/>
              <a:buChar char="v"/>
            </a:pPr>
            <a:r>
              <a:rPr lang="en-IN" sz="1700" dirty="0" b="1">
                <a:solidFill>
                  <a:srgbClr val="0F172A"/>
                </a:solidFill>
                <a:latin typeface="Arial"/>
                <a:cs typeface="Arial"/>
              </a:rPr>
              <a:t>AI assistant + RAG</a:t>
            </a:r>
            <a:r>
              <a:rPr lang="en-IN" sz="1700" dirty="0">
                <a:solidFill>
                  <a:srgbClr val="0F172A"/>
                </a:solidFill>
                <a:latin typeface="Arial"/>
                <a:cs typeface="Arial"/>
              </a:rPr>
              <a:t> (Gemini) answers from live data in EN / हिन्दी</a:t>
            </a:r>
            <a:endParaRPr sz="1700"/>
          </a:p>
          <a:p>
            <a:pPr algn="l" marL="292608" indent="-292608">
              <a:spcBef>
                <a:spcPts val="2200"/>
              </a:spcBef>
              <a:spcAft>
                <a:spcPts val="0"/>
              </a:spcAft>
              <a:buClr>
                <a:srgbClr val="0066CC"/>
              </a:buClr>
              <a:buSzPct val="90000"/>
              <a:buFont typeface="Wingdings" pitchFamily="2" charset="2"/>
              <a:buChar char="v"/>
            </a:pPr>
            <a:r>
              <a:rPr lang="en-IN" sz="1700" dirty="0" b="1">
                <a:solidFill>
                  <a:srgbClr val="0F172A"/>
                </a:solidFill>
                <a:latin typeface="Arial"/>
                <a:cs typeface="Arial"/>
              </a:rPr>
              <a:t>Real data today:</a:t>
            </a:r>
            <a:r>
              <a:rPr lang="en-IN" sz="1700" dirty="0">
                <a:solidFill>
                  <a:srgbClr val="0F172A"/>
                </a:solidFill>
                <a:latin typeface="Arial"/>
                <a:cs typeface="Arial"/>
              </a:rPr>
              <a:t> RainViewer radar, Open-Meteo &amp; NASA IMERG</a:t>
            </a:r>
            <a:endParaRPr sz="1700"/>
          </a:p>
        </p:txBody>
      </p:sp>
      <p:sp>
        <p:nvSpPr>
          <p:cNvPr id="59" name="Rectangle 58"/>
          <p:cNvSpPr/>
          <p:nvPr/>
        </p:nvSpPr>
        <p:spPr>
          <a:xfrm>
            <a:off x="6446520" y="2395728"/>
            <a:ext cx="5394960" cy="5559552"/>
          </a:xfrm>
          <a:prstGeom prst="rect">
            <a:avLst/>
          </a:prstGeom>
          <a:solidFill>
            <a:srgbClr val="FFFFFF"/>
          </a:solidFill>
          <a:ln w="254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82880" tIns="137160" rIns="182880" bIns="9144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dirty="0" b="1">
                <a:solidFill>
                  <a:srgbClr val="0066CC"/>
                </a:solidFill>
                <a:latin typeface="Arial"/>
                <a:cs typeface="Arial"/>
              </a:rPr>
              <a:t>BUMBLEBLE NOWCAST FLOW</a:t>
            </a:r>
            <a:endParaRPr sz="1800"/>
          </a:p>
        </p:txBody>
      </p:sp>
      <p:sp>
        <p:nvSpPr>
          <p:cNvPr id="60" name="TextBox 59"/>
          <p:cNvSpPr txBox="1"/>
          <p:nvPr/>
        </p:nvSpPr>
        <p:spPr>
          <a:xfrm>
            <a:off x="6720840" y="2926080"/>
            <a:ext cx="484632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 dirty="0" b="1">
                <a:solidFill>
                  <a:srgbClr val="1B559B"/>
                </a:solidFill>
                <a:latin typeface="Arial"/>
                <a:cs typeface="Arial"/>
              </a:rPr>
              <a:t>INGEST &amp; FUSE</a:t>
            </a:r>
            <a:endParaRPr sz="1200"/>
          </a:p>
        </p:txBody>
      </p:sp>
      <p:sp>
        <p:nvSpPr>
          <p:cNvPr id="61" name="Rounded Rectangle 60"/>
          <p:cNvSpPr/>
          <p:nvPr/>
        </p:nvSpPr>
        <p:spPr>
          <a:xfrm>
            <a:off x="6720840" y="3182112"/>
            <a:ext cx="4846320" cy="5303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tIns="36576" rIns="73152" bIns="36576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00" dirty="0" b="1">
                <a:solidFill>
                  <a:srgbClr val="0F172A"/>
                </a:solidFill>
                <a:latin typeface="Arial"/>
                <a:cs typeface="Arial"/>
              </a:rPr>
              <a:t>Real-Time Ingestion &amp; Quality Control</a:t>
            </a:r>
            <a:endParaRPr sz="1400"/>
          </a:p>
        </p:txBody>
      </p:sp>
      <p:sp>
        <p:nvSpPr>
          <p:cNvPr id="62" name="Down Arrow 61"/>
          <p:cNvSpPr/>
          <p:nvPr/>
        </p:nvSpPr>
        <p:spPr>
          <a:xfrm>
            <a:off x="9006840" y="3749039"/>
            <a:ext cx="274320" cy="201168"/>
          </a:xfrm>
          <a:prstGeom prst="downArrow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3" name="Rounded Rectangle 62"/>
          <p:cNvSpPr/>
          <p:nvPr/>
        </p:nvSpPr>
        <p:spPr>
          <a:xfrm>
            <a:off x="6720840" y="3986784"/>
            <a:ext cx="4846320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tIns="36576" rIns="73152" bIns="36576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00" dirty="0" b="1">
                <a:solidFill>
                  <a:srgbClr val="0F172A"/>
                </a:solidFill>
                <a:latin typeface="Arial"/>
                <a:cs typeface="Arial"/>
              </a:rPr>
              <a:t>2 km Multi-Source Fusion</a:t>
            </a:r>
            <a:endParaRPr sz="1400"/>
          </a:p>
          <a:p>
            <a:pPr algn="ctr" marL="0" indent="0">
              <a:spcBef>
                <a:spcPts val="100"/>
              </a:spcBef>
              <a:spcAft>
                <a:spcPts val="0"/>
              </a:spcAft>
              <a:buNone/>
            </a:pPr>
            <a:r>
              <a:rPr lang="en-IN" sz="1100" dirty="0">
                <a:solidFill>
                  <a:srgbClr val="475569"/>
                </a:solidFill>
                <a:latin typeface="Arial"/>
                <a:cs typeface="Arial"/>
              </a:rPr>
              <a:t>radar mosaic · parallax fix · latency alignment</a:t>
            </a:r>
            <a:endParaRPr sz="1100"/>
          </a:p>
        </p:txBody>
      </p:sp>
      <p:sp>
        <p:nvSpPr>
          <p:cNvPr id="64" name="Down Arrow 63"/>
          <p:cNvSpPr/>
          <p:nvPr/>
        </p:nvSpPr>
        <p:spPr>
          <a:xfrm>
            <a:off x="9006840" y="4590288"/>
            <a:ext cx="274320" cy="201168"/>
          </a:xfrm>
          <a:prstGeom prst="downArrow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5" name="Rounded Rectangle 64"/>
          <p:cNvSpPr/>
          <p:nvPr/>
        </p:nvSpPr>
        <p:spPr>
          <a:xfrm>
            <a:off x="6720840" y="4828032"/>
            <a:ext cx="4846320" cy="621792"/>
          </a:xfrm>
          <a:prstGeom prst="roundRect">
            <a:avLst>
              <a:gd name="adj" fmla="val 12000"/>
            </a:avLst>
          </a:prstGeom>
          <a:solidFill>
            <a:srgbClr val="FEF3C7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tIns="36576" rIns="73152" bIns="36576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00" dirty="0" b="1">
                <a:solidFill>
                  <a:srgbClr val="B45309"/>
                </a:solidFill>
                <a:latin typeface="Arial"/>
                <a:cs typeface="Arial"/>
              </a:rPr>
              <a:t>AI Detection &amp; 0–6 h Nowcast</a:t>
            </a:r>
            <a:endParaRPr sz="1400"/>
          </a:p>
          <a:p>
            <a:pPr algn="ctr" marL="0" indent="0">
              <a:spcBef>
                <a:spcPts val="100"/>
              </a:spcBef>
              <a:spcAft>
                <a:spcPts val="0"/>
              </a:spcAft>
              <a:buNone/>
            </a:pPr>
            <a:r>
              <a:rPr lang="en-IN" sz="1100" dirty="0">
                <a:solidFill>
                  <a:srgbClr val="B45309"/>
                </a:solidFill>
                <a:latin typeface="Arial"/>
                <a:cs typeface="Arial"/>
              </a:rPr>
              <a:t>storm tracking · initiation · lightning jump · extrapolation</a:t>
            </a:r>
            <a:endParaRPr sz="1100"/>
          </a:p>
        </p:txBody>
      </p:sp>
      <p:sp>
        <p:nvSpPr>
          <p:cNvPr id="66" name="TextBox 65"/>
          <p:cNvSpPr txBox="1"/>
          <p:nvPr/>
        </p:nvSpPr>
        <p:spPr>
          <a:xfrm>
            <a:off x="6720840" y="5541264"/>
            <a:ext cx="484632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 dirty="0" b="1">
                <a:solidFill>
                  <a:srgbClr val="1B559B"/>
                </a:solidFill>
                <a:latin typeface="Arial"/>
                <a:cs typeface="Arial"/>
              </a:rPr>
              <a:t>HAZARD ENGINE</a:t>
            </a:r>
            <a:endParaRPr sz="1200"/>
          </a:p>
        </p:txBody>
      </p:sp>
      <p:sp>
        <p:nvSpPr>
          <p:cNvPr id="67" name="Rounded Rectangle 66"/>
          <p:cNvSpPr/>
          <p:nvPr/>
        </p:nvSpPr>
        <p:spPr>
          <a:xfrm>
            <a:off x="6720840" y="5797296"/>
            <a:ext cx="4846320" cy="5303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tIns="36576" rIns="73152" bIns="36576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00" dirty="0" b="1">
                <a:solidFill>
                  <a:srgbClr val="0F172A"/>
                </a:solidFill>
                <a:latin typeface="Arial"/>
                <a:cs typeface="Arial"/>
              </a:rPr>
              <a:t>Lightning · Hail · Downburst · Cloudburst</a:t>
            </a:r>
            <a:endParaRPr sz="1400"/>
          </a:p>
        </p:txBody>
      </p:sp>
      <p:sp>
        <p:nvSpPr>
          <p:cNvPr id="68" name="Down Arrow 67"/>
          <p:cNvSpPr/>
          <p:nvPr/>
        </p:nvSpPr>
        <p:spPr>
          <a:xfrm>
            <a:off x="7738110" y="6364224"/>
            <a:ext cx="274320" cy="201168"/>
          </a:xfrm>
          <a:prstGeom prst="downArrow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9" name="Down Arrow 68"/>
          <p:cNvSpPr/>
          <p:nvPr/>
        </p:nvSpPr>
        <p:spPr>
          <a:xfrm>
            <a:off x="10275569" y="6364224"/>
            <a:ext cx="274320" cy="201168"/>
          </a:xfrm>
          <a:prstGeom prst="downArrow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0" name="Rounded Rectangle 69"/>
          <p:cNvSpPr/>
          <p:nvPr/>
        </p:nvSpPr>
        <p:spPr>
          <a:xfrm>
            <a:off x="6720840" y="6601968"/>
            <a:ext cx="2308860" cy="914400"/>
          </a:xfrm>
          <a:prstGeom prst="roundRect">
            <a:avLst>
              <a:gd name="adj" fmla="val 12000"/>
            </a:avLst>
          </a:prstGeom>
          <a:solidFill>
            <a:srgbClr val="DCFCE7"/>
          </a:solidFill>
          <a:ln w="15875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tIns="36576" rIns="73152" bIns="36576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00" dirty="0" b="1">
                <a:solidFill>
                  <a:srgbClr val="15803D"/>
                </a:solidFill>
                <a:latin typeface="Arial"/>
                <a:cs typeface="Arial"/>
              </a:rPr>
              <a:t>ALL CLEAR</a:t>
            </a:r>
            <a:endParaRPr sz="1400"/>
          </a:p>
          <a:p>
            <a:pPr algn="ctr" marL="0" indent="0">
              <a:spcBef>
                <a:spcPts val="100"/>
              </a:spcBef>
              <a:spcAft>
                <a:spcPts val="0"/>
              </a:spcAft>
              <a:buNone/>
            </a:pPr>
            <a:r>
              <a:rPr lang="en-IN" sz="1200" dirty="0">
                <a:solidFill>
                  <a:srgbClr val="15803D"/>
                </a:solidFill>
                <a:latin typeface="Arial"/>
                <a:cs typeface="Arial"/>
              </a:rPr>
              <a:t>No threat in next 6 h</a:t>
            </a:r>
            <a:endParaRPr sz="1200"/>
          </a:p>
        </p:txBody>
      </p:sp>
      <p:sp>
        <p:nvSpPr>
          <p:cNvPr id="71" name="Rounded Rectangle 70"/>
          <p:cNvSpPr/>
          <p:nvPr/>
        </p:nvSpPr>
        <p:spPr>
          <a:xfrm>
            <a:off x="9258300" y="6601968"/>
            <a:ext cx="2308860" cy="914400"/>
          </a:xfrm>
          <a:prstGeom prst="roundRect">
            <a:avLst>
              <a:gd name="adj" fmla="val 12000"/>
            </a:avLst>
          </a:prstGeom>
          <a:solidFill>
            <a:srgbClr val="FEE2E2"/>
          </a:solidFill>
          <a:ln w="15875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tIns="36576" rIns="73152" bIns="36576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00" dirty="0" b="1">
                <a:solidFill>
                  <a:srgbClr val="B91C1C"/>
                </a:solidFill>
                <a:latin typeface="Arial"/>
                <a:cs typeface="Arial"/>
              </a:rPr>
              <a:t>SEVERE THREAT</a:t>
            </a:r>
            <a:endParaRPr sz="1400"/>
          </a:p>
          <a:p>
            <a:pPr algn="ctr" marL="0" indent="0">
              <a:spcBef>
                <a:spcPts val="100"/>
              </a:spcBef>
              <a:spcAft>
                <a:spcPts val="0"/>
              </a:spcAft>
              <a:buNone/>
            </a:pPr>
            <a:r>
              <a:rPr lang="en-IN" sz="1200" dirty="0">
                <a:solidFill>
                  <a:srgbClr val="B91C1C"/>
                </a:solidFill>
                <a:latin typeface="Arial"/>
                <a:cs typeface="Arial"/>
              </a:rPr>
              <a:t>Countdown + alert issued</a:t>
            </a:r>
            <a:endParaRPr sz="1200"/>
          </a:p>
        </p:txBody>
      </p:sp>
      <p:sp>
        <p:nvSpPr>
          <p:cNvPr id="72" name="Rounded Rectangle 71"/>
          <p:cNvSpPr/>
          <p:nvPr/>
        </p:nvSpPr>
        <p:spPr>
          <a:xfrm>
            <a:off x="6446520" y="8138160"/>
            <a:ext cx="5394960" cy="1143000"/>
          </a:xfrm>
          <a:prstGeom prst="roundRect">
            <a:avLst>
              <a:gd name="adj" fmla="val 12000"/>
            </a:avLst>
          </a:prstGeom>
          <a:solidFill>
            <a:srgbClr val="FEF3C7"/>
          </a:solidFill>
          <a:ln w="1905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 rIns="109728" bIns="73152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dirty="0" b="1">
                <a:solidFill>
                  <a:srgbClr val="0F172A"/>
                </a:solidFill>
                <a:latin typeface="Arial"/>
                <a:cs typeface="Arial"/>
              </a:rPr>
              <a:t>Live Demo</a:t>
            </a:r>
            <a:endParaRPr sz="1800"/>
          </a:p>
          <a:p>
            <a:pPr algn="ctr" marL="0" indent="0">
              <a:spcBef>
                <a:spcPts val="300"/>
              </a:spcBef>
              <a:spcAft>
                <a:spcPts val="0"/>
              </a:spcAft>
              <a:buNone/>
            </a:pPr>
            <a:r>
              <a:rPr lang="en-IN" sz="1500" dirty="0">
                <a:solidFill>
                  <a:srgbClr val="0066CC"/>
                </a:solidFill>
                <a:latin typeface="Arial"/>
                <a:cs typeface="Arial"/>
                <a:hlinkClick r:id="rId9"/>
              </a:rPr>
              <a:t>http://localhost:8000  ·  one-click Docker cloud deploy</a:t>
            </a:r>
            <a:endParaRPr sz="1500"/>
          </a:p>
        </p:txBody>
      </p:sp>
      <p:sp>
        <p:nvSpPr>
          <p:cNvPr id="73" name="Rounded Rectangle 72"/>
          <p:cNvSpPr/>
          <p:nvPr/>
        </p:nvSpPr>
        <p:spPr>
          <a:xfrm>
            <a:off x="12070080" y="8138160"/>
            <a:ext cx="5394960" cy="1143000"/>
          </a:xfrm>
          <a:prstGeom prst="roundRect">
            <a:avLst>
              <a:gd name="adj" fmla="val 12000"/>
            </a:avLst>
          </a:prstGeom>
          <a:solidFill>
            <a:srgbClr val="FEF3C7"/>
          </a:solidFill>
          <a:ln w="1905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 rIns="109728" bIns="73152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dirty="0" b="1">
                <a:solidFill>
                  <a:srgbClr val="0F172A"/>
                </a:solidFill>
                <a:latin typeface="Arial"/>
                <a:cs typeface="Arial"/>
              </a:rPr>
              <a:t>Demo Modes</a:t>
            </a:r>
            <a:endParaRPr sz="1600"/>
          </a:p>
          <a:p>
            <a:pPr algn="ctr" marL="0" indent="0">
              <a:spcBef>
                <a:spcPts val="200"/>
              </a:spcBef>
              <a:spcAft>
                <a:spcPts val="0"/>
              </a:spcAft>
              <a:buNone/>
            </a:pPr>
            <a:r>
              <a:rPr lang="en-IN" sz="1250" dirty="0">
                <a:solidFill>
                  <a:srgbClr val="0F172A"/>
                </a:solidFill>
                <a:latin typeface="Arial"/>
                <a:cs typeface="Arial"/>
              </a:rPr>
              <a:t>Realtime: live RainViewer radar · Simulated: Nor'wester storms</a:t>
            </a:r>
            <a:endParaRPr sz="1250"/>
          </a:p>
          <a:p>
            <a:pPr algn="ctr" marL="0" indent="0">
              <a:spcBef>
                <a:spcPts val="100"/>
              </a:spcBef>
              <a:spcAft>
                <a:spcPts val="0"/>
              </a:spcAft>
              <a:buNone/>
            </a:pPr>
            <a:r>
              <a:rPr lang="en-IN" sz="1250" dirty="0">
                <a:solidFill>
                  <a:srgbClr val="475569"/>
                </a:solidFill>
                <a:latin typeface="Arial"/>
                <a:cs typeface="Arial"/>
              </a:rPr>
              <a:t>Try Ask AI: “Which cities are at risk?”</a:t>
            </a:r>
            <a:endParaRPr sz="125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object 112"/>
          <p:cNvSpPr txBox="1">
            <a:spLocks noGrp="1"/>
          </p:cNvSpPr>
          <p:nvPr>
            <p:ph type="ftr" idx="5" sz="quarter"/>
          </p:nvPr>
        </p:nvSpPr>
        <p:spPr>
          <a:xfrm>
            <a:off x="5943600" y="9637776"/>
            <a:ext cx="6400800" cy="310896"/>
          </a:xfrm>
          <a:prstGeom prst="rect"/>
        </p:spPr>
        <p:txBody>
          <a:bodyPr wrap="square" lIns="0" tIns="26034" rIns="0" bIns="0" rtlCol="0" vert="horz">
            <a:spAutoFit/>
          </a:bodyPr>
          <a:lstStyle/>
          <a:p>
            <a:pPr marL="0" algn="ctr" indent="0">
              <a:lnSpc>
                <a:spcPct val="100000"/>
              </a:lnSpc>
              <a:spcBef>
                <a:spcPts val="204"/>
              </a:spcBef>
            </a:pPr>
            <a:r>
              <a:rPr dirty="0"/>
              <a:t>@SIH</a:t>
            </a:r>
            <a:r>
              <a:rPr dirty="0" spc="-15"/>
              <a:t> </a:t>
            </a:r>
            <a:r>
              <a:rPr dirty="0"/>
              <a:t>Idea</a:t>
            </a:r>
            <a:r>
              <a:rPr dirty="0" spc="-10"/>
              <a:t> </a:t>
            </a:r>
            <a:r>
              <a:rPr dirty="0"/>
              <a:t>submission-</a:t>
            </a:r>
            <a:r>
              <a:rPr dirty="0" spc="-10"/>
              <a:t> Template</a:t>
            </a:r>
          </a:p>
        </p:txBody>
      </p:sp>
      <p:sp>
        <p:nvSpPr>
          <p:cNvPr id="113" name="object 11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2085"/>
              </a:lnSpc>
            </a:pPr>
            <a:fld id="{81D60167-4931-47E6-BA6A-407CBD079E47}" type="slidenum">
              <a:rPr dirty="0" spc="-50"/>
              <a:t>4</a:t>
            </a:fld>
          </a:p>
        </p:txBody>
      </p:sp>
      <p:sp>
        <p:nvSpPr>
          <p:cNvPr id="114" name="Hexagon 113"/>
          <p:cNvSpPr/>
          <p:nvPr/>
        </p:nvSpPr>
        <p:spPr>
          <a:xfrm>
            <a:off x="822960" y="566928"/>
            <a:ext cx="329184" cy="292608"/>
          </a:xfrm>
          <a:prstGeom prst="hexagon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5" name="TextBox 114"/>
          <p:cNvSpPr txBox="1"/>
          <p:nvPr/>
        </p:nvSpPr>
        <p:spPr>
          <a:xfrm>
            <a:off x="1280160" y="457200"/>
            <a:ext cx="237744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 dirty="0" b="1">
                <a:solidFill>
                  <a:srgbClr val="1B559B"/>
                </a:solidFill>
                <a:latin typeface="Arial"/>
                <a:cs typeface="Arial"/>
              </a:rPr>
              <a:t>Bumblebee</a:t>
            </a:r>
            <a:endParaRPr sz="2000"/>
          </a:p>
        </p:txBody>
      </p:sp>
      <p:sp>
        <p:nvSpPr>
          <p:cNvPr id="116" name="TextBox 115"/>
          <p:cNvSpPr txBox="1"/>
          <p:nvPr/>
        </p:nvSpPr>
        <p:spPr>
          <a:xfrm>
            <a:off x="3657600" y="274320"/>
            <a:ext cx="10972800" cy="9601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5400" dirty="0" b="1">
                <a:solidFill>
                  <a:srgbClr val="000000"/>
                </a:solidFill>
                <a:latin typeface="Times New Roman"/>
                <a:cs typeface="Times New Roman"/>
              </a:rPr>
              <a:t>TECHNICAL APPROACH</a:t>
            </a:r>
            <a:endParaRPr sz="5400"/>
          </a:p>
        </p:txBody>
      </p:sp>
      <p:pic>
        <p:nvPicPr>
          <p:cNvPr id="117" name="Picture 116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4666976" y="0"/>
            <a:ext cx="3374136" cy="1591056"/>
          </a:xfrm>
          <a:prstGeom prst="rect">
            <a:avLst/>
          </a:prstGeom>
        </p:spPr>
      </p:pic>
      <p:sp>
        <p:nvSpPr>
          <p:cNvPr id="118" name="Rectangle 117"/>
          <p:cNvSpPr/>
          <p:nvPr/>
        </p:nvSpPr>
        <p:spPr>
          <a:xfrm>
            <a:off x="822960" y="1600200"/>
            <a:ext cx="12298680" cy="7680960"/>
          </a:xfrm>
          <a:prstGeom prst="rect">
            <a:avLst/>
          </a:prstGeom>
          <a:solidFill>
            <a:srgbClr val="FFFFFF"/>
          </a:solidFill>
          <a:ln w="254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9" name="Rounded Rectangle 118"/>
          <p:cNvSpPr/>
          <p:nvPr/>
        </p:nvSpPr>
        <p:spPr>
          <a:xfrm>
            <a:off x="5783580" y="1737360"/>
            <a:ext cx="2377440" cy="457200"/>
          </a:xfrm>
          <a:prstGeom prst="roundRect">
            <a:avLst>
              <a:gd name="adj" fmla="val 30000"/>
            </a:avLst>
          </a:prstGeom>
          <a:solidFill>
            <a:srgbClr val="FEF3C7"/>
          </a:solidFill>
          <a:ln w="1905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 rIns="109728" bIns="73152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dirty="0" b="1">
                <a:solidFill>
                  <a:srgbClr val="B45309"/>
                </a:solidFill>
                <a:latin typeface="Arial"/>
                <a:cs typeface="Arial"/>
              </a:rPr>
              <a:t>FLOW-CHART</a:t>
            </a:r>
            <a:endParaRPr sz="1800"/>
          </a:p>
        </p:txBody>
      </p:sp>
      <p:sp>
        <p:nvSpPr>
          <p:cNvPr id="120" name="Rounded Rectangle 119"/>
          <p:cNvSpPr/>
          <p:nvPr/>
        </p:nvSpPr>
        <p:spPr>
          <a:xfrm>
            <a:off x="1097280" y="2331720"/>
            <a:ext cx="3703320" cy="6766560"/>
          </a:xfrm>
          <a:prstGeom prst="roundRect">
            <a:avLst>
              <a:gd name="adj" fmla="val 6000"/>
            </a:avLst>
          </a:prstGeom>
          <a:solidFill>
            <a:srgbClr val="F3F8FE"/>
          </a:solidFill>
          <a:ln w="15875">
            <a:solidFill>
              <a:srgbClr val="BFD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1" name="TextBox 120"/>
          <p:cNvSpPr txBox="1"/>
          <p:nvPr/>
        </p:nvSpPr>
        <p:spPr>
          <a:xfrm>
            <a:off x="1097280" y="2423160"/>
            <a:ext cx="370332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500" dirty="0" b="1">
                <a:solidFill>
                  <a:srgbClr val="0066CC"/>
                </a:solidFill>
                <a:latin typeface="Arial"/>
                <a:cs typeface="Arial"/>
              </a:rPr>
              <a:t>1 · Ingest &amp; Fuse</a:t>
            </a:r>
            <a:endParaRPr sz="1500"/>
          </a:p>
        </p:txBody>
      </p:sp>
      <p:sp>
        <p:nvSpPr>
          <p:cNvPr id="122" name="Rounded Rectangle 121"/>
          <p:cNvSpPr/>
          <p:nvPr/>
        </p:nvSpPr>
        <p:spPr>
          <a:xfrm>
            <a:off x="1280160" y="2926079"/>
            <a:ext cx="3337560" cy="841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tIns="36576" rIns="73152" bIns="36576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300" dirty="0" b="1">
                <a:solidFill>
                  <a:srgbClr val="0F172A"/>
                </a:solidFill>
                <a:latin typeface="Arial"/>
                <a:cs typeface="Arial"/>
              </a:rPr>
              <a:t>Multi-Source Ingestion</a:t>
            </a:r>
            <a:endParaRPr sz="1300"/>
          </a:p>
          <a:p>
            <a:pPr algn="ctr" marL="0" indent="0">
              <a:spcBef>
                <a:spcPts val="100"/>
              </a:spcBef>
              <a:spcAft>
                <a:spcPts val="0"/>
              </a:spcAft>
              <a:buNone/>
            </a:pPr>
            <a:r>
              <a:rPr lang="en-IN" sz="1100" dirty="0">
                <a:solidFill>
                  <a:srgbClr val="475569"/>
                </a:solidFill>
                <a:latin typeface="Arial"/>
                <a:cs typeface="Arial"/>
              </a:rPr>
              <a:t>DWR radar · INSAT-3DR · lightning · RainViewer</a:t>
            </a:r>
            <a:endParaRPr sz="1100"/>
          </a:p>
        </p:txBody>
      </p:sp>
      <p:sp>
        <p:nvSpPr>
          <p:cNvPr id="123" name="Down Arrow 122"/>
          <p:cNvSpPr/>
          <p:nvPr/>
        </p:nvSpPr>
        <p:spPr>
          <a:xfrm>
            <a:off x="2811779" y="3822191"/>
            <a:ext cx="274320" cy="237744"/>
          </a:xfrm>
          <a:prstGeom prst="downArrow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4" name="Rounded Rectangle 123"/>
          <p:cNvSpPr/>
          <p:nvPr/>
        </p:nvSpPr>
        <p:spPr>
          <a:xfrm>
            <a:off x="1280160" y="4114800"/>
            <a:ext cx="3337560" cy="841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tIns="36576" rIns="73152" bIns="36576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300" dirty="0" b="1">
                <a:solidFill>
                  <a:srgbClr val="0F172A"/>
                </a:solidFill>
                <a:latin typeface="Arial"/>
                <a:cs typeface="Arial"/>
              </a:rPr>
              <a:t>Quality Control</a:t>
            </a:r>
            <a:endParaRPr sz="1300"/>
          </a:p>
          <a:p>
            <a:pPr algn="ctr" marL="0" indent="0">
              <a:spcBef>
                <a:spcPts val="100"/>
              </a:spcBef>
              <a:spcAft>
                <a:spcPts val="0"/>
              </a:spcAft>
              <a:buNone/>
            </a:pPr>
            <a:r>
              <a:rPr lang="en-IN" sz="1100" dirty="0">
                <a:solidFill>
                  <a:srgbClr val="475569"/>
                </a:solidFill>
                <a:latin typeface="Arial"/>
                <a:cs typeface="Arial"/>
              </a:rPr>
              <a:t>clutter &amp; speckle filter · latency &amp; feed health</a:t>
            </a:r>
            <a:endParaRPr sz="1100"/>
          </a:p>
        </p:txBody>
      </p:sp>
      <p:sp>
        <p:nvSpPr>
          <p:cNvPr id="125" name="Down Arrow 124"/>
          <p:cNvSpPr/>
          <p:nvPr/>
        </p:nvSpPr>
        <p:spPr>
          <a:xfrm>
            <a:off x="2811779" y="5010912"/>
            <a:ext cx="274320" cy="237744"/>
          </a:xfrm>
          <a:prstGeom prst="downArrow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6" name="Rounded Rectangle 125"/>
          <p:cNvSpPr/>
          <p:nvPr/>
        </p:nvSpPr>
        <p:spPr>
          <a:xfrm>
            <a:off x="1280160" y="5303520"/>
            <a:ext cx="3337560" cy="841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tIns="36576" rIns="73152" bIns="36576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300" dirty="0" b="1">
                <a:solidFill>
                  <a:srgbClr val="0F172A"/>
                </a:solidFill>
                <a:latin typeface="Arial"/>
                <a:cs typeface="Arial"/>
              </a:rPr>
              <a:t>2 km Data Fusion</a:t>
            </a:r>
            <a:endParaRPr sz="1300"/>
          </a:p>
          <a:p>
            <a:pPr algn="ctr" marL="0" indent="0">
              <a:spcBef>
                <a:spcPts val="100"/>
              </a:spcBef>
              <a:spcAft>
                <a:spcPts val="0"/>
              </a:spcAft>
              <a:buNone/>
            </a:pPr>
            <a:r>
              <a:rPr lang="en-IN" sz="1100" dirty="0">
                <a:solidFill>
                  <a:srgbClr val="475569"/>
                </a:solidFill>
                <a:latin typeface="Arial"/>
                <a:cs typeface="Arial"/>
              </a:rPr>
              <a:t>radar mosaic · parallax fix · sat+lightning gap-fill</a:t>
            </a:r>
            <a:endParaRPr sz="1100"/>
          </a:p>
        </p:txBody>
      </p:sp>
      <p:sp>
        <p:nvSpPr>
          <p:cNvPr id="127" name="Down Arrow 126"/>
          <p:cNvSpPr/>
          <p:nvPr/>
        </p:nvSpPr>
        <p:spPr>
          <a:xfrm>
            <a:off x="2811779" y="6199631"/>
            <a:ext cx="274320" cy="237744"/>
          </a:xfrm>
          <a:prstGeom prst="downArrow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8" name="Rounded Rectangle 127"/>
          <p:cNvSpPr/>
          <p:nvPr/>
        </p:nvSpPr>
        <p:spPr>
          <a:xfrm>
            <a:off x="1280160" y="6492240"/>
            <a:ext cx="3337560" cy="841248"/>
          </a:xfrm>
          <a:prstGeom prst="roundRect">
            <a:avLst>
              <a:gd name="adj" fmla="val 12000"/>
            </a:avLst>
          </a:prstGeom>
          <a:solidFill>
            <a:srgbClr val="FEF3C7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tIns="36576" rIns="73152" bIns="36576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300" dirty="0" b="1">
                <a:solidFill>
                  <a:srgbClr val="B45309"/>
                </a:solidFill>
                <a:latin typeface="Arial"/>
                <a:cs typeface="Arial"/>
              </a:rPr>
              <a:t>Fused Analysis Grid</a:t>
            </a:r>
            <a:endParaRPr sz="1300"/>
          </a:p>
          <a:p>
            <a:pPr algn="ctr" marL="0" indent="0">
              <a:spcBef>
                <a:spcPts val="100"/>
              </a:spcBef>
              <a:spcAft>
                <a:spcPts val="0"/>
              </a:spcAft>
              <a:buNone/>
            </a:pPr>
            <a:r>
              <a:rPr lang="en-IN" sz="1100" dirty="0">
                <a:solidFill>
                  <a:srgbClr val="B45309"/>
                </a:solidFill>
                <a:latin typeface="Arial"/>
                <a:cs typeface="Arial"/>
              </a:rPr>
              <a:t>reflectivity · cloud-top BT · flash density</a:t>
            </a:r>
            <a:endParaRPr sz="1100"/>
          </a:p>
        </p:txBody>
      </p:sp>
      <p:sp>
        <p:nvSpPr>
          <p:cNvPr id="129" name="Rounded Rectangle 128"/>
          <p:cNvSpPr/>
          <p:nvPr/>
        </p:nvSpPr>
        <p:spPr>
          <a:xfrm>
            <a:off x="5029200" y="2331720"/>
            <a:ext cx="3703320" cy="6766560"/>
          </a:xfrm>
          <a:prstGeom prst="roundRect">
            <a:avLst>
              <a:gd name="adj" fmla="val 6000"/>
            </a:avLst>
          </a:prstGeom>
          <a:solidFill>
            <a:srgbClr val="F3F8FE"/>
          </a:solidFill>
          <a:ln w="15875">
            <a:solidFill>
              <a:srgbClr val="BFD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0" name="TextBox 129"/>
          <p:cNvSpPr txBox="1"/>
          <p:nvPr/>
        </p:nvSpPr>
        <p:spPr>
          <a:xfrm>
            <a:off x="5029200" y="2423160"/>
            <a:ext cx="370332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500" dirty="0" b="1">
                <a:solidFill>
                  <a:srgbClr val="0066CC"/>
                </a:solidFill>
                <a:latin typeface="Arial"/>
                <a:cs typeface="Arial"/>
              </a:rPr>
              <a:t>2 · Detect &amp; Nowcast</a:t>
            </a:r>
            <a:endParaRPr sz="1500"/>
          </a:p>
        </p:txBody>
      </p:sp>
      <p:sp>
        <p:nvSpPr>
          <p:cNvPr id="131" name="Rounded Rectangle 130"/>
          <p:cNvSpPr/>
          <p:nvPr/>
        </p:nvSpPr>
        <p:spPr>
          <a:xfrm>
            <a:off x="5212080" y="2926079"/>
            <a:ext cx="3337560" cy="841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tIns="36576" rIns="73152" bIns="36576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300" dirty="0" b="1">
                <a:solidFill>
                  <a:srgbClr val="0F172A"/>
                </a:solidFill>
                <a:latin typeface="Arial"/>
                <a:cs typeface="Arial"/>
              </a:rPr>
              <a:t>Storm Motion</a:t>
            </a:r>
            <a:endParaRPr sz="1300"/>
          </a:p>
          <a:p>
            <a:pPr algn="ctr" marL="0" indent="0">
              <a:spcBef>
                <a:spcPts val="100"/>
              </a:spcBef>
              <a:spcAft>
                <a:spcPts val="0"/>
              </a:spcAft>
              <a:buNone/>
            </a:pPr>
            <a:r>
              <a:rPr lang="en-IN" sz="1100" dirty="0">
                <a:solidFill>
                  <a:srgbClr val="475569"/>
                </a:solidFill>
                <a:latin typeface="Arial"/>
                <a:cs typeface="Arial"/>
              </a:rPr>
              <a:t>FFT phase correlation on radar + IR pairs</a:t>
            </a:r>
            <a:endParaRPr sz="1100"/>
          </a:p>
        </p:txBody>
      </p:sp>
      <p:sp>
        <p:nvSpPr>
          <p:cNvPr id="132" name="Down Arrow 131"/>
          <p:cNvSpPr/>
          <p:nvPr/>
        </p:nvSpPr>
        <p:spPr>
          <a:xfrm>
            <a:off x="6743700" y="3822191"/>
            <a:ext cx="274320" cy="237744"/>
          </a:xfrm>
          <a:prstGeom prst="downArrow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3" name="Rounded Rectangle 132"/>
          <p:cNvSpPr/>
          <p:nvPr/>
        </p:nvSpPr>
        <p:spPr>
          <a:xfrm>
            <a:off x="5212080" y="4114800"/>
            <a:ext cx="3337560" cy="841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tIns="36576" rIns="73152" bIns="36576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300" dirty="0" b="1">
                <a:solidFill>
                  <a:srgbClr val="0F172A"/>
                </a:solidFill>
                <a:latin typeface="Arial"/>
                <a:cs typeface="Arial"/>
              </a:rPr>
              <a:t>Storm &amp; CI Detection</a:t>
            </a:r>
            <a:endParaRPr sz="1300"/>
          </a:p>
          <a:p>
            <a:pPr algn="ctr" marL="0" indent="0">
              <a:spcBef>
                <a:spcPts val="100"/>
              </a:spcBef>
              <a:spcAft>
                <a:spcPts val="0"/>
              </a:spcAft>
              <a:buNone/>
            </a:pPr>
            <a:r>
              <a:rPr lang="en-IN" sz="1100" dirty="0">
                <a:solidFill>
                  <a:srgbClr val="475569"/>
                </a:solidFill>
                <a:latin typeface="Arial"/>
                <a:cs typeface="Arial"/>
              </a:rPr>
              <a:t>40 dBZ cell tracking · CI · lightning jump</a:t>
            </a:r>
            <a:endParaRPr sz="1100"/>
          </a:p>
        </p:txBody>
      </p:sp>
      <p:sp>
        <p:nvSpPr>
          <p:cNvPr id="134" name="Down Arrow 133"/>
          <p:cNvSpPr/>
          <p:nvPr/>
        </p:nvSpPr>
        <p:spPr>
          <a:xfrm>
            <a:off x="6743700" y="5010912"/>
            <a:ext cx="274320" cy="237744"/>
          </a:xfrm>
          <a:prstGeom prst="downArrow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5" name="Rounded Rectangle 134"/>
          <p:cNvSpPr/>
          <p:nvPr/>
        </p:nvSpPr>
        <p:spPr>
          <a:xfrm>
            <a:off x="5212080" y="5303520"/>
            <a:ext cx="3337560" cy="841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tIns="36576" rIns="73152" bIns="36576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300" dirty="0" b="1">
                <a:solidFill>
                  <a:srgbClr val="0F172A"/>
                </a:solidFill>
                <a:latin typeface="Arial"/>
                <a:cs typeface="Arial"/>
              </a:rPr>
              <a:t>0–6 h Extrapolation</a:t>
            </a:r>
            <a:endParaRPr sz="1300"/>
          </a:p>
          <a:p>
            <a:pPr algn="ctr" marL="0" indent="0">
              <a:spcBef>
                <a:spcPts val="100"/>
              </a:spcBef>
              <a:spcAft>
                <a:spcPts val="0"/>
              </a:spcAft>
              <a:buNone/>
            </a:pPr>
            <a:r>
              <a:rPr lang="en-IN" sz="1100" dirty="0">
                <a:solidFill>
                  <a:srgbClr val="475569"/>
                </a:solidFill>
                <a:latin typeface="Arial"/>
                <a:cs typeface="Arial"/>
              </a:rPr>
              <a:t>semi-Lagrangian · growth/decay · new cells</a:t>
            </a:r>
            <a:endParaRPr sz="1100"/>
          </a:p>
        </p:txBody>
      </p:sp>
      <p:sp>
        <p:nvSpPr>
          <p:cNvPr id="136" name="Down Arrow 135"/>
          <p:cNvSpPr/>
          <p:nvPr/>
        </p:nvSpPr>
        <p:spPr>
          <a:xfrm>
            <a:off x="6743700" y="6199631"/>
            <a:ext cx="274320" cy="237744"/>
          </a:xfrm>
          <a:prstGeom prst="downArrow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7" name="Rounded Rectangle 136"/>
          <p:cNvSpPr/>
          <p:nvPr/>
        </p:nvSpPr>
        <p:spPr>
          <a:xfrm>
            <a:off x="5212080" y="6492240"/>
            <a:ext cx="3337560" cy="841248"/>
          </a:xfrm>
          <a:prstGeom prst="roundRect">
            <a:avLst>
              <a:gd name="adj" fmla="val 12000"/>
            </a:avLst>
          </a:prstGeom>
          <a:solidFill>
            <a:srgbClr val="FEF3C7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tIns="36576" rIns="73152" bIns="36576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300" dirty="0" b="1">
                <a:solidFill>
                  <a:srgbClr val="B45309"/>
                </a:solidFill>
                <a:latin typeface="Arial"/>
                <a:cs typeface="Arial"/>
              </a:rPr>
              <a:t>Hazard Engine</a:t>
            </a:r>
            <a:endParaRPr sz="1300"/>
          </a:p>
          <a:p>
            <a:pPr algn="ctr" marL="0" indent="0">
              <a:spcBef>
                <a:spcPts val="100"/>
              </a:spcBef>
              <a:spcAft>
                <a:spcPts val="0"/>
              </a:spcAft>
              <a:buNone/>
            </a:pPr>
            <a:r>
              <a:rPr lang="en-IN" sz="1100" dirty="0">
                <a:solidFill>
                  <a:srgbClr val="B45309"/>
                </a:solidFill>
                <a:latin typeface="Arial"/>
                <a:cs typeface="Arial"/>
              </a:rPr>
              <a:t>VIL · Stewart gust · Z–R rain · probabilities</a:t>
            </a:r>
            <a:endParaRPr sz="1100"/>
          </a:p>
        </p:txBody>
      </p:sp>
      <p:sp>
        <p:nvSpPr>
          <p:cNvPr id="138" name="Down Arrow 137"/>
          <p:cNvSpPr/>
          <p:nvPr/>
        </p:nvSpPr>
        <p:spPr>
          <a:xfrm>
            <a:off x="6743700" y="7388352"/>
            <a:ext cx="274320" cy="237744"/>
          </a:xfrm>
          <a:prstGeom prst="downArrow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9" name="Rounded Rectangle 138"/>
          <p:cNvSpPr/>
          <p:nvPr/>
        </p:nvSpPr>
        <p:spPr>
          <a:xfrm>
            <a:off x="5212080" y="7680960"/>
            <a:ext cx="3337560" cy="841248"/>
          </a:xfrm>
          <a:prstGeom prst="roundRect">
            <a:avLst>
              <a:gd name="adj" fmla="val 12000"/>
            </a:avLst>
          </a:prstGeom>
          <a:solidFill>
            <a:srgbClr val="DCFCE7"/>
          </a:solidFill>
          <a:ln w="15875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tIns="36576" rIns="73152" bIns="36576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300" dirty="0" b="1">
                <a:solidFill>
                  <a:srgbClr val="15803D"/>
                </a:solidFill>
                <a:latin typeface="Arial"/>
                <a:cs typeface="Arial"/>
              </a:rPr>
              <a:t>Live Verification</a:t>
            </a:r>
            <a:endParaRPr sz="1300"/>
          </a:p>
          <a:p>
            <a:pPr algn="ctr" marL="0" indent="0">
              <a:spcBef>
                <a:spcPts val="100"/>
              </a:spcBef>
              <a:spcAft>
                <a:spcPts val="0"/>
              </a:spcAft>
              <a:buNone/>
            </a:pPr>
            <a:r>
              <a:rPr lang="en-IN" sz="1100" dirty="0">
                <a:solidFill>
                  <a:srgbClr val="15803D"/>
                </a:solidFill>
                <a:latin typeface="Arial"/>
                <a:cs typeface="Arial"/>
              </a:rPr>
              <a:t>CSI / POD / FAR vs persistence baseline</a:t>
            </a:r>
            <a:endParaRPr sz="1100"/>
          </a:p>
        </p:txBody>
      </p:sp>
      <p:sp>
        <p:nvSpPr>
          <p:cNvPr id="140" name="Rounded Rectangle 139"/>
          <p:cNvSpPr/>
          <p:nvPr/>
        </p:nvSpPr>
        <p:spPr>
          <a:xfrm>
            <a:off x="8961119" y="2331720"/>
            <a:ext cx="3703320" cy="6766560"/>
          </a:xfrm>
          <a:prstGeom prst="roundRect">
            <a:avLst>
              <a:gd name="adj" fmla="val 6000"/>
            </a:avLst>
          </a:prstGeom>
          <a:solidFill>
            <a:srgbClr val="F3F8FE"/>
          </a:solidFill>
          <a:ln w="15875">
            <a:solidFill>
              <a:srgbClr val="BFD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1" name="TextBox 140"/>
          <p:cNvSpPr txBox="1"/>
          <p:nvPr/>
        </p:nvSpPr>
        <p:spPr>
          <a:xfrm>
            <a:off x="8961119" y="2423160"/>
            <a:ext cx="370332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500" dirty="0" b="1">
                <a:solidFill>
                  <a:srgbClr val="0066CC"/>
                </a:solidFill>
                <a:latin typeface="Arial"/>
                <a:cs typeface="Arial"/>
              </a:rPr>
              <a:t>3 · Alert &amp; Decide</a:t>
            </a:r>
            <a:endParaRPr sz="1500"/>
          </a:p>
        </p:txBody>
      </p:sp>
      <p:sp>
        <p:nvSpPr>
          <p:cNvPr id="142" name="Rounded Rectangle 141"/>
          <p:cNvSpPr/>
          <p:nvPr/>
        </p:nvSpPr>
        <p:spPr>
          <a:xfrm>
            <a:off x="9143999" y="2926079"/>
            <a:ext cx="3337560" cy="841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tIns="36576" rIns="73152" bIns="36576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300" dirty="0" b="1">
                <a:solidFill>
                  <a:srgbClr val="0F172A"/>
                </a:solidFill>
                <a:latin typeface="Arial"/>
                <a:cs typeface="Arial"/>
              </a:rPr>
              <a:t>Arrival Countdowns</a:t>
            </a:r>
            <a:endParaRPr sz="1300"/>
          </a:p>
          <a:p>
            <a:pPr algn="ctr" marL="0" indent="0">
              <a:spcBef>
                <a:spcPts val="100"/>
              </a:spcBef>
              <a:spcAft>
                <a:spcPts val="0"/>
              </a:spcAft>
              <a:buNone/>
            </a:pPr>
            <a:r>
              <a:rPr lang="en-IN" sz="1100" dirty="0">
                <a:solidFill>
                  <a:srgbClr val="475569"/>
                </a:solidFill>
                <a:latin typeface="Arial"/>
                <a:cs typeface="Arial"/>
              </a:rPr>
              <a:t>minute-level ETA for 80+ places</a:t>
            </a:r>
            <a:endParaRPr sz="1100"/>
          </a:p>
        </p:txBody>
      </p:sp>
      <p:sp>
        <p:nvSpPr>
          <p:cNvPr id="143" name="Down Arrow 142"/>
          <p:cNvSpPr/>
          <p:nvPr/>
        </p:nvSpPr>
        <p:spPr>
          <a:xfrm>
            <a:off x="10675619" y="3822191"/>
            <a:ext cx="274320" cy="237744"/>
          </a:xfrm>
          <a:prstGeom prst="downArrow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4" name="Rounded Rectangle 143"/>
          <p:cNvSpPr/>
          <p:nvPr/>
        </p:nvSpPr>
        <p:spPr>
          <a:xfrm>
            <a:off x="9143999" y="4114800"/>
            <a:ext cx="3337560" cy="841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tIns="36576" rIns="73152" bIns="36576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300" dirty="0" b="1">
                <a:solidFill>
                  <a:srgbClr val="0F172A"/>
                </a:solidFill>
                <a:latin typeface="Arial"/>
                <a:cs typeface="Arial"/>
              </a:rPr>
              <a:t>GIS Dashboard + AI</a:t>
            </a:r>
            <a:endParaRPr sz="1300"/>
          </a:p>
          <a:p>
            <a:pPr algn="ctr" marL="0" indent="0">
              <a:spcBef>
                <a:spcPts val="100"/>
              </a:spcBef>
              <a:spcAft>
                <a:spcPts val="0"/>
              </a:spcAft>
              <a:buNone/>
            </a:pPr>
            <a:r>
              <a:rPr lang="en-IN" sz="1100" dirty="0">
                <a:solidFill>
                  <a:srgbClr val="475569"/>
                </a:solidFill>
                <a:latin typeface="Arial"/>
                <a:cs typeface="Arial"/>
              </a:rPr>
              <a:t>hazard maps · 0–6 h timeline · RAG assistant</a:t>
            </a:r>
            <a:endParaRPr sz="1100"/>
          </a:p>
        </p:txBody>
      </p:sp>
      <p:sp>
        <p:nvSpPr>
          <p:cNvPr id="145" name="Down Arrow 144"/>
          <p:cNvSpPr/>
          <p:nvPr/>
        </p:nvSpPr>
        <p:spPr>
          <a:xfrm>
            <a:off x="10675619" y="5010912"/>
            <a:ext cx="274320" cy="237744"/>
          </a:xfrm>
          <a:prstGeom prst="downArrow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6" name="Diamond 145"/>
          <p:cNvSpPr/>
          <p:nvPr/>
        </p:nvSpPr>
        <p:spPr>
          <a:xfrm>
            <a:off x="9852659" y="5266944"/>
            <a:ext cx="1920240" cy="914400"/>
          </a:xfrm>
          <a:prstGeom prst="diamond">
            <a:avLst/>
          </a:prstGeom>
          <a:solidFill>
            <a:srgbClr val="FEF3C7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50" dirty="0" b="1">
                <a:solidFill>
                  <a:srgbClr val="B45309"/>
                </a:solidFill>
                <a:latin typeface="Arial"/>
                <a:cs typeface="Arial"/>
              </a:rPr>
              <a:t>Threat ≥ Moderate?</a:t>
            </a:r>
            <a:endParaRPr sz="1250"/>
          </a:p>
        </p:txBody>
      </p:sp>
      <p:sp>
        <p:nvSpPr>
          <p:cNvPr id="147" name="TextBox 146"/>
          <p:cNvSpPr txBox="1"/>
          <p:nvPr/>
        </p:nvSpPr>
        <p:spPr>
          <a:xfrm>
            <a:off x="10995659" y="6199631"/>
            <a:ext cx="548640" cy="228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000" dirty="0" b="1">
                <a:solidFill>
                  <a:srgbClr val="15803D"/>
                </a:solidFill>
                <a:latin typeface="Arial"/>
                <a:cs typeface="Arial"/>
              </a:rPr>
              <a:t>YES</a:t>
            </a:r>
            <a:endParaRPr sz="1000"/>
          </a:p>
        </p:txBody>
      </p:sp>
      <p:sp>
        <p:nvSpPr>
          <p:cNvPr id="148" name="Down Arrow 147"/>
          <p:cNvSpPr/>
          <p:nvPr/>
        </p:nvSpPr>
        <p:spPr>
          <a:xfrm>
            <a:off x="10675619" y="6199631"/>
            <a:ext cx="274320" cy="237744"/>
          </a:xfrm>
          <a:prstGeom prst="downArrow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9" name="Rounded Rectangle 148"/>
          <p:cNvSpPr/>
          <p:nvPr/>
        </p:nvSpPr>
        <p:spPr>
          <a:xfrm>
            <a:off x="9143999" y="6492240"/>
            <a:ext cx="3337560" cy="841248"/>
          </a:xfrm>
          <a:prstGeom prst="roundRect">
            <a:avLst>
              <a:gd name="adj" fmla="val 12000"/>
            </a:avLst>
          </a:prstGeom>
          <a:solidFill>
            <a:srgbClr val="DCFCE7"/>
          </a:solidFill>
          <a:ln w="15875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tIns="36576" rIns="73152" bIns="36576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300" dirty="0" b="1">
                <a:solidFill>
                  <a:srgbClr val="15803D"/>
                </a:solidFill>
                <a:latin typeface="Arial"/>
                <a:cs typeface="Arial"/>
              </a:rPr>
              <a:t>Warnings Issued</a:t>
            </a:r>
            <a:endParaRPr sz="1300"/>
          </a:p>
          <a:p>
            <a:pPr algn="ctr" marL="0" indent="0">
              <a:spcBef>
                <a:spcPts val="100"/>
              </a:spcBef>
              <a:spcAft>
                <a:spcPts val="0"/>
              </a:spcAft>
              <a:buNone/>
            </a:pPr>
            <a:r>
              <a:rPr lang="en-IN" sz="1100" dirty="0">
                <a:solidFill>
                  <a:srgbClr val="15803D"/>
                </a:solidFill>
                <a:latin typeface="Arial"/>
                <a:cs typeface="Arial"/>
              </a:rPr>
              <a:t>banner · browser alert · bulletin / CSV / GeoJSON</a:t>
            </a:r>
            <a:endParaRPr sz="1100"/>
          </a:p>
        </p:txBody>
      </p:sp>
      <p:sp>
        <p:nvSpPr>
          <p:cNvPr id="150" name="Down Arrow 149"/>
          <p:cNvSpPr/>
          <p:nvPr/>
        </p:nvSpPr>
        <p:spPr>
          <a:xfrm>
            <a:off x="10675619" y="7388352"/>
            <a:ext cx="274320" cy="237744"/>
          </a:xfrm>
          <a:prstGeom prst="downArrow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1" name="Rounded Rectangle 150"/>
          <p:cNvSpPr/>
          <p:nvPr/>
        </p:nvSpPr>
        <p:spPr>
          <a:xfrm>
            <a:off x="9143999" y="7680960"/>
            <a:ext cx="3337560" cy="841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tIns="36576" rIns="73152" bIns="36576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300" dirty="0" b="1">
                <a:solidFill>
                  <a:srgbClr val="0F172A"/>
                </a:solidFill>
                <a:latin typeface="Arial"/>
                <a:cs typeface="Arial"/>
              </a:rPr>
              <a:t>Forecast Improves</a:t>
            </a:r>
            <a:endParaRPr sz="1300"/>
          </a:p>
          <a:p>
            <a:pPr algn="ctr" marL="0" indent="0">
              <a:spcBef>
                <a:spcPts val="100"/>
              </a:spcBef>
              <a:spcAft>
                <a:spcPts val="0"/>
              </a:spcAft>
              <a:buNone/>
            </a:pPr>
            <a:r>
              <a:rPr lang="en-IN" sz="1100" dirty="0">
                <a:solidFill>
                  <a:srgbClr val="475569"/>
                </a:solidFill>
                <a:latin typeface="Arial"/>
                <a:cs typeface="Arial"/>
              </a:rPr>
              <a:t>skill scored every cycle</a:t>
            </a:r>
            <a:endParaRPr sz="1100"/>
          </a:p>
        </p:txBody>
      </p:sp>
      <p:sp>
        <p:nvSpPr>
          <p:cNvPr id="152" name="TextBox 151"/>
          <p:cNvSpPr txBox="1"/>
          <p:nvPr/>
        </p:nvSpPr>
        <p:spPr>
          <a:xfrm>
            <a:off x="1280160" y="7589520"/>
            <a:ext cx="3337560" cy="7315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 dirty="0">
                <a:solidFill>
                  <a:srgbClr val="475569"/>
                </a:solidFill>
                <a:latin typeface="Arial"/>
                <a:cs typeface="Arial"/>
              </a:rPr>
              <a:t>Fused grid feeds the</a:t>
            </a:r>
            <a:endParaRPr sz="1200"/>
          </a:p>
          <a:p>
            <a:pPr algn="ctr" marL="0" indent="0">
              <a:spcBef>
                <a:spcPts val="200"/>
              </a:spcBef>
              <a:spcAft>
                <a:spcPts val="0"/>
              </a:spcAft>
              <a:buNone/>
            </a:pPr>
            <a:r>
              <a:rPr lang="en-IN" sz="1200" dirty="0" b="1">
                <a:solidFill>
                  <a:srgbClr val="0066CC"/>
                </a:solidFill>
                <a:latin typeface="Arial"/>
                <a:cs typeface="Arial"/>
              </a:rPr>
              <a:t>2 · Detect &amp; Nowcast →</a:t>
            </a:r>
            <a:endParaRPr sz="1200"/>
          </a:p>
        </p:txBody>
      </p:sp>
      <p:sp>
        <p:nvSpPr>
          <p:cNvPr id="153" name="Rectangle 152"/>
          <p:cNvSpPr/>
          <p:nvPr/>
        </p:nvSpPr>
        <p:spPr>
          <a:xfrm>
            <a:off x="13350240" y="1600200"/>
            <a:ext cx="4114800" cy="7680960"/>
          </a:xfrm>
          <a:prstGeom prst="rect">
            <a:avLst/>
          </a:prstGeom>
          <a:solidFill>
            <a:srgbClr val="FFFFFF"/>
          </a:solidFill>
          <a:ln w="254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4" name="TextBox 153"/>
          <p:cNvSpPr txBox="1"/>
          <p:nvPr/>
        </p:nvSpPr>
        <p:spPr>
          <a:xfrm>
            <a:off x="13350240" y="1737360"/>
            <a:ext cx="41148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dirty="0" b="1">
                <a:solidFill>
                  <a:srgbClr val="0066CC"/>
                </a:solidFill>
                <a:latin typeface="Arial"/>
                <a:cs typeface="Arial"/>
              </a:rPr>
              <a:t>TECH STACK</a:t>
            </a:r>
            <a:endParaRPr sz="1800"/>
          </a:p>
        </p:txBody>
      </p:sp>
      <p:sp>
        <p:nvSpPr>
          <p:cNvPr id="155" name="Rounded Rectangle 154"/>
          <p:cNvSpPr/>
          <p:nvPr/>
        </p:nvSpPr>
        <p:spPr>
          <a:xfrm>
            <a:off x="13578840" y="2331720"/>
            <a:ext cx="1760220" cy="841248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BFD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56" name="Picture 155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3688567" y="2523744"/>
            <a:ext cx="457200" cy="457200"/>
          </a:xfrm>
          <a:prstGeom prst="rect">
            <a:avLst/>
          </a:prstGeom>
        </p:spPr>
      </p:pic>
      <p:sp>
        <p:nvSpPr>
          <p:cNvPr id="157" name="TextBox 156"/>
          <p:cNvSpPr txBox="1"/>
          <p:nvPr/>
        </p:nvSpPr>
        <p:spPr>
          <a:xfrm>
            <a:off x="14218919" y="2331720"/>
            <a:ext cx="1074420" cy="8412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50" dirty="0" b="1">
                <a:solidFill>
                  <a:srgbClr val="1B559B"/>
                </a:solidFill>
                <a:latin typeface="Arial"/>
                <a:cs typeface="Arial"/>
              </a:rPr>
              <a:t>Python 3</a:t>
            </a:r>
            <a:endParaRPr sz="1250"/>
          </a:p>
        </p:txBody>
      </p:sp>
      <p:sp>
        <p:nvSpPr>
          <p:cNvPr id="158" name="Rounded Rectangle 157"/>
          <p:cNvSpPr/>
          <p:nvPr/>
        </p:nvSpPr>
        <p:spPr>
          <a:xfrm>
            <a:off x="15476220" y="2331720"/>
            <a:ext cx="1760220" cy="841248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BFD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59" name="Picture 158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5585948" y="2523744"/>
            <a:ext cx="457200" cy="457200"/>
          </a:xfrm>
          <a:prstGeom prst="rect">
            <a:avLst/>
          </a:prstGeom>
        </p:spPr>
      </p:pic>
      <p:sp>
        <p:nvSpPr>
          <p:cNvPr id="160" name="TextBox 159"/>
          <p:cNvSpPr txBox="1"/>
          <p:nvPr/>
        </p:nvSpPr>
        <p:spPr>
          <a:xfrm>
            <a:off x="16116300" y="2331720"/>
            <a:ext cx="1074420" cy="8412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50" dirty="0" b="1">
                <a:solidFill>
                  <a:srgbClr val="1B559B"/>
                </a:solidFill>
                <a:latin typeface="Arial"/>
                <a:cs typeface="Arial"/>
              </a:rPr>
              <a:t>FastAPI</a:t>
            </a:r>
            <a:endParaRPr sz="1250"/>
          </a:p>
        </p:txBody>
      </p:sp>
      <p:sp>
        <p:nvSpPr>
          <p:cNvPr id="161" name="Rounded Rectangle 160"/>
          <p:cNvSpPr/>
          <p:nvPr/>
        </p:nvSpPr>
        <p:spPr>
          <a:xfrm>
            <a:off x="13578840" y="3282696"/>
            <a:ext cx="1760220" cy="841248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BFD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62" name="Picture 161" descr="image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3688567" y="3474720"/>
            <a:ext cx="457200" cy="457200"/>
          </a:xfrm>
          <a:prstGeom prst="rect">
            <a:avLst/>
          </a:prstGeom>
        </p:spPr>
      </p:pic>
      <p:sp>
        <p:nvSpPr>
          <p:cNvPr id="163" name="TextBox 162"/>
          <p:cNvSpPr txBox="1"/>
          <p:nvPr/>
        </p:nvSpPr>
        <p:spPr>
          <a:xfrm>
            <a:off x="14218919" y="3282696"/>
            <a:ext cx="1074420" cy="8412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50" dirty="0" b="1">
                <a:solidFill>
                  <a:srgbClr val="1B559B"/>
                </a:solidFill>
                <a:latin typeface="Arial"/>
                <a:cs typeface="Arial"/>
              </a:rPr>
              <a:t>NumPy / SciPy</a:t>
            </a:r>
            <a:endParaRPr sz="1250"/>
          </a:p>
        </p:txBody>
      </p:sp>
      <p:sp>
        <p:nvSpPr>
          <p:cNvPr id="164" name="Rounded Rectangle 163"/>
          <p:cNvSpPr/>
          <p:nvPr/>
        </p:nvSpPr>
        <p:spPr>
          <a:xfrm>
            <a:off x="15476220" y="3282696"/>
            <a:ext cx="1760220" cy="841248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BFD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65" name="Picture 164" descr="image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5585948" y="3474720"/>
            <a:ext cx="457200" cy="457200"/>
          </a:xfrm>
          <a:prstGeom prst="rect">
            <a:avLst/>
          </a:prstGeom>
        </p:spPr>
      </p:pic>
      <p:sp>
        <p:nvSpPr>
          <p:cNvPr id="166" name="TextBox 165"/>
          <p:cNvSpPr txBox="1"/>
          <p:nvPr/>
        </p:nvSpPr>
        <p:spPr>
          <a:xfrm>
            <a:off x="16116300" y="3282696"/>
            <a:ext cx="1074420" cy="8412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50" dirty="0" b="1">
                <a:solidFill>
                  <a:srgbClr val="1B559B"/>
                </a:solidFill>
                <a:latin typeface="Arial"/>
                <a:cs typeface="Arial"/>
              </a:rPr>
              <a:t>WebSocket</a:t>
            </a:r>
            <a:endParaRPr sz="1250"/>
          </a:p>
        </p:txBody>
      </p:sp>
      <p:sp>
        <p:nvSpPr>
          <p:cNvPr id="167" name="Rounded Rectangle 166"/>
          <p:cNvSpPr/>
          <p:nvPr/>
        </p:nvSpPr>
        <p:spPr>
          <a:xfrm>
            <a:off x="13578840" y="4233672"/>
            <a:ext cx="1760220" cy="841248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BFD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68" name="Picture 167" descr="image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3688567" y="4425696"/>
            <a:ext cx="457200" cy="457200"/>
          </a:xfrm>
          <a:prstGeom prst="rect">
            <a:avLst/>
          </a:prstGeom>
        </p:spPr>
      </p:pic>
      <p:sp>
        <p:nvSpPr>
          <p:cNvPr id="169" name="TextBox 168"/>
          <p:cNvSpPr txBox="1"/>
          <p:nvPr/>
        </p:nvSpPr>
        <p:spPr>
          <a:xfrm>
            <a:off x="14218919" y="4233672"/>
            <a:ext cx="1074420" cy="8412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50" dirty="0" b="1">
                <a:solidFill>
                  <a:srgbClr val="1B559B"/>
                </a:solidFill>
                <a:latin typeface="Arial"/>
                <a:cs typeface="Arial"/>
              </a:rPr>
              <a:t>Gemini 2.5 Flash</a:t>
            </a:r>
            <a:endParaRPr sz="1250"/>
          </a:p>
        </p:txBody>
      </p:sp>
      <p:sp>
        <p:nvSpPr>
          <p:cNvPr id="170" name="Rounded Rectangle 169"/>
          <p:cNvSpPr/>
          <p:nvPr/>
        </p:nvSpPr>
        <p:spPr>
          <a:xfrm>
            <a:off x="15476220" y="4233672"/>
            <a:ext cx="1760220" cy="841248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BFD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1" name="Picture 170" descr="image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5585948" y="4425696"/>
            <a:ext cx="457200" cy="457200"/>
          </a:xfrm>
          <a:prstGeom prst="rect">
            <a:avLst/>
          </a:prstGeom>
        </p:spPr>
      </p:pic>
      <p:sp>
        <p:nvSpPr>
          <p:cNvPr id="172" name="TextBox 171"/>
          <p:cNvSpPr txBox="1"/>
          <p:nvPr/>
        </p:nvSpPr>
        <p:spPr>
          <a:xfrm>
            <a:off x="16116300" y="4233672"/>
            <a:ext cx="1074420" cy="8412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50" dirty="0" b="1">
                <a:solidFill>
                  <a:srgbClr val="1B559B"/>
                </a:solidFill>
                <a:latin typeface="Arial"/>
                <a:cs typeface="Arial"/>
              </a:rPr>
              <a:t>WebGL</a:t>
            </a:r>
            <a:endParaRPr sz="1250"/>
          </a:p>
        </p:txBody>
      </p:sp>
      <p:sp>
        <p:nvSpPr>
          <p:cNvPr id="173" name="Rounded Rectangle 172"/>
          <p:cNvSpPr/>
          <p:nvPr/>
        </p:nvSpPr>
        <p:spPr>
          <a:xfrm>
            <a:off x="13578840" y="5184648"/>
            <a:ext cx="1760220" cy="841248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BFD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" name="Picture 173" descr="image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3688567" y="5376672"/>
            <a:ext cx="457200" cy="457200"/>
          </a:xfrm>
          <a:prstGeom prst="rect">
            <a:avLst/>
          </a:prstGeom>
        </p:spPr>
      </p:pic>
      <p:sp>
        <p:nvSpPr>
          <p:cNvPr id="175" name="TextBox 174"/>
          <p:cNvSpPr txBox="1"/>
          <p:nvPr/>
        </p:nvSpPr>
        <p:spPr>
          <a:xfrm>
            <a:off x="14218919" y="5184648"/>
            <a:ext cx="1074420" cy="8412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50" dirty="0" b="1">
                <a:solidFill>
                  <a:srgbClr val="1B559B"/>
                </a:solidFill>
                <a:latin typeface="Arial"/>
                <a:cs typeface="Arial"/>
              </a:rPr>
              <a:t>Leaflet GIS</a:t>
            </a:r>
            <a:endParaRPr sz="1250"/>
          </a:p>
        </p:txBody>
      </p:sp>
      <p:sp>
        <p:nvSpPr>
          <p:cNvPr id="176" name="Rounded Rectangle 175"/>
          <p:cNvSpPr/>
          <p:nvPr/>
        </p:nvSpPr>
        <p:spPr>
          <a:xfrm>
            <a:off x="15476220" y="5184648"/>
            <a:ext cx="1760220" cy="841248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BFD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7" name="Picture 176" descr="image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5585948" y="5376672"/>
            <a:ext cx="457200" cy="457200"/>
          </a:xfrm>
          <a:prstGeom prst="rect">
            <a:avLst/>
          </a:prstGeom>
        </p:spPr>
      </p:pic>
      <p:sp>
        <p:nvSpPr>
          <p:cNvPr id="178" name="TextBox 177"/>
          <p:cNvSpPr txBox="1"/>
          <p:nvPr/>
        </p:nvSpPr>
        <p:spPr>
          <a:xfrm>
            <a:off x="16116300" y="5184648"/>
            <a:ext cx="1074420" cy="8412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50" dirty="0" b="1">
                <a:solidFill>
                  <a:srgbClr val="1B559B"/>
                </a:solidFill>
                <a:latin typeface="Arial"/>
                <a:cs typeface="Arial"/>
              </a:rPr>
              <a:t>JavaScript</a:t>
            </a:r>
            <a:endParaRPr sz="1250"/>
          </a:p>
        </p:txBody>
      </p:sp>
      <p:sp>
        <p:nvSpPr>
          <p:cNvPr id="179" name="Rounded Rectangle 178"/>
          <p:cNvSpPr/>
          <p:nvPr/>
        </p:nvSpPr>
        <p:spPr>
          <a:xfrm>
            <a:off x="13578840" y="6135624"/>
            <a:ext cx="1760220" cy="841248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BFD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80" name="Picture 179" descr="image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13688567" y="6327648"/>
            <a:ext cx="457200" cy="457200"/>
          </a:xfrm>
          <a:prstGeom prst="rect">
            <a:avLst/>
          </a:prstGeom>
        </p:spPr>
      </p:pic>
      <p:sp>
        <p:nvSpPr>
          <p:cNvPr id="181" name="TextBox 180"/>
          <p:cNvSpPr txBox="1"/>
          <p:nvPr/>
        </p:nvSpPr>
        <p:spPr>
          <a:xfrm>
            <a:off x="14218919" y="6135624"/>
            <a:ext cx="1074420" cy="8412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50" dirty="0" b="1">
                <a:solidFill>
                  <a:srgbClr val="1B559B"/>
                </a:solidFill>
                <a:latin typeface="Arial"/>
                <a:cs typeface="Arial"/>
              </a:rPr>
              <a:t>RainViewer Radar</a:t>
            </a:r>
            <a:endParaRPr sz="1250"/>
          </a:p>
        </p:txBody>
      </p:sp>
      <p:sp>
        <p:nvSpPr>
          <p:cNvPr id="182" name="Rounded Rectangle 181"/>
          <p:cNvSpPr/>
          <p:nvPr/>
        </p:nvSpPr>
        <p:spPr>
          <a:xfrm>
            <a:off x="15476220" y="6135624"/>
            <a:ext cx="1760220" cy="841248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BFD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83" name="Picture 182" descr="image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15585948" y="6327648"/>
            <a:ext cx="457200" cy="457200"/>
          </a:xfrm>
          <a:prstGeom prst="rect">
            <a:avLst/>
          </a:prstGeom>
        </p:spPr>
      </p:pic>
      <p:sp>
        <p:nvSpPr>
          <p:cNvPr id="184" name="TextBox 183"/>
          <p:cNvSpPr txBox="1"/>
          <p:nvPr/>
        </p:nvSpPr>
        <p:spPr>
          <a:xfrm>
            <a:off x="16116300" y="6135624"/>
            <a:ext cx="1074420" cy="8412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50" dirty="0" b="1">
                <a:solidFill>
                  <a:srgbClr val="1B559B"/>
                </a:solidFill>
                <a:latin typeface="Arial"/>
                <a:cs typeface="Arial"/>
              </a:rPr>
              <a:t>Open-Meteo</a:t>
            </a:r>
            <a:endParaRPr sz="1250"/>
          </a:p>
        </p:txBody>
      </p:sp>
      <p:sp>
        <p:nvSpPr>
          <p:cNvPr id="185" name="Rounded Rectangle 184"/>
          <p:cNvSpPr/>
          <p:nvPr/>
        </p:nvSpPr>
        <p:spPr>
          <a:xfrm>
            <a:off x="13578840" y="7086600"/>
            <a:ext cx="1760220" cy="841248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BFD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86" name="Picture 185" descr="image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13688567" y="7278624"/>
            <a:ext cx="457200" cy="457200"/>
          </a:xfrm>
          <a:prstGeom prst="rect">
            <a:avLst/>
          </a:prstGeom>
        </p:spPr>
      </p:pic>
      <p:sp>
        <p:nvSpPr>
          <p:cNvPr id="187" name="TextBox 186"/>
          <p:cNvSpPr txBox="1"/>
          <p:nvPr/>
        </p:nvSpPr>
        <p:spPr>
          <a:xfrm>
            <a:off x="14218919" y="7086600"/>
            <a:ext cx="1074420" cy="8412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50" dirty="0" b="1">
                <a:solidFill>
                  <a:srgbClr val="1B559B"/>
                </a:solidFill>
                <a:latin typeface="Arial"/>
                <a:cs typeface="Arial"/>
              </a:rPr>
              <a:t>NASA GIBS</a:t>
            </a:r>
            <a:endParaRPr sz="1250"/>
          </a:p>
        </p:txBody>
      </p:sp>
      <p:sp>
        <p:nvSpPr>
          <p:cNvPr id="188" name="Rounded Rectangle 187"/>
          <p:cNvSpPr/>
          <p:nvPr/>
        </p:nvSpPr>
        <p:spPr>
          <a:xfrm>
            <a:off x="15476220" y="7086600"/>
            <a:ext cx="1760220" cy="841248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BFD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89" name="Picture 188" descr="image.png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15585948" y="7278624"/>
            <a:ext cx="457200" cy="457200"/>
          </a:xfrm>
          <a:prstGeom prst="rect">
            <a:avLst/>
          </a:prstGeom>
        </p:spPr>
      </p:pic>
      <p:sp>
        <p:nvSpPr>
          <p:cNvPr id="190" name="TextBox 189"/>
          <p:cNvSpPr txBox="1"/>
          <p:nvPr/>
        </p:nvSpPr>
        <p:spPr>
          <a:xfrm>
            <a:off x="16116300" y="7086600"/>
            <a:ext cx="1074420" cy="8412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50" dirty="0" b="1">
                <a:solidFill>
                  <a:srgbClr val="1B559B"/>
                </a:solidFill>
                <a:latin typeface="Arial"/>
                <a:cs typeface="Arial"/>
              </a:rPr>
              <a:t>RAG Engine</a:t>
            </a:r>
            <a:endParaRPr sz="1250"/>
          </a:p>
        </p:txBody>
      </p:sp>
      <p:sp>
        <p:nvSpPr>
          <p:cNvPr id="191" name="Rounded Rectangle 190"/>
          <p:cNvSpPr/>
          <p:nvPr/>
        </p:nvSpPr>
        <p:spPr>
          <a:xfrm>
            <a:off x="13578840" y="8037575"/>
            <a:ext cx="1760220" cy="841248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BFD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92" name="Picture 191" descr="image.png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13688567" y="8229600"/>
            <a:ext cx="457200" cy="457200"/>
          </a:xfrm>
          <a:prstGeom prst="rect">
            <a:avLst/>
          </a:prstGeom>
        </p:spPr>
      </p:pic>
      <p:sp>
        <p:nvSpPr>
          <p:cNvPr id="193" name="TextBox 192"/>
          <p:cNvSpPr txBox="1"/>
          <p:nvPr/>
        </p:nvSpPr>
        <p:spPr>
          <a:xfrm>
            <a:off x="14218919" y="8037575"/>
            <a:ext cx="1074420" cy="8412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50" dirty="0" b="1">
                <a:solidFill>
                  <a:srgbClr val="1B559B"/>
                </a:solidFill>
                <a:latin typeface="Arial"/>
                <a:cs typeface="Arial"/>
              </a:rPr>
              <a:t>ODIM_H5 / HDF5</a:t>
            </a:r>
            <a:endParaRPr sz="1250"/>
          </a:p>
        </p:txBody>
      </p:sp>
      <p:sp>
        <p:nvSpPr>
          <p:cNvPr id="194" name="Rounded Rectangle 193"/>
          <p:cNvSpPr/>
          <p:nvPr/>
        </p:nvSpPr>
        <p:spPr>
          <a:xfrm>
            <a:off x="15476220" y="8037575"/>
            <a:ext cx="1760220" cy="841248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BFD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95" name="Picture 194" descr="image.png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15585948" y="8229600"/>
            <a:ext cx="457200" cy="457200"/>
          </a:xfrm>
          <a:prstGeom prst="rect">
            <a:avLst/>
          </a:prstGeom>
        </p:spPr>
      </p:pic>
      <p:sp>
        <p:nvSpPr>
          <p:cNvPr id="196" name="TextBox 195"/>
          <p:cNvSpPr txBox="1"/>
          <p:nvPr/>
        </p:nvSpPr>
        <p:spPr>
          <a:xfrm>
            <a:off x="16116300" y="8037575"/>
            <a:ext cx="1074420" cy="8412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50" dirty="0" b="1">
                <a:solidFill>
                  <a:srgbClr val="1B559B"/>
                </a:solidFill>
                <a:latin typeface="Arial"/>
                <a:cs typeface="Arial"/>
              </a:rPr>
              <a:t>Docker / Cloud</a:t>
            </a:r>
            <a:endParaRPr sz="125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object 57"/>
          <p:cNvSpPr txBox="1">
            <a:spLocks noGrp="1"/>
          </p:cNvSpPr>
          <p:nvPr>
            <p:ph type="ftr" idx="5" sz="quarter"/>
          </p:nvPr>
        </p:nvSpPr>
        <p:spPr>
          <a:xfrm>
            <a:off x="5943600" y="9637776"/>
            <a:ext cx="6400800" cy="310896"/>
          </a:xfrm>
          <a:prstGeom prst="rect"/>
        </p:spPr>
        <p:txBody>
          <a:bodyPr wrap="square" lIns="0" tIns="26034" rIns="0" bIns="0" rtlCol="0" vert="horz">
            <a:spAutoFit/>
          </a:bodyPr>
          <a:lstStyle/>
          <a:p>
            <a:pPr marL="0" algn="ctr" indent="0">
              <a:lnSpc>
                <a:spcPct val="100000"/>
              </a:lnSpc>
              <a:spcBef>
                <a:spcPts val="204"/>
              </a:spcBef>
            </a:pPr>
            <a:r>
              <a:rPr dirty="0"/>
              <a:t>@SIH</a:t>
            </a:r>
            <a:r>
              <a:rPr dirty="0" spc="-15"/>
              <a:t> </a:t>
            </a:r>
            <a:r>
              <a:rPr dirty="0"/>
              <a:t>Idea</a:t>
            </a:r>
            <a:r>
              <a:rPr dirty="0" spc="-10"/>
              <a:t> </a:t>
            </a:r>
            <a:r>
              <a:rPr dirty="0"/>
              <a:t>submission-</a:t>
            </a:r>
            <a:r>
              <a:rPr dirty="0" spc="-10"/>
              <a:t> Template</a:t>
            </a:r>
          </a:p>
        </p:txBody>
      </p:sp>
      <p:sp>
        <p:nvSpPr>
          <p:cNvPr id="58" name="object 5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2085"/>
              </a:lnSpc>
            </a:pPr>
            <a:fld id="{81D60167-4931-47E6-BA6A-407CBD079E47}" type="slidenum">
              <a:rPr dirty="0" spc="-50"/>
              <a:t>4</a:t>
            </a:fld>
          </a:p>
        </p:txBody>
      </p:sp>
      <p:sp>
        <p:nvSpPr>
          <p:cNvPr id="59" name="Hexagon 58"/>
          <p:cNvSpPr/>
          <p:nvPr/>
        </p:nvSpPr>
        <p:spPr>
          <a:xfrm>
            <a:off x="822960" y="566928"/>
            <a:ext cx="329184" cy="292608"/>
          </a:xfrm>
          <a:prstGeom prst="hexagon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" name="TextBox 59"/>
          <p:cNvSpPr txBox="1"/>
          <p:nvPr/>
        </p:nvSpPr>
        <p:spPr>
          <a:xfrm>
            <a:off x="1280160" y="457200"/>
            <a:ext cx="237744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 dirty="0" b="1">
                <a:solidFill>
                  <a:srgbClr val="1B559B"/>
                </a:solidFill>
                <a:latin typeface="Arial"/>
                <a:cs typeface="Arial"/>
              </a:rPr>
              <a:t>Bumblebee</a:t>
            </a:r>
            <a:endParaRPr sz="2000"/>
          </a:p>
        </p:txBody>
      </p:sp>
      <p:sp>
        <p:nvSpPr>
          <p:cNvPr id="61" name="TextBox 60"/>
          <p:cNvSpPr txBox="1"/>
          <p:nvPr/>
        </p:nvSpPr>
        <p:spPr>
          <a:xfrm>
            <a:off x="3657600" y="274320"/>
            <a:ext cx="10972800" cy="9601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5400" dirty="0" b="1">
                <a:solidFill>
                  <a:srgbClr val="000000"/>
                </a:solidFill>
                <a:latin typeface="Times New Roman"/>
                <a:cs typeface="Times New Roman"/>
              </a:rPr>
              <a:t>FEASIBILITY AND VIABILITY</a:t>
            </a:r>
            <a:endParaRPr sz="5400"/>
          </a:p>
        </p:txBody>
      </p:sp>
      <p:pic>
        <p:nvPicPr>
          <p:cNvPr id="62" name="Picture 6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66976" y="0"/>
            <a:ext cx="3374136" cy="1591056"/>
          </a:xfrm>
          <a:prstGeom prst="rect">
            <a:avLst/>
          </a:prstGeom>
        </p:spPr>
      </p:pic>
      <p:sp>
        <p:nvSpPr>
          <p:cNvPr id="63" name="Rectangle 62"/>
          <p:cNvSpPr/>
          <p:nvPr/>
        </p:nvSpPr>
        <p:spPr>
          <a:xfrm>
            <a:off x="822960" y="1600200"/>
            <a:ext cx="7863840" cy="7680960"/>
          </a:xfrm>
          <a:prstGeom prst="rect">
            <a:avLst/>
          </a:prstGeom>
          <a:solidFill>
            <a:srgbClr val="FFFFFF"/>
          </a:solidFill>
          <a:ln w="254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3716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dirty="0" b="1">
                <a:solidFill>
                  <a:srgbClr val="0066CC"/>
                </a:solidFill>
                <a:latin typeface="Arial"/>
                <a:cs typeface="Arial"/>
              </a:rPr>
              <a:t>ANALYSIS OF FEASIBILITY</a:t>
            </a:r>
            <a:endParaRPr sz="1800"/>
          </a:p>
          <a:p>
            <a:pPr algn="l" marL="0" indent="0">
              <a:spcBef>
                <a:spcPts val="1800"/>
              </a:spcBef>
              <a:spcAft>
                <a:spcPts val="0"/>
              </a:spcAft>
              <a:buNone/>
            </a:pPr>
            <a:r>
              <a:rPr lang="en-IN" sz="1600" dirty="0" b="1">
                <a:solidFill>
                  <a:srgbClr val="1B559B"/>
                </a:solidFill>
                <a:latin typeface="Arial"/>
                <a:cs typeface="Arial"/>
              </a:rPr>
              <a:t>Economic</a:t>
            </a:r>
            <a:endParaRPr sz="1600"/>
          </a:p>
          <a:p>
            <a:pPr algn="l" marL="292608" indent="-292608">
              <a:spcBef>
                <a:spcPts val="1100"/>
              </a:spcBef>
              <a:spcAft>
                <a:spcPts val="0"/>
              </a:spcAft>
              <a:buClr>
                <a:srgbClr val="0066CC"/>
              </a:buClr>
              <a:buSzPct val="90000"/>
              <a:buFont typeface="Wingdings" pitchFamily="2" charset="2"/>
              <a:buChar char="v"/>
            </a:pPr>
            <a:r>
              <a:rPr lang="en-IN" sz="1600" dirty="0" b="1">
                <a:solidFill>
                  <a:srgbClr val="0F172A"/>
                </a:solidFill>
                <a:latin typeface="Arial"/>
                <a:cs typeface="Arial"/>
              </a:rPr>
              <a:t>Near-zero data cost:</a:t>
            </a:r>
            <a:r>
              <a:rPr lang="en-IN" sz="1600" dirty="0">
                <a:solidFill>
                  <a:srgbClr val="0F172A"/>
                </a:solidFill>
                <a:latin typeface="Arial"/>
                <a:cs typeface="Arial"/>
              </a:rPr>
              <a:t> free RainViewer, Open-Meteo &amp; NASA feeds today</a:t>
            </a:r>
            <a:endParaRPr sz="1600"/>
          </a:p>
          <a:p>
            <a:pPr algn="l" marL="292608" indent="-292608">
              <a:spcBef>
                <a:spcPts val="1100"/>
              </a:spcBef>
              <a:spcAft>
                <a:spcPts val="0"/>
              </a:spcAft>
              <a:buClr>
                <a:srgbClr val="0066CC"/>
              </a:buClr>
              <a:buSzPct val="90000"/>
              <a:buFont typeface="Wingdings" pitchFamily="2" charset="2"/>
              <a:buChar char="v"/>
            </a:pPr>
            <a:r>
              <a:rPr lang="en-IN" sz="1600" dirty="0" b="1">
                <a:solidFill>
                  <a:srgbClr val="0F172A"/>
                </a:solidFill>
                <a:latin typeface="Arial"/>
                <a:cs typeface="Arial"/>
              </a:rPr>
              <a:t>Funding:</a:t>
            </a:r>
            <a:r>
              <a:rPr lang="en-IN" sz="1600" dirty="0">
                <a:solidFill>
                  <a:srgbClr val="0F172A"/>
                </a:solidFill>
                <a:latin typeface="Arial"/>
                <a:cs typeface="Arial"/>
              </a:rPr>
              <a:t> MoES / IMD, NDMA &amp; state disaster-tech programmes</a:t>
            </a:r>
            <a:endParaRPr sz="1600"/>
          </a:p>
          <a:p>
            <a:pPr algn="l" marL="292608" indent="-292608">
              <a:spcBef>
                <a:spcPts val="1100"/>
              </a:spcBef>
              <a:spcAft>
                <a:spcPts val="0"/>
              </a:spcAft>
              <a:buClr>
                <a:srgbClr val="0066CC"/>
              </a:buClr>
              <a:buSzPct val="90000"/>
              <a:buFont typeface="Wingdings" pitchFamily="2" charset="2"/>
              <a:buChar char="v"/>
            </a:pPr>
            <a:r>
              <a:rPr lang="en-IN" sz="1600" dirty="0" b="1">
                <a:solidFill>
                  <a:srgbClr val="0F172A"/>
                </a:solidFill>
                <a:latin typeface="Arial"/>
                <a:cs typeface="Arial"/>
              </a:rPr>
              <a:t>Low infrastructure:</a:t>
            </a:r>
            <a:r>
              <a:rPr lang="en-IN" sz="1600" dirty="0">
                <a:solidFill>
                  <a:srgbClr val="0F172A"/>
                </a:solidFill>
                <a:latin typeface="Arial"/>
                <a:cs typeface="Arial"/>
              </a:rPr>
              <a:t> one CPU container — no GPU or supercomputer</a:t>
            </a:r>
            <a:endParaRPr sz="1600"/>
          </a:p>
          <a:p>
            <a:pPr algn="l" marL="292608" indent="-292608">
              <a:spcBef>
                <a:spcPts val="1100"/>
              </a:spcBef>
              <a:spcAft>
                <a:spcPts val="0"/>
              </a:spcAft>
              <a:buClr>
                <a:srgbClr val="0066CC"/>
              </a:buClr>
              <a:buSzPct val="90000"/>
              <a:buFont typeface="Wingdings" pitchFamily="2" charset="2"/>
              <a:buChar char="v"/>
            </a:pPr>
            <a:r>
              <a:rPr lang="en-IN" sz="1600" dirty="0" b="1">
                <a:solidFill>
                  <a:srgbClr val="0F172A"/>
                </a:solidFill>
                <a:latin typeface="Arial"/>
                <a:cs typeface="Arial"/>
              </a:rPr>
              <a:t>Avoided losses</a:t>
            </a:r>
            <a:r>
              <a:rPr lang="en-IN" sz="1600" dirty="0">
                <a:solidFill>
                  <a:srgbClr val="0F172A"/>
                </a:solidFill>
                <a:latin typeface="Arial"/>
                <a:cs typeface="Arial"/>
              </a:rPr>
              <a:t> → lives, crops, flights &amp; power lines protected</a:t>
            </a:r>
            <a:endParaRPr sz="1600"/>
          </a:p>
          <a:p>
            <a:pPr algn="l" marL="0" indent="0">
              <a:spcBef>
                <a:spcPts val="2600"/>
              </a:spcBef>
              <a:spcAft>
                <a:spcPts val="0"/>
              </a:spcAft>
              <a:buNone/>
            </a:pPr>
            <a:r>
              <a:rPr lang="en-IN" sz="1600" dirty="0" b="1">
                <a:solidFill>
                  <a:srgbClr val="1B559B"/>
                </a:solidFill>
                <a:latin typeface="Arial"/>
                <a:cs typeface="Arial"/>
              </a:rPr>
              <a:t>Technical</a:t>
            </a:r>
            <a:endParaRPr sz="1600"/>
          </a:p>
          <a:p>
            <a:pPr algn="l" marL="292608" indent="-292608">
              <a:spcBef>
                <a:spcPts val="1100"/>
              </a:spcBef>
              <a:spcAft>
                <a:spcPts val="0"/>
              </a:spcAft>
              <a:buClr>
                <a:srgbClr val="0066CC"/>
              </a:buClr>
              <a:buSzPct val="90000"/>
              <a:buFont typeface="Wingdings" pitchFamily="2" charset="2"/>
              <a:buChar char="v"/>
            </a:pPr>
            <a:r>
              <a:rPr lang="en-IN" sz="1600" dirty="0" b="1">
                <a:solidFill>
                  <a:srgbClr val="0F172A"/>
                </a:solidFill>
                <a:latin typeface="Arial"/>
                <a:cs typeface="Arial"/>
              </a:rPr>
              <a:t>Working prototype:</a:t>
            </a:r>
            <a:r>
              <a:rPr lang="en-IN" sz="1600" dirty="0">
                <a:solidFill>
                  <a:srgbClr val="0F172A"/>
                </a:solidFill>
                <a:latin typeface="Arial"/>
                <a:cs typeface="Arial"/>
              </a:rPr>
              <a:t> full pipeline runs end-to-end today</a:t>
            </a:r>
            <a:endParaRPr sz="1600"/>
          </a:p>
          <a:p>
            <a:pPr algn="l" marL="292608" indent="-292608">
              <a:spcBef>
                <a:spcPts val="1100"/>
              </a:spcBef>
              <a:spcAft>
                <a:spcPts val="0"/>
              </a:spcAft>
              <a:buClr>
                <a:srgbClr val="0066CC"/>
              </a:buClr>
              <a:buSzPct val="90000"/>
              <a:buFont typeface="Wingdings" pitchFamily="2" charset="2"/>
              <a:buChar char="v"/>
            </a:pPr>
            <a:r>
              <a:rPr lang="en-IN" sz="1600" dirty="0" b="1">
                <a:solidFill>
                  <a:srgbClr val="0F172A"/>
                </a:solidFill>
                <a:latin typeface="Arial"/>
                <a:cs typeface="Arial"/>
              </a:rPr>
              <a:t>~7 s per cycle</a:t>
            </a:r>
            <a:r>
              <a:rPr lang="en-IN" sz="1600" dirty="0">
                <a:solidFill>
                  <a:srgbClr val="0F172A"/>
                </a:solidFill>
                <a:latin typeface="Arial"/>
                <a:cs typeface="Arial"/>
              </a:rPr>
              <a:t> for 37 lead times on a laptop CPU</a:t>
            </a:r>
            <a:endParaRPr sz="1600"/>
          </a:p>
          <a:p>
            <a:pPr algn="l" marL="292608" indent="-292608">
              <a:spcBef>
                <a:spcPts val="1100"/>
              </a:spcBef>
              <a:spcAft>
                <a:spcPts val="0"/>
              </a:spcAft>
              <a:buClr>
                <a:srgbClr val="0066CC"/>
              </a:buClr>
              <a:buSzPct val="90000"/>
              <a:buFont typeface="Wingdings" pitchFamily="2" charset="2"/>
              <a:buChar char="v"/>
            </a:pPr>
            <a:r>
              <a:rPr lang="en-IN" sz="1600" dirty="0" b="1">
                <a:solidFill>
                  <a:srgbClr val="0F172A"/>
                </a:solidFill>
                <a:latin typeface="Arial"/>
                <a:cs typeface="Arial"/>
              </a:rPr>
              <a:t>Containerized</a:t>
            </a:r>
            <a:r>
              <a:rPr lang="en-IN" sz="1600" dirty="0">
                <a:solidFill>
                  <a:srgbClr val="0F172A"/>
                </a:solidFill>
                <a:latin typeface="Arial"/>
                <a:cs typeface="Arial"/>
              </a:rPr>
              <a:t> (Docker) → free cloud deploy (HF Spaces)</a:t>
            </a:r>
            <a:endParaRPr sz="1600"/>
          </a:p>
          <a:p>
            <a:pPr algn="l" marL="292608" indent="-292608">
              <a:spcBef>
                <a:spcPts val="1100"/>
              </a:spcBef>
              <a:spcAft>
                <a:spcPts val="0"/>
              </a:spcAft>
              <a:buClr>
                <a:srgbClr val="0066CC"/>
              </a:buClr>
              <a:buSzPct val="90000"/>
              <a:buFont typeface="Wingdings" pitchFamily="2" charset="2"/>
              <a:buChar char="v"/>
            </a:pPr>
            <a:r>
              <a:rPr lang="en-IN" sz="1600" dirty="0" b="1">
                <a:solidFill>
                  <a:srgbClr val="0F172A"/>
                </a:solidFill>
                <a:latin typeface="Arial"/>
                <a:cs typeface="Arial"/>
              </a:rPr>
              <a:t>IMD-ready:</a:t>
            </a:r>
            <a:r>
              <a:rPr lang="en-IN" sz="1600" dirty="0">
                <a:solidFill>
                  <a:srgbClr val="0F172A"/>
                </a:solidFill>
                <a:latin typeface="Arial"/>
                <a:cs typeface="Arial"/>
              </a:rPr>
              <a:t> ODIM_H5 radar, INSAT HDF5 &amp; lightning push API</a:t>
            </a:r>
            <a:endParaRPr sz="1600"/>
          </a:p>
          <a:p>
            <a:pPr algn="l" marL="0" indent="0">
              <a:spcBef>
                <a:spcPts val="2600"/>
              </a:spcBef>
              <a:spcAft>
                <a:spcPts val="0"/>
              </a:spcAft>
              <a:buNone/>
            </a:pPr>
            <a:r>
              <a:rPr lang="en-IN" sz="1600" dirty="0" b="1">
                <a:solidFill>
                  <a:srgbClr val="1B559B"/>
                </a:solidFill>
                <a:latin typeface="Arial"/>
                <a:cs typeface="Arial"/>
              </a:rPr>
              <a:t>Scalability</a:t>
            </a:r>
            <a:endParaRPr sz="1600"/>
          </a:p>
          <a:p>
            <a:pPr algn="l" marL="292608" indent="-292608">
              <a:spcBef>
                <a:spcPts val="1100"/>
              </a:spcBef>
              <a:spcAft>
                <a:spcPts val="0"/>
              </a:spcAft>
              <a:buClr>
                <a:srgbClr val="0066CC"/>
              </a:buClr>
              <a:buSzPct val="90000"/>
              <a:buFont typeface="Wingdings" pitchFamily="2" charset="2"/>
              <a:buChar char="v"/>
            </a:pPr>
            <a:r>
              <a:rPr lang="en-IN" sz="1600" dirty="0" b="1">
                <a:solidFill>
                  <a:srgbClr val="0F172A"/>
                </a:solidFill>
                <a:latin typeface="Arial"/>
                <a:cs typeface="Arial"/>
              </a:rPr>
              <a:t>Region presets</a:t>
            </a:r>
            <a:r>
              <a:rPr lang="en-IN" sz="1600" dirty="0">
                <a:solidFill>
                  <a:srgbClr val="0F172A"/>
                </a:solidFill>
                <a:latin typeface="Arial"/>
                <a:cs typeface="Arial"/>
              </a:rPr>
              <a:t> for East, NE, North, Central, West &amp; South India</a:t>
            </a:r>
            <a:endParaRPr sz="1600"/>
          </a:p>
          <a:p>
            <a:pPr algn="l" marL="292608" indent="-292608">
              <a:spcBef>
                <a:spcPts val="1100"/>
              </a:spcBef>
              <a:spcAft>
                <a:spcPts val="0"/>
              </a:spcAft>
              <a:buClr>
                <a:srgbClr val="0066CC"/>
              </a:buClr>
              <a:buSzPct val="90000"/>
              <a:buFont typeface="Wingdings" pitchFamily="2" charset="2"/>
              <a:buChar char="v"/>
            </a:pPr>
            <a:r>
              <a:rPr lang="en-IN" sz="1600" dirty="0" b="1">
                <a:solidFill>
                  <a:srgbClr val="0F172A"/>
                </a:solidFill>
                <a:latin typeface="Arial"/>
                <a:cs typeface="Arial"/>
              </a:rPr>
              <a:t>Modular pipeline</a:t>
            </a:r>
            <a:r>
              <a:rPr lang="en-IN" sz="1600" dirty="0">
                <a:solidFill>
                  <a:srgbClr val="0F172A"/>
                </a:solidFill>
                <a:latin typeface="Arial"/>
                <a:cs typeface="Arial"/>
              </a:rPr>
              <a:t> → add radars, satellites &amp; NWP blending</a:t>
            </a:r>
            <a:endParaRPr sz="1600"/>
          </a:p>
          <a:p>
            <a:pPr algn="l" marL="292608" indent="-292608">
              <a:spcBef>
                <a:spcPts val="1100"/>
              </a:spcBef>
              <a:spcAft>
                <a:spcPts val="0"/>
              </a:spcAft>
              <a:buClr>
                <a:srgbClr val="0066CC"/>
              </a:buClr>
              <a:buSzPct val="90000"/>
              <a:buFont typeface="Wingdings" pitchFamily="2" charset="2"/>
              <a:buChar char="v"/>
            </a:pPr>
            <a:r>
              <a:rPr lang="en-IN" sz="1600" dirty="0" b="1">
                <a:solidFill>
                  <a:srgbClr val="0F172A"/>
                </a:solidFill>
                <a:latin typeface="Arial"/>
                <a:cs typeface="Arial"/>
              </a:rPr>
              <a:t>Open standards:</a:t>
            </a:r>
            <a:r>
              <a:rPr lang="en-IN" sz="1600" dirty="0">
                <a:solidFill>
                  <a:srgbClr val="0F172A"/>
                </a:solidFill>
                <a:latin typeface="Arial"/>
                <a:cs typeface="Arial"/>
              </a:rPr>
              <a:t> ODIM, GeoJSON, REST &amp; WebSocket APIs</a:t>
            </a:r>
            <a:endParaRPr sz="1600"/>
          </a:p>
        </p:txBody>
      </p:sp>
      <p:graphicFrame>
        <p:nvGraphicFramePr>
          <p:cNvPr id="64" name="Table 63"/>
          <p:cNvGraphicFramePr>
            <a:graphicFrameLocks noGrp="1"/>
          </p:cNvGraphicFramePr>
          <p:nvPr/>
        </p:nvGraphicFramePr>
        <p:xfrm>
          <a:off x="8915400" y="1600200"/>
          <a:ext cx="8549640" cy="41148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3246120"/>
                <a:gridCol w="5303520"/>
              </a:tblGrid>
              <a:tr h="548640">
                <a:tc>
                  <a:txBody>
                    <a:bodyPr wrap="square" lIns="137160" tIns="36576" rIns="91440" bIns="36576" anchor="ctr">
                      <a:noAutofit/>
                    </a:bodyPr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500" dirty="0" b="1">
                          <a:solidFill>
                            <a:srgbClr val="1B559B"/>
                          </a:solidFill>
                          <a:latin typeface="Arial"/>
                          <a:cs typeface="Arial"/>
                        </a:rPr>
                        <a:t>Challenges &amp; Risks</a:t>
                      </a:r>
                      <a:endParaRPr sz="1500"/>
                    </a:p>
                  </a:txBody>
                  <a:tcPr marL="137160" marR="91440" marT="36576" marB="36576" anchor="ctr">
                    <a:solidFill>
                      <a:srgbClr val="DBEAFE"/>
                    </a:solidFill>
                  </a:tcPr>
                </a:tc>
                <a:tc>
                  <a:txBody>
                    <a:bodyPr wrap="square" lIns="137160" tIns="36576" rIns="91440" bIns="36576" anchor="ctr">
                      <a:noAutofit/>
                    </a:bodyPr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500" dirty="0" b="1">
                          <a:solidFill>
                            <a:srgbClr val="1B559B"/>
                          </a:solidFill>
                          <a:latin typeface="Arial"/>
                          <a:cs typeface="Arial"/>
                        </a:rPr>
                        <a:t>How We Overcome Them</a:t>
                      </a:r>
                      <a:endParaRPr sz="1500"/>
                    </a:p>
                  </a:txBody>
                  <a:tcPr marL="137160" marR="91440" marT="36576" marB="36576" anchor="ctr">
                    <a:solidFill>
                      <a:srgbClr val="DBEAFE"/>
                    </a:solidFill>
                  </a:tcPr>
                </a:tc>
              </a:tr>
              <a:tr h="713232">
                <a:tc>
                  <a:txBody>
                    <a:bodyPr wrap="square" lIns="658368" tIns="36576" rIns="91440" bIns="36576" anchor="ctr">
                      <a:noAutofit/>
                    </a:bodyPr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dirty="0" b="1">
                          <a:solidFill>
                            <a:srgbClr val="0F172A"/>
                          </a:solidFill>
                          <a:latin typeface="Arial"/>
                          <a:cs typeface="Arial"/>
                        </a:rPr>
                        <a:t>No INSAT / lightning feed yet</a:t>
                      </a:r>
                      <a:endParaRPr sz="1400"/>
                    </a:p>
                  </a:txBody>
                  <a:tcPr marL="658368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7160" tIns="36576" rIns="91440" bIns="36576" anchor="ctr">
                      <a:noAutofit/>
                    </a:bodyPr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dirty="0">
                          <a:solidFill>
                            <a:srgbClr val="0F172A"/>
                          </a:solidFill>
                          <a:latin typeface="Arial"/>
                          <a:cs typeface="Arial"/>
                        </a:rPr>
                        <a:t>Adapters built; MOSDAC &amp; IMD/IITM data access</a:t>
                      </a:r>
                      <a:endParaRPr sz="1400"/>
                    </a:p>
                  </a:txBody>
                  <a:tcPr marL="137160" marR="91440" marT="36576" marB="36576" anchor="ctr"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 wrap="square" lIns="658368" tIns="36576" rIns="91440" bIns="36576" anchor="ctr">
                      <a:noAutofit/>
                    </a:bodyPr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dirty="0" b="1">
                          <a:solidFill>
                            <a:srgbClr val="0F172A"/>
                          </a:solidFill>
                          <a:latin typeface="Arial"/>
                          <a:cs typeface="Arial"/>
                        </a:rPr>
                        <a:t>Radar gaps &amp; outages</a:t>
                      </a:r>
                      <a:endParaRPr sz="1400"/>
                    </a:p>
                  </a:txBody>
                  <a:tcPr marL="658368" marR="91440" marT="36576" marB="36576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lIns="137160" tIns="36576" rIns="91440" bIns="36576" anchor="ctr">
                      <a:noAutofit/>
                    </a:bodyPr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dirty="0">
                          <a:solidFill>
                            <a:srgbClr val="0F172A"/>
                          </a:solidFill>
                          <a:latin typeface="Arial"/>
                          <a:cs typeface="Arial"/>
                        </a:rPr>
                        <a:t>Satellite + lightning proxy with confidence score</a:t>
                      </a:r>
                      <a:endParaRPr sz="1400"/>
                    </a:p>
                  </a:txBody>
                  <a:tcPr marL="137160" marR="91440" marT="36576" marB="36576" anchor="ctr">
                    <a:solidFill>
                      <a:srgbClr val="F8FAFC"/>
                    </a:solidFill>
                  </a:tcPr>
                </a:tc>
              </a:tr>
              <a:tr h="713232">
                <a:tc>
                  <a:txBody>
                    <a:bodyPr wrap="square" lIns="658368" tIns="36576" rIns="91440" bIns="36576" anchor="ctr">
                      <a:noAutofit/>
                    </a:bodyPr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dirty="0" b="1">
                          <a:solidFill>
                            <a:srgbClr val="0F172A"/>
                          </a:solidFill>
                          <a:latin typeface="Arial"/>
                          <a:cs typeface="Arial"/>
                        </a:rPr>
                        <a:t>Skill drops after 2–3 h</a:t>
                      </a:r>
                      <a:endParaRPr sz="1400"/>
                    </a:p>
                  </a:txBody>
                  <a:tcPr marL="658368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7160" tIns="36576" rIns="91440" bIns="36576" anchor="ctr">
                      <a:noAutofit/>
                    </a:bodyPr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dirty="0">
                          <a:solidFill>
                            <a:srgbClr val="0F172A"/>
                          </a:solidFill>
                          <a:latin typeface="Arial"/>
                          <a:cs typeface="Arial"/>
                        </a:rPr>
                        <a:t>Widening probabilities; NWP blending on roadmap</a:t>
                      </a:r>
                      <a:endParaRPr sz="1400"/>
                    </a:p>
                  </a:txBody>
                  <a:tcPr marL="137160" marR="91440" marT="36576" marB="36576" anchor="ctr"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 wrap="square" lIns="658368" tIns="36576" rIns="91440" bIns="36576" anchor="ctr">
                      <a:noAutofit/>
                    </a:bodyPr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dirty="0" b="1">
                          <a:solidFill>
                            <a:srgbClr val="0F172A"/>
                          </a:solidFill>
                          <a:latin typeface="Arial"/>
                          <a:cs typeface="Arial"/>
                        </a:rPr>
                        <a:t>AI overload &amp; API keys</a:t>
                      </a:r>
                      <a:endParaRPr sz="1400"/>
                    </a:p>
                  </a:txBody>
                  <a:tcPr marL="658368" marR="91440" marT="36576" marB="36576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lIns="137160" tIns="36576" rIns="91440" bIns="36576" anchor="ctr">
                      <a:noAutofit/>
                    </a:bodyPr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dirty="0">
                          <a:solidFill>
                            <a:srgbClr val="0F172A"/>
                          </a:solidFill>
                          <a:latin typeface="Arial"/>
                          <a:cs typeface="Arial"/>
                        </a:rPr>
                        <a:t>Gemini fallback chain → demo mode; keys server-side</a:t>
                      </a:r>
                      <a:endParaRPr sz="1400"/>
                    </a:p>
                  </a:txBody>
                  <a:tcPr marL="137160" marR="91440" marT="36576" marB="36576" anchor="ctr">
                    <a:solidFill>
                      <a:srgbClr val="F8FAFC"/>
                    </a:solidFill>
                  </a:tcPr>
                </a:tc>
              </a:tr>
              <a:tr h="713232">
                <a:tc>
                  <a:txBody>
                    <a:bodyPr wrap="square" lIns="658368" tIns="36576" rIns="91440" bIns="36576" anchor="ctr">
                      <a:noAutofit/>
                    </a:bodyPr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dirty="0" b="1">
                          <a:solidFill>
                            <a:srgbClr val="0F172A"/>
                          </a:solidFill>
                          <a:latin typeface="Arial"/>
                          <a:cs typeface="Arial"/>
                        </a:rPr>
                        <a:t>False alarms &amp; trust</a:t>
                      </a:r>
                      <a:endParaRPr sz="1400"/>
                    </a:p>
                  </a:txBody>
                  <a:tcPr marL="658368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7160" tIns="36576" rIns="91440" bIns="36576" anchor="ctr">
                      <a:noAutofit/>
                    </a:bodyPr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dirty="0">
                          <a:solidFill>
                            <a:srgbClr val="0F172A"/>
                          </a:solidFill>
                          <a:latin typeface="Arial"/>
                          <a:cs typeface="Arial"/>
                        </a:rPr>
                        <a:t>Live verification; IMD warnings take precedence</a:t>
                      </a:r>
                      <a:endParaRPr sz="1400"/>
                    </a:p>
                  </a:txBody>
                  <a:tcPr marL="137160" marR="91440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65" name="Picture 6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52560" y="2322576"/>
            <a:ext cx="365760" cy="365760"/>
          </a:xfrm>
          <a:prstGeom prst="rect">
            <a:avLst/>
          </a:prstGeom>
        </p:spPr>
      </p:pic>
      <p:pic>
        <p:nvPicPr>
          <p:cNvPr id="66" name="Picture 6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52560" y="3035808"/>
            <a:ext cx="365760" cy="365760"/>
          </a:xfrm>
          <a:prstGeom prst="rect">
            <a:avLst/>
          </a:prstGeom>
        </p:spPr>
      </p:pic>
      <p:pic>
        <p:nvPicPr>
          <p:cNvPr id="67" name="Picture 6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52560" y="3749040"/>
            <a:ext cx="365760" cy="365760"/>
          </a:xfrm>
          <a:prstGeom prst="rect">
            <a:avLst/>
          </a:prstGeom>
        </p:spPr>
      </p:pic>
      <p:pic>
        <p:nvPicPr>
          <p:cNvPr id="68" name="Picture 67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52560" y="4462272"/>
            <a:ext cx="365760" cy="365760"/>
          </a:xfrm>
          <a:prstGeom prst="rect">
            <a:avLst/>
          </a:prstGeom>
        </p:spPr>
      </p:pic>
      <p:pic>
        <p:nvPicPr>
          <p:cNvPr id="69" name="Picture 6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52560" y="5175504"/>
            <a:ext cx="365760" cy="365760"/>
          </a:xfrm>
          <a:prstGeom prst="rect">
            <a:avLst/>
          </a:prstGeom>
        </p:spPr>
      </p:pic>
      <p:sp>
        <p:nvSpPr>
          <p:cNvPr id="70" name="Rectangle 69"/>
          <p:cNvSpPr/>
          <p:nvPr/>
        </p:nvSpPr>
        <p:spPr>
          <a:xfrm>
            <a:off x="8915400" y="1600200"/>
            <a:ext cx="8549640" cy="4114800"/>
          </a:xfrm>
          <a:prstGeom prst="rect">
            <a:avLst/>
          </a:prstGeom>
          <a:noFill/>
          <a:ln w="254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1" name="Rectangle 70"/>
          <p:cNvSpPr/>
          <p:nvPr/>
        </p:nvSpPr>
        <p:spPr>
          <a:xfrm>
            <a:off x="8915400" y="5989320"/>
            <a:ext cx="8549640" cy="3291840"/>
          </a:xfrm>
          <a:prstGeom prst="rect">
            <a:avLst/>
          </a:prstGeom>
          <a:solidFill>
            <a:srgbClr val="FFFFFF"/>
          </a:solidFill>
          <a:ln w="254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228600" tIns="137160" rIns="228600" bIns="9144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dirty="0" b="1">
                <a:solidFill>
                  <a:srgbClr val="0066CC"/>
                </a:solidFill>
                <a:latin typeface="Arial"/>
                <a:cs typeface="Arial"/>
              </a:rPr>
              <a:t>KEY METRICS</a:t>
            </a:r>
            <a:endParaRPr sz="1800"/>
          </a:p>
        </p:txBody>
      </p:sp>
      <p:sp>
        <p:nvSpPr>
          <p:cNvPr id="72" name="Rounded Rectangle 71"/>
          <p:cNvSpPr/>
          <p:nvPr/>
        </p:nvSpPr>
        <p:spPr>
          <a:xfrm>
            <a:off x="9144000" y="6629400"/>
            <a:ext cx="1885950" cy="2468880"/>
          </a:xfrm>
          <a:prstGeom prst="roundRect">
            <a:avLst>
              <a:gd name="adj" fmla="val 10000"/>
            </a:avLst>
          </a:prstGeom>
          <a:solidFill>
            <a:srgbClr val="EA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45720" tIns="45720" rIns="45720" bIns="4572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600" dirty="0" b="1">
                <a:solidFill>
                  <a:srgbClr val="0066CC"/>
                </a:solidFill>
                <a:latin typeface="Arial"/>
                <a:cs typeface="Arial"/>
              </a:rPr>
              <a:t>2 km</a:t>
            </a:r>
            <a:endParaRPr sz="3600"/>
          </a:p>
          <a:p>
            <a:pPr algn="ctr" marL="0" indent="0">
              <a:spcBef>
                <a:spcPts val="400"/>
              </a:spcBef>
              <a:spcAft>
                <a:spcPts val="0"/>
              </a:spcAft>
              <a:buNone/>
            </a:pPr>
            <a:r>
              <a:rPr lang="en-IN" sz="1250" dirty="0">
                <a:solidFill>
                  <a:srgbClr val="0F172A"/>
                </a:solidFill>
                <a:latin typeface="Arial"/>
                <a:cs typeface="Arial"/>
              </a:rPr>
              <a:t>grid resolution</a:t>
            </a:r>
            <a:endParaRPr sz="1250"/>
          </a:p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50" dirty="0">
                <a:solidFill>
                  <a:srgbClr val="0F172A"/>
                </a:solidFill>
                <a:latin typeface="Arial"/>
                <a:cs typeface="Arial"/>
              </a:rPr>
              <a:t>(0.02° lat-lon)</a:t>
            </a:r>
            <a:endParaRPr sz="1250"/>
          </a:p>
        </p:txBody>
      </p:sp>
      <p:sp>
        <p:nvSpPr>
          <p:cNvPr id="73" name="Rounded Rectangle 72"/>
          <p:cNvSpPr/>
          <p:nvPr/>
        </p:nvSpPr>
        <p:spPr>
          <a:xfrm>
            <a:off x="11212830" y="6629400"/>
            <a:ext cx="1885950" cy="2468880"/>
          </a:xfrm>
          <a:prstGeom prst="roundRect">
            <a:avLst>
              <a:gd name="adj" fmla="val 10000"/>
            </a:avLst>
          </a:prstGeom>
          <a:solidFill>
            <a:srgbClr val="EA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45720" tIns="45720" rIns="45720" bIns="4572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600" dirty="0" b="1">
                <a:solidFill>
                  <a:srgbClr val="0066CC"/>
                </a:solidFill>
                <a:latin typeface="Arial"/>
                <a:cs typeface="Arial"/>
              </a:rPr>
              <a:t>0–6 h</a:t>
            </a:r>
            <a:endParaRPr sz="3600"/>
          </a:p>
          <a:p>
            <a:pPr algn="ctr" marL="0" indent="0">
              <a:spcBef>
                <a:spcPts val="400"/>
              </a:spcBef>
              <a:spcAft>
                <a:spcPts val="0"/>
              </a:spcAft>
              <a:buNone/>
            </a:pPr>
            <a:r>
              <a:rPr lang="en-IN" sz="1250" dirty="0">
                <a:solidFill>
                  <a:srgbClr val="0F172A"/>
                </a:solidFill>
                <a:latin typeface="Arial"/>
                <a:cs typeface="Arial"/>
              </a:rPr>
              <a:t>lead time in</a:t>
            </a:r>
            <a:endParaRPr sz="1250"/>
          </a:p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50" dirty="0">
                <a:solidFill>
                  <a:srgbClr val="0F172A"/>
                </a:solidFill>
                <a:latin typeface="Arial"/>
                <a:cs typeface="Arial"/>
              </a:rPr>
              <a:t>10-min steps</a:t>
            </a:r>
            <a:endParaRPr sz="1250"/>
          </a:p>
        </p:txBody>
      </p:sp>
      <p:sp>
        <p:nvSpPr>
          <p:cNvPr id="74" name="Rounded Rectangle 73"/>
          <p:cNvSpPr/>
          <p:nvPr/>
        </p:nvSpPr>
        <p:spPr>
          <a:xfrm>
            <a:off x="13281660" y="6629400"/>
            <a:ext cx="1885950" cy="2468880"/>
          </a:xfrm>
          <a:prstGeom prst="roundRect">
            <a:avLst>
              <a:gd name="adj" fmla="val 10000"/>
            </a:avLst>
          </a:prstGeom>
          <a:solidFill>
            <a:srgbClr val="EA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45720" tIns="45720" rIns="45720" bIns="4572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600" dirty="0" b="1">
                <a:solidFill>
                  <a:srgbClr val="0066CC"/>
                </a:solidFill>
                <a:latin typeface="Arial"/>
                <a:cs typeface="Arial"/>
              </a:rPr>
              <a:t>~7 s</a:t>
            </a:r>
            <a:endParaRPr sz="3600"/>
          </a:p>
          <a:p>
            <a:pPr algn="ctr" marL="0" indent="0">
              <a:spcBef>
                <a:spcPts val="400"/>
              </a:spcBef>
              <a:spcAft>
                <a:spcPts val="0"/>
              </a:spcAft>
              <a:buNone/>
            </a:pPr>
            <a:r>
              <a:rPr lang="en-IN" sz="1250" dirty="0">
                <a:solidFill>
                  <a:srgbClr val="0F172A"/>
                </a:solidFill>
                <a:latin typeface="Arial"/>
                <a:cs typeface="Arial"/>
              </a:rPr>
              <a:t>full nowcast cycle</a:t>
            </a:r>
            <a:endParaRPr sz="1250"/>
          </a:p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50" dirty="0">
                <a:solidFill>
                  <a:srgbClr val="0F172A"/>
                </a:solidFill>
                <a:latin typeface="Arial"/>
                <a:cs typeface="Arial"/>
              </a:rPr>
              <a:t>on a laptop CPU</a:t>
            </a:r>
            <a:endParaRPr sz="1250"/>
          </a:p>
        </p:txBody>
      </p:sp>
      <p:sp>
        <p:nvSpPr>
          <p:cNvPr id="75" name="Rounded Rectangle 74"/>
          <p:cNvSpPr/>
          <p:nvPr/>
        </p:nvSpPr>
        <p:spPr>
          <a:xfrm>
            <a:off x="15350490" y="6629400"/>
            <a:ext cx="1885950" cy="2468880"/>
          </a:xfrm>
          <a:prstGeom prst="roundRect">
            <a:avLst>
              <a:gd name="adj" fmla="val 10000"/>
            </a:avLst>
          </a:prstGeom>
          <a:solidFill>
            <a:srgbClr val="EA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45720" tIns="45720" rIns="45720" bIns="4572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600" dirty="0" b="1">
                <a:solidFill>
                  <a:srgbClr val="0066CC"/>
                </a:solidFill>
                <a:latin typeface="Arial"/>
                <a:cs typeface="Arial"/>
              </a:rPr>
              <a:t>80+</a:t>
            </a:r>
            <a:endParaRPr sz="3600"/>
          </a:p>
          <a:p>
            <a:pPr algn="ctr" marL="0" indent="0">
              <a:spcBef>
                <a:spcPts val="400"/>
              </a:spcBef>
              <a:spcAft>
                <a:spcPts val="0"/>
              </a:spcAft>
              <a:buNone/>
            </a:pPr>
            <a:r>
              <a:rPr lang="en-IN" sz="1250" dirty="0">
                <a:solidFill>
                  <a:srgbClr val="0F172A"/>
                </a:solidFill>
                <a:latin typeface="Arial"/>
                <a:cs typeface="Arial"/>
              </a:rPr>
              <a:t>cities, airports</a:t>
            </a:r>
            <a:endParaRPr sz="1250"/>
          </a:p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50" dirty="0">
                <a:solidFill>
                  <a:srgbClr val="0F172A"/>
                </a:solidFill>
                <a:latin typeface="Arial"/>
                <a:cs typeface="Arial"/>
              </a:rPr>
              <a:t>&amp; farms monitored</a:t>
            </a:r>
            <a:endParaRPr sz="125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object 61"/>
          <p:cNvSpPr txBox="1">
            <a:spLocks noGrp="1"/>
          </p:cNvSpPr>
          <p:nvPr>
            <p:ph type="ftr" idx="5" sz="quarter"/>
          </p:nvPr>
        </p:nvSpPr>
        <p:spPr>
          <a:xfrm>
            <a:off x="5943600" y="9637776"/>
            <a:ext cx="6400800" cy="310896"/>
          </a:xfrm>
          <a:prstGeom prst="rect"/>
        </p:spPr>
        <p:txBody>
          <a:bodyPr wrap="square" lIns="0" tIns="26034" rIns="0" bIns="0" rtlCol="0" vert="horz">
            <a:spAutoFit/>
          </a:bodyPr>
          <a:lstStyle/>
          <a:p>
            <a:pPr marL="0" algn="ctr" indent="0">
              <a:lnSpc>
                <a:spcPct val="100000"/>
              </a:lnSpc>
              <a:spcBef>
                <a:spcPts val="204"/>
              </a:spcBef>
            </a:pPr>
            <a:r>
              <a:rPr dirty="0"/>
              <a:t>@SIH</a:t>
            </a:r>
            <a:r>
              <a:rPr dirty="0" spc="-15"/>
              <a:t> </a:t>
            </a:r>
            <a:r>
              <a:rPr dirty="0"/>
              <a:t>Idea</a:t>
            </a:r>
            <a:r>
              <a:rPr dirty="0" spc="-10"/>
              <a:t> </a:t>
            </a:r>
            <a:r>
              <a:rPr dirty="0"/>
              <a:t>submission-</a:t>
            </a:r>
            <a:r>
              <a:rPr dirty="0" spc="-10"/>
              <a:t> Template</a:t>
            </a:r>
          </a:p>
        </p:txBody>
      </p:sp>
      <p:sp>
        <p:nvSpPr>
          <p:cNvPr id="62" name="object 6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2085"/>
              </a:lnSpc>
            </a:pPr>
            <a:fld id="{81D60167-4931-47E6-BA6A-407CBD079E47}" type="slidenum">
              <a:rPr dirty="0" spc="-50"/>
              <a:t>4</a:t>
            </a:fld>
          </a:p>
        </p:txBody>
      </p:sp>
      <p:sp>
        <p:nvSpPr>
          <p:cNvPr id="63" name="Hexagon 62"/>
          <p:cNvSpPr/>
          <p:nvPr/>
        </p:nvSpPr>
        <p:spPr>
          <a:xfrm>
            <a:off x="822960" y="566928"/>
            <a:ext cx="329184" cy="292608"/>
          </a:xfrm>
          <a:prstGeom prst="hexagon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4" name="TextBox 63"/>
          <p:cNvSpPr txBox="1"/>
          <p:nvPr/>
        </p:nvSpPr>
        <p:spPr>
          <a:xfrm>
            <a:off x="1280160" y="457200"/>
            <a:ext cx="237744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 dirty="0" b="1">
                <a:solidFill>
                  <a:srgbClr val="1B559B"/>
                </a:solidFill>
                <a:latin typeface="Arial"/>
                <a:cs typeface="Arial"/>
              </a:rPr>
              <a:t>Bumblebee</a:t>
            </a:r>
            <a:endParaRPr sz="2000"/>
          </a:p>
        </p:txBody>
      </p:sp>
      <p:sp>
        <p:nvSpPr>
          <p:cNvPr id="65" name="TextBox 64"/>
          <p:cNvSpPr txBox="1"/>
          <p:nvPr/>
        </p:nvSpPr>
        <p:spPr>
          <a:xfrm>
            <a:off x="3657600" y="274320"/>
            <a:ext cx="10972800" cy="9601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5400" dirty="0" b="1">
                <a:solidFill>
                  <a:srgbClr val="000000"/>
                </a:solidFill>
                <a:latin typeface="Times New Roman"/>
                <a:cs typeface="Times New Roman"/>
              </a:rPr>
              <a:t>IMPACT AND BENEFITS</a:t>
            </a:r>
            <a:endParaRPr sz="5400"/>
          </a:p>
        </p:txBody>
      </p:sp>
      <p:pic>
        <p:nvPicPr>
          <p:cNvPr id="66" name="Picture 6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66976" y="0"/>
            <a:ext cx="3374136" cy="1591056"/>
          </a:xfrm>
          <a:prstGeom prst="rect">
            <a:avLst/>
          </a:prstGeom>
        </p:spPr>
      </p:pic>
      <p:sp>
        <p:nvSpPr>
          <p:cNvPr id="67" name="Rounded Rectangle 66"/>
          <p:cNvSpPr/>
          <p:nvPr/>
        </p:nvSpPr>
        <p:spPr>
          <a:xfrm>
            <a:off x="822960" y="1600200"/>
            <a:ext cx="3145536" cy="1874519"/>
          </a:xfrm>
          <a:prstGeom prst="roundRect">
            <a:avLst>
              <a:gd name="adj" fmla="val 10000"/>
            </a:avLst>
          </a:prstGeom>
          <a:solidFill>
            <a:srgbClr val="FFEDD5"/>
          </a:solidFill>
          <a:ln w="15875">
            <a:solidFill>
              <a:srgbClr val="FB92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8" name="Picture 6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21408" y="1783080"/>
            <a:ext cx="548640" cy="548640"/>
          </a:xfrm>
          <a:prstGeom prst="rect">
            <a:avLst/>
          </a:prstGeom>
        </p:spPr>
      </p:pic>
      <p:sp>
        <p:nvSpPr>
          <p:cNvPr id="69" name="TextBox 68"/>
          <p:cNvSpPr txBox="1"/>
          <p:nvPr/>
        </p:nvSpPr>
        <p:spPr>
          <a:xfrm>
            <a:off x="914400" y="2404872"/>
            <a:ext cx="2962656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700" dirty="0" b="1">
                <a:solidFill>
                  <a:srgbClr val="C2410C"/>
                </a:solidFill>
                <a:latin typeface="Arial"/>
                <a:cs typeface="Arial"/>
              </a:rPr>
              <a:t>Social</a:t>
            </a:r>
            <a:endParaRPr sz="1700"/>
          </a:p>
        </p:txBody>
      </p:sp>
      <p:sp>
        <p:nvSpPr>
          <p:cNvPr id="70" name="TextBox 69"/>
          <p:cNvSpPr txBox="1"/>
          <p:nvPr/>
        </p:nvSpPr>
        <p:spPr>
          <a:xfrm>
            <a:off x="960120" y="2788920"/>
            <a:ext cx="2871216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350" dirty="0">
                <a:solidFill>
                  <a:srgbClr val="0F172A"/>
                </a:solidFill>
                <a:latin typeface="Arial"/>
                <a:cs typeface="Arial"/>
              </a:rPr>
              <a:t>Alerts in English &amp; हिन्दी for all</a:t>
            </a:r>
            <a:endParaRPr sz="1350"/>
          </a:p>
        </p:txBody>
      </p:sp>
      <p:sp>
        <p:nvSpPr>
          <p:cNvPr id="71" name="Rounded Rectangle 70"/>
          <p:cNvSpPr/>
          <p:nvPr/>
        </p:nvSpPr>
        <p:spPr>
          <a:xfrm>
            <a:off x="4197096" y="1600200"/>
            <a:ext cx="3145536" cy="1874519"/>
          </a:xfrm>
          <a:prstGeom prst="roundRect">
            <a:avLst>
              <a:gd name="adj" fmla="val 10000"/>
            </a:avLst>
          </a:prstGeom>
          <a:solidFill>
            <a:srgbClr val="DBEAFE"/>
          </a:solidFill>
          <a:ln w="15875"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2" name="Picture 7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95544" y="1783080"/>
            <a:ext cx="548640" cy="548640"/>
          </a:xfrm>
          <a:prstGeom prst="rect">
            <a:avLst/>
          </a:prstGeom>
        </p:spPr>
      </p:pic>
      <p:sp>
        <p:nvSpPr>
          <p:cNvPr id="73" name="TextBox 72"/>
          <p:cNvSpPr txBox="1"/>
          <p:nvPr/>
        </p:nvSpPr>
        <p:spPr>
          <a:xfrm>
            <a:off x="4288536" y="2404872"/>
            <a:ext cx="2962656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700" dirty="0" b="1">
                <a:solidFill>
                  <a:srgbClr val="1D4ED8"/>
                </a:solidFill>
                <a:latin typeface="Arial"/>
                <a:cs typeface="Arial"/>
              </a:rPr>
              <a:t>Safety</a:t>
            </a:r>
            <a:endParaRPr sz="1700"/>
          </a:p>
        </p:txBody>
      </p:sp>
      <p:sp>
        <p:nvSpPr>
          <p:cNvPr id="74" name="TextBox 73"/>
          <p:cNvSpPr txBox="1"/>
          <p:nvPr/>
        </p:nvSpPr>
        <p:spPr>
          <a:xfrm>
            <a:off x="4334256" y="2788920"/>
            <a:ext cx="2871216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350" dirty="0">
                <a:solidFill>
                  <a:srgbClr val="0F172A"/>
                </a:solidFill>
                <a:latin typeface="Arial"/>
                <a:cs typeface="Arial"/>
              </a:rPr>
              <a:t>Early shelter from lightning &amp; squalls</a:t>
            </a:r>
            <a:endParaRPr sz="1350"/>
          </a:p>
        </p:txBody>
      </p:sp>
      <p:sp>
        <p:nvSpPr>
          <p:cNvPr id="75" name="Rounded Rectangle 74"/>
          <p:cNvSpPr/>
          <p:nvPr/>
        </p:nvSpPr>
        <p:spPr>
          <a:xfrm>
            <a:off x="7571232" y="1600200"/>
            <a:ext cx="3145536" cy="1874519"/>
          </a:xfrm>
          <a:prstGeom prst="roundRect">
            <a:avLst>
              <a:gd name="adj" fmla="val 10000"/>
            </a:avLst>
          </a:prstGeom>
          <a:solidFill>
            <a:srgbClr val="DCFCE7"/>
          </a:solidFill>
          <a:ln w="15875"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6" name="Picture 7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69680" y="1783080"/>
            <a:ext cx="548640" cy="548640"/>
          </a:xfrm>
          <a:prstGeom prst="rect">
            <a:avLst/>
          </a:prstGeom>
        </p:spPr>
      </p:pic>
      <p:sp>
        <p:nvSpPr>
          <p:cNvPr id="77" name="TextBox 76"/>
          <p:cNvSpPr txBox="1"/>
          <p:nvPr/>
        </p:nvSpPr>
        <p:spPr>
          <a:xfrm>
            <a:off x="7662672" y="2404872"/>
            <a:ext cx="2962656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700" dirty="0" b="1">
                <a:solidFill>
                  <a:srgbClr val="15803D"/>
                </a:solidFill>
                <a:latin typeface="Arial"/>
                <a:cs typeface="Arial"/>
              </a:rPr>
              <a:t>Environmental</a:t>
            </a:r>
            <a:endParaRPr sz="1700"/>
          </a:p>
        </p:txBody>
      </p:sp>
      <p:sp>
        <p:nvSpPr>
          <p:cNvPr id="78" name="TextBox 77"/>
          <p:cNvSpPr txBox="1"/>
          <p:nvPr/>
        </p:nvSpPr>
        <p:spPr>
          <a:xfrm>
            <a:off x="7708392" y="2788920"/>
            <a:ext cx="2871216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350" dirty="0">
                <a:solidFill>
                  <a:srgbClr val="0F172A"/>
                </a:solidFill>
                <a:latin typeface="Arial"/>
                <a:cs typeface="Arial"/>
              </a:rPr>
              <a:t>Climate-resilient cloudburst alerts</a:t>
            </a:r>
            <a:endParaRPr sz="1350"/>
          </a:p>
        </p:txBody>
      </p:sp>
      <p:sp>
        <p:nvSpPr>
          <p:cNvPr id="79" name="Rounded Rectangle 78"/>
          <p:cNvSpPr/>
          <p:nvPr/>
        </p:nvSpPr>
        <p:spPr>
          <a:xfrm>
            <a:off x="10945368" y="1600200"/>
            <a:ext cx="3145536" cy="1874519"/>
          </a:xfrm>
          <a:prstGeom prst="roundRect">
            <a:avLst>
              <a:gd name="adj" fmla="val 10000"/>
            </a:avLst>
          </a:prstGeom>
          <a:solidFill>
            <a:srgbClr val="FFE4E6"/>
          </a:solidFill>
          <a:ln w="15875">
            <a:solidFill>
              <a:srgbClr val="FB71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0" name="Picture 7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243816" y="1783080"/>
            <a:ext cx="548640" cy="548640"/>
          </a:xfrm>
          <a:prstGeom prst="rect">
            <a:avLst/>
          </a:prstGeom>
        </p:spPr>
      </p:pic>
      <p:sp>
        <p:nvSpPr>
          <p:cNvPr id="81" name="TextBox 80"/>
          <p:cNvSpPr txBox="1"/>
          <p:nvPr/>
        </p:nvSpPr>
        <p:spPr>
          <a:xfrm>
            <a:off x="11036808" y="2404872"/>
            <a:ext cx="2962656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700" dirty="0" b="1">
                <a:solidFill>
                  <a:srgbClr val="BE123C"/>
                </a:solidFill>
                <a:latin typeface="Arial"/>
                <a:cs typeface="Arial"/>
              </a:rPr>
              <a:t>Economical</a:t>
            </a:r>
            <a:endParaRPr sz="1700"/>
          </a:p>
        </p:txBody>
      </p:sp>
      <p:sp>
        <p:nvSpPr>
          <p:cNvPr id="82" name="TextBox 81"/>
          <p:cNvSpPr txBox="1"/>
          <p:nvPr/>
        </p:nvSpPr>
        <p:spPr>
          <a:xfrm>
            <a:off x="11082528" y="2788920"/>
            <a:ext cx="2871216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350" dirty="0">
                <a:solidFill>
                  <a:srgbClr val="0F172A"/>
                </a:solidFill>
                <a:latin typeface="Arial"/>
                <a:cs typeface="Arial"/>
              </a:rPr>
              <a:t>Protects crops, flights &amp; power</a:t>
            </a:r>
            <a:endParaRPr sz="1350"/>
          </a:p>
        </p:txBody>
      </p:sp>
      <p:sp>
        <p:nvSpPr>
          <p:cNvPr id="83" name="Rounded Rectangle 82"/>
          <p:cNvSpPr/>
          <p:nvPr/>
        </p:nvSpPr>
        <p:spPr>
          <a:xfrm>
            <a:off x="14319504" y="1600200"/>
            <a:ext cx="3145536" cy="1874519"/>
          </a:xfrm>
          <a:prstGeom prst="roundRect">
            <a:avLst>
              <a:gd name="adj" fmla="val 10000"/>
            </a:avLst>
          </a:prstGeom>
          <a:solidFill>
            <a:srgbClr val="E2E8F0"/>
          </a:solidFill>
          <a:ln w="15875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4" name="Picture 8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617952" y="1783080"/>
            <a:ext cx="548640" cy="548640"/>
          </a:xfrm>
          <a:prstGeom prst="rect">
            <a:avLst/>
          </a:prstGeom>
        </p:spPr>
      </p:pic>
      <p:sp>
        <p:nvSpPr>
          <p:cNvPr id="85" name="TextBox 84"/>
          <p:cNvSpPr txBox="1"/>
          <p:nvPr/>
        </p:nvSpPr>
        <p:spPr>
          <a:xfrm>
            <a:off x="14410944" y="2404872"/>
            <a:ext cx="2962656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700" dirty="0" b="1">
                <a:solidFill>
                  <a:srgbClr val="334155"/>
                </a:solidFill>
                <a:latin typeface="Arial"/>
                <a:cs typeface="Arial"/>
              </a:rPr>
              <a:t>Technological</a:t>
            </a:r>
            <a:endParaRPr sz="1700"/>
          </a:p>
        </p:txBody>
      </p:sp>
      <p:sp>
        <p:nvSpPr>
          <p:cNvPr id="86" name="TextBox 85"/>
          <p:cNvSpPr txBox="1"/>
          <p:nvPr/>
        </p:nvSpPr>
        <p:spPr>
          <a:xfrm>
            <a:off x="14456664" y="2788920"/>
            <a:ext cx="2871216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350" dirty="0">
                <a:solidFill>
                  <a:srgbClr val="0F172A"/>
                </a:solidFill>
                <a:latin typeface="Arial"/>
                <a:cs typeface="Arial"/>
              </a:rPr>
              <a:t>AI data fusion + live GIS nowcasts</a:t>
            </a:r>
            <a:endParaRPr sz="1350"/>
          </a:p>
        </p:txBody>
      </p:sp>
      <p:sp>
        <p:nvSpPr>
          <p:cNvPr id="87" name="Rectangle 86"/>
          <p:cNvSpPr/>
          <p:nvPr/>
        </p:nvSpPr>
        <p:spPr>
          <a:xfrm>
            <a:off x="822960" y="3749039"/>
            <a:ext cx="8206740" cy="5532120"/>
          </a:xfrm>
          <a:prstGeom prst="rect">
            <a:avLst/>
          </a:prstGeom>
          <a:solidFill>
            <a:srgbClr val="FFFFFF"/>
          </a:solidFill>
          <a:ln w="254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3716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dirty="0" b="1">
                <a:solidFill>
                  <a:srgbClr val="0066CC"/>
                </a:solidFill>
                <a:latin typeface="Arial"/>
                <a:cs typeface="Arial"/>
              </a:rPr>
              <a:t>WHO BENEFITS</a:t>
            </a:r>
            <a:endParaRPr sz="1800"/>
          </a:p>
          <a:p>
            <a:pPr algn="l" marL="0" indent="0">
              <a:spcBef>
                <a:spcPts val="1800"/>
              </a:spcBef>
              <a:spcAft>
                <a:spcPts val="0"/>
              </a:spcAft>
              <a:buNone/>
            </a:pPr>
            <a:r>
              <a:rPr lang="en-IN" sz="1600" dirty="0" b="1">
                <a:solidFill>
                  <a:srgbClr val="1B559B"/>
                </a:solidFill>
                <a:latin typeface="Arial"/>
                <a:cs typeface="Arial"/>
              </a:rPr>
              <a:t>District &amp; State Disaster Authorities</a:t>
            </a:r>
            <a:endParaRPr sz="1600"/>
          </a:p>
          <a:p>
            <a:pPr algn="l" marL="292608" indent="-292608">
              <a:spcBef>
                <a:spcPts val="1200"/>
              </a:spcBef>
              <a:spcAft>
                <a:spcPts val="0"/>
              </a:spcAft>
              <a:buClr>
                <a:srgbClr val="0066CC"/>
              </a:buClr>
              <a:buSzPct val="90000"/>
              <a:buFont typeface="Wingdings" pitchFamily="2" charset="2"/>
              <a:buChar char="v"/>
            </a:pPr>
            <a:r>
              <a:rPr lang="en-IN" sz="1650" dirty="0" b="1">
                <a:solidFill>
                  <a:srgbClr val="0F172A"/>
                </a:solidFill>
                <a:latin typeface="Arial"/>
                <a:cs typeface="Arial"/>
              </a:rPr>
              <a:t>Targeted Warnings – </a:t>
            </a:r>
            <a:r>
              <a:rPr lang="en-IN" sz="1650" dirty="0" b="1">
                <a:solidFill>
                  <a:srgbClr val="0066CC"/>
                </a:solidFill>
                <a:latin typeface="Arial"/>
                <a:cs typeface="Arial"/>
              </a:rPr>
              <a:t>ETA per city &amp; block</a:t>
            </a:r>
            <a:r>
              <a:rPr lang="en-IN" sz="1650" dirty="0">
                <a:solidFill>
                  <a:srgbClr val="0F172A"/>
                </a:solidFill>
                <a:latin typeface="Arial"/>
                <a:cs typeface="Arial"/>
              </a:rPr>
              <a:t>, not whole districts</a:t>
            </a:r>
            <a:endParaRPr sz="1650"/>
          </a:p>
          <a:p>
            <a:pPr algn="l" marL="292608" indent="-292608">
              <a:spcBef>
                <a:spcPts val="1200"/>
              </a:spcBef>
              <a:spcAft>
                <a:spcPts val="0"/>
              </a:spcAft>
              <a:buClr>
                <a:srgbClr val="0066CC"/>
              </a:buClr>
              <a:buSzPct val="90000"/>
              <a:buFont typeface="Wingdings" pitchFamily="2" charset="2"/>
              <a:buChar char="v"/>
            </a:pPr>
            <a:r>
              <a:rPr lang="en-IN" sz="1650" dirty="0" b="1">
                <a:solidFill>
                  <a:srgbClr val="0F172A"/>
                </a:solidFill>
                <a:latin typeface="Arial"/>
                <a:cs typeface="Arial"/>
              </a:rPr>
              <a:t>Faster Response – </a:t>
            </a:r>
            <a:r>
              <a:rPr lang="en-IN" sz="1650" dirty="0">
                <a:solidFill>
                  <a:srgbClr val="0F172A"/>
                </a:solidFill>
                <a:latin typeface="Arial"/>
                <a:cs typeface="Arial"/>
              </a:rPr>
              <a:t>teams deployed before the storm arrives</a:t>
            </a:r>
            <a:endParaRPr sz="1650"/>
          </a:p>
          <a:p>
            <a:pPr algn="l" marL="0" indent="0">
              <a:spcBef>
                <a:spcPts val="2800"/>
              </a:spcBef>
              <a:spcAft>
                <a:spcPts val="0"/>
              </a:spcAft>
              <a:buNone/>
            </a:pPr>
            <a:r>
              <a:rPr lang="en-IN" sz="1600" dirty="0" b="1">
                <a:solidFill>
                  <a:srgbClr val="1B559B"/>
                </a:solidFill>
                <a:latin typeface="Arial"/>
                <a:cs typeface="Arial"/>
              </a:rPr>
              <a:t>Airports &amp; Aviation</a:t>
            </a:r>
            <a:endParaRPr sz="1600"/>
          </a:p>
          <a:p>
            <a:pPr algn="l" marL="292608" indent="-292608">
              <a:spcBef>
                <a:spcPts val="1200"/>
              </a:spcBef>
              <a:spcAft>
                <a:spcPts val="0"/>
              </a:spcAft>
              <a:buClr>
                <a:srgbClr val="0066CC"/>
              </a:buClr>
              <a:buSzPct val="90000"/>
              <a:buFont typeface="Wingdings" pitchFamily="2" charset="2"/>
              <a:buChar char="v"/>
            </a:pPr>
            <a:r>
              <a:rPr lang="en-IN" sz="1650" dirty="0" b="1">
                <a:solidFill>
                  <a:srgbClr val="0F172A"/>
                </a:solidFill>
                <a:latin typeface="Arial"/>
                <a:cs typeface="Arial"/>
              </a:rPr>
              <a:t>Gust &amp; Wind-Shear Alerts – </a:t>
            </a:r>
            <a:r>
              <a:rPr lang="en-IN" sz="1650" dirty="0">
                <a:solidFill>
                  <a:srgbClr val="0F172A"/>
                </a:solidFill>
                <a:latin typeface="Arial"/>
                <a:cs typeface="Arial"/>
              </a:rPr>
              <a:t>live countdown for each airport</a:t>
            </a:r>
            <a:endParaRPr sz="1650"/>
          </a:p>
          <a:p>
            <a:pPr algn="l" marL="292608" indent="-292608">
              <a:spcBef>
                <a:spcPts val="1200"/>
              </a:spcBef>
              <a:spcAft>
                <a:spcPts val="0"/>
              </a:spcAft>
              <a:buClr>
                <a:srgbClr val="0066CC"/>
              </a:buClr>
              <a:buSzPct val="90000"/>
              <a:buFont typeface="Wingdings" pitchFamily="2" charset="2"/>
              <a:buChar char="v"/>
            </a:pPr>
            <a:r>
              <a:rPr lang="en-IN" sz="1650" dirty="0" b="1">
                <a:solidFill>
                  <a:srgbClr val="0F172A"/>
                </a:solidFill>
                <a:latin typeface="Arial"/>
                <a:cs typeface="Arial"/>
              </a:rPr>
              <a:t>Safer Operations – </a:t>
            </a:r>
            <a:r>
              <a:rPr lang="en-IN" sz="1650" dirty="0">
                <a:solidFill>
                  <a:srgbClr val="0F172A"/>
                </a:solidFill>
                <a:latin typeface="Arial"/>
                <a:cs typeface="Arial"/>
              </a:rPr>
              <a:t>plan holds &amp; diversions in advance</a:t>
            </a:r>
            <a:endParaRPr sz="1650"/>
          </a:p>
          <a:p>
            <a:pPr algn="l" marL="0" indent="0">
              <a:spcBef>
                <a:spcPts val="2800"/>
              </a:spcBef>
              <a:spcAft>
                <a:spcPts val="0"/>
              </a:spcAft>
              <a:buNone/>
            </a:pPr>
            <a:r>
              <a:rPr lang="en-IN" sz="1600" dirty="0" b="1">
                <a:solidFill>
                  <a:srgbClr val="1B559B"/>
                </a:solidFill>
                <a:latin typeface="Arial"/>
                <a:cs typeface="Arial"/>
              </a:rPr>
              <a:t>Farmers &amp; Rural Communities</a:t>
            </a:r>
            <a:endParaRPr sz="1600"/>
          </a:p>
          <a:p>
            <a:pPr algn="l" marL="292608" indent="-292608">
              <a:spcBef>
                <a:spcPts val="1200"/>
              </a:spcBef>
              <a:spcAft>
                <a:spcPts val="0"/>
              </a:spcAft>
              <a:buClr>
                <a:srgbClr val="0066CC"/>
              </a:buClr>
              <a:buSzPct val="90000"/>
              <a:buFont typeface="Wingdings" pitchFamily="2" charset="2"/>
              <a:buChar char="v"/>
            </a:pPr>
            <a:r>
              <a:rPr lang="en-IN" sz="1650" dirty="0" b="1">
                <a:solidFill>
                  <a:srgbClr val="0F172A"/>
                </a:solidFill>
                <a:latin typeface="Arial"/>
                <a:cs typeface="Arial"/>
              </a:rPr>
              <a:t>Hail &amp; Cloudburst Warnings – </a:t>
            </a:r>
            <a:r>
              <a:rPr lang="en-IN" sz="1650" dirty="0">
                <a:solidFill>
                  <a:srgbClr val="0F172A"/>
                </a:solidFill>
                <a:latin typeface="Arial"/>
                <a:cs typeface="Arial"/>
              </a:rPr>
              <a:t>protect crops &amp; livestock</a:t>
            </a:r>
            <a:endParaRPr sz="1650"/>
          </a:p>
          <a:p>
            <a:pPr algn="l" marL="292608" indent="-292608">
              <a:spcBef>
                <a:spcPts val="1200"/>
              </a:spcBef>
              <a:spcAft>
                <a:spcPts val="0"/>
              </a:spcAft>
              <a:buClr>
                <a:srgbClr val="0066CC"/>
              </a:buClr>
              <a:buSzPct val="90000"/>
              <a:buFont typeface="Wingdings" pitchFamily="2" charset="2"/>
              <a:buChar char="v"/>
            </a:pPr>
            <a:r>
              <a:rPr lang="en-IN" sz="1650" dirty="0" b="1">
                <a:solidFill>
                  <a:srgbClr val="0F172A"/>
                </a:solidFill>
                <a:latin typeface="Arial"/>
                <a:cs typeface="Arial"/>
              </a:rPr>
              <a:t>Lightning Safety – </a:t>
            </a:r>
            <a:r>
              <a:rPr lang="en-IN" sz="1650" dirty="0">
                <a:solidFill>
                  <a:srgbClr val="0F172A"/>
                </a:solidFill>
                <a:latin typeface="Arial"/>
                <a:cs typeface="Arial"/>
              </a:rPr>
              <a:t>shelter advice in the local language</a:t>
            </a:r>
            <a:endParaRPr sz="1650"/>
          </a:p>
        </p:txBody>
      </p:sp>
      <p:sp>
        <p:nvSpPr>
          <p:cNvPr id="88" name="Rectangle 87"/>
          <p:cNvSpPr/>
          <p:nvPr/>
        </p:nvSpPr>
        <p:spPr>
          <a:xfrm>
            <a:off x="9258300" y="3749039"/>
            <a:ext cx="8206740" cy="5532120"/>
          </a:xfrm>
          <a:prstGeom prst="rect">
            <a:avLst/>
          </a:prstGeom>
          <a:solidFill>
            <a:srgbClr val="FFFFFF"/>
          </a:solidFill>
          <a:ln w="254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3716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dirty="0" b="1">
                <a:solidFill>
                  <a:srgbClr val="0066CC"/>
                </a:solidFill>
                <a:latin typeface="Arial"/>
                <a:cs typeface="Arial"/>
              </a:rPr>
              <a:t>NATIONAL IMPACT</a:t>
            </a:r>
            <a:endParaRPr sz="1800"/>
          </a:p>
          <a:p>
            <a:pPr algn="l" marL="0" indent="0">
              <a:spcBef>
                <a:spcPts val="1800"/>
              </a:spcBef>
              <a:spcAft>
                <a:spcPts val="0"/>
              </a:spcAft>
              <a:buNone/>
            </a:pPr>
            <a:r>
              <a:rPr lang="en-IN" sz="1600" dirty="0" b="1">
                <a:solidFill>
                  <a:srgbClr val="1B559B"/>
                </a:solidFill>
                <a:latin typeface="Arial"/>
                <a:cs typeface="Arial"/>
              </a:rPr>
              <a:t>Lives &amp; Safety</a:t>
            </a:r>
            <a:endParaRPr sz="1600"/>
          </a:p>
          <a:p>
            <a:pPr algn="l" marL="292608" indent="-292608">
              <a:spcBef>
                <a:spcPts val="1200"/>
              </a:spcBef>
              <a:spcAft>
                <a:spcPts val="0"/>
              </a:spcAft>
              <a:buClr>
                <a:srgbClr val="0066CC"/>
              </a:buClr>
              <a:buSzPct val="90000"/>
              <a:buFont typeface="Wingdings" pitchFamily="2" charset="2"/>
              <a:buChar char="v"/>
            </a:pPr>
            <a:r>
              <a:rPr lang="en-IN" sz="1650" dirty="0" b="1">
                <a:solidFill>
                  <a:srgbClr val="0F172A"/>
                </a:solidFill>
                <a:latin typeface="Arial"/>
                <a:cs typeface="Arial"/>
              </a:rPr>
              <a:t>Fewer Casualties – </a:t>
            </a:r>
            <a:r>
              <a:rPr lang="en-IN" sz="1650" dirty="0">
                <a:solidFill>
                  <a:srgbClr val="0F172A"/>
                </a:solidFill>
                <a:latin typeface="Arial"/>
                <a:cs typeface="Arial"/>
              </a:rPr>
              <a:t>lightning &amp; storms kill thousands yearly</a:t>
            </a:r>
            <a:endParaRPr sz="1650"/>
          </a:p>
          <a:p>
            <a:pPr algn="l" marL="292608" indent="-292608">
              <a:spcBef>
                <a:spcPts val="1200"/>
              </a:spcBef>
              <a:spcAft>
                <a:spcPts val="0"/>
              </a:spcAft>
              <a:buClr>
                <a:srgbClr val="0066CC"/>
              </a:buClr>
              <a:buSzPct val="90000"/>
              <a:buFont typeface="Wingdings" pitchFamily="2" charset="2"/>
              <a:buChar char="v"/>
            </a:pPr>
            <a:r>
              <a:rPr lang="en-IN" sz="1650" dirty="0" b="1">
                <a:solidFill>
                  <a:srgbClr val="0F172A"/>
                </a:solidFill>
                <a:latin typeface="Arial"/>
                <a:cs typeface="Arial"/>
              </a:rPr>
              <a:t>Disaster Resilience – </a:t>
            </a:r>
            <a:r>
              <a:rPr lang="en-IN" sz="1650" dirty="0">
                <a:solidFill>
                  <a:srgbClr val="0F172A"/>
                </a:solidFill>
                <a:latin typeface="Arial"/>
                <a:cs typeface="Arial"/>
              </a:rPr>
              <a:t>strengthens IMD &amp; NDMA early warnings</a:t>
            </a:r>
            <a:endParaRPr sz="1650"/>
          </a:p>
          <a:p>
            <a:pPr algn="l" marL="0" indent="0">
              <a:spcBef>
                <a:spcPts val="2800"/>
              </a:spcBef>
              <a:spcAft>
                <a:spcPts val="0"/>
              </a:spcAft>
              <a:buNone/>
            </a:pPr>
            <a:r>
              <a:rPr lang="en-IN" sz="1600" dirty="0" b="1">
                <a:solidFill>
                  <a:srgbClr val="1B559B"/>
                </a:solidFill>
                <a:latin typeface="Arial"/>
                <a:cs typeface="Arial"/>
              </a:rPr>
              <a:t>Economic Growth</a:t>
            </a:r>
            <a:endParaRPr sz="1600"/>
          </a:p>
          <a:p>
            <a:pPr algn="l" marL="292608" indent="-292608">
              <a:spcBef>
                <a:spcPts val="1200"/>
              </a:spcBef>
              <a:spcAft>
                <a:spcPts val="0"/>
              </a:spcAft>
              <a:buClr>
                <a:srgbClr val="0066CC"/>
              </a:buClr>
              <a:buSzPct val="90000"/>
              <a:buFont typeface="Wingdings" pitchFamily="2" charset="2"/>
              <a:buChar char="v"/>
            </a:pPr>
            <a:r>
              <a:rPr lang="en-IN" sz="1650" dirty="0" b="1">
                <a:solidFill>
                  <a:srgbClr val="0F172A"/>
                </a:solidFill>
                <a:latin typeface="Arial"/>
                <a:cs typeface="Arial"/>
              </a:rPr>
              <a:t>Crop Protection – </a:t>
            </a:r>
            <a:r>
              <a:rPr lang="en-IN" sz="1650" dirty="0">
                <a:solidFill>
                  <a:srgbClr val="0F172A"/>
                </a:solidFill>
                <a:latin typeface="Arial"/>
                <a:cs typeface="Arial"/>
              </a:rPr>
              <a:t>timely hail &amp; heavy-rain alerts cut losses</a:t>
            </a:r>
            <a:endParaRPr sz="1650"/>
          </a:p>
          <a:p>
            <a:pPr algn="l" marL="292608" indent="-292608">
              <a:spcBef>
                <a:spcPts val="1200"/>
              </a:spcBef>
              <a:spcAft>
                <a:spcPts val="0"/>
              </a:spcAft>
              <a:buClr>
                <a:srgbClr val="0066CC"/>
              </a:buClr>
              <a:buSzPct val="90000"/>
              <a:buFont typeface="Wingdings" pitchFamily="2" charset="2"/>
              <a:buChar char="v"/>
            </a:pPr>
            <a:r>
              <a:rPr lang="en-IN" sz="1650" dirty="0" b="1">
                <a:solidFill>
                  <a:srgbClr val="0F172A"/>
                </a:solidFill>
                <a:latin typeface="Arial"/>
                <a:cs typeface="Arial"/>
              </a:rPr>
              <a:t>Aviation &amp; Power – </a:t>
            </a:r>
            <a:r>
              <a:rPr lang="en-IN" sz="1650" dirty="0">
                <a:solidFill>
                  <a:srgbClr val="0F172A"/>
                </a:solidFill>
                <a:latin typeface="Arial"/>
                <a:cs typeface="Arial"/>
              </a:rPr>
              <a:t>fewer diversions and line outages</a:t>
            </a:r>
            <a:endParaRPr sz="1650"/>
          </a:p>
          <a:p>
            <a:pPr algn="l" marL="0" indent="0">
              <a:spcBef>
                <a:spcPts val="2800"/>
              </a:spcBef>
              <a:spcAft>
                <a:spcPts val="0"/>
              </a:spcAft>
              <a:buNone/>
            </a:pPr>
            <a:r>
              <a:rPr lang="en-IN" sz="1600" dirty="0" b="1">
                <a:solidFill>
                  <a:srgbClr val="1B559B"/>
                </a:solidFill>
                <a:latin typeface="Arial"/>
                <a:cs typeface="Arial"/>
              </a:rPr>
              <a:t>Digital Leadership</a:t>
            </a:r>
            <a:endParaRPr sz="1600"/>
          </a:p>
          <a:p>
            <a:pPr algn="l" marL="292608" indent="-292608">
              <a:spcBef>
                <a:spcPts val="1200"/>
              </a:spcBef>
              <a:spcAft>
                <a:spcPts val="0"/>
              </a:spcAft>
              <a:buClr>
                <a:srgbClr val="0066CC"/>
              </a:buClr>
              <a:buSzPct val="90000"/>
              <a:buFont typeface="Wingdings" pitchFamily="2" charset="2"/>
              <a:buChar char="v"/>
            </a:pPr>
            <a:r>
              <a:rPr lang="en-IN" sz="1650" dirty="0" b="1">
                <a:solidFill>
                  <a:srgbClr val="0F172A"/>
                </a:solidFill>
                <a:latin typeface="Arial"/>
                <a:cs typeface="Arial"/>
              </a:rPr>
              <a:t>Mission Mausam – </a:t>
            </a:r>
            <a:r>
              <a:rPr lang="en-IN" sz="1650" dirty="0">
                <a:solidFill>
                  <a:srgbClr val="0F172A"/>
                </a:solidFill>
                <a:latin typeface="Arial"/>
                <a:cs typeface="Arial"/>
              </a:rPr>
              <a:t>supports India's weather-ready goals</a:t>
            </a:r>
            <a:endParaRPr sz="1650"/>
          </a:p>
          <a:p>
            <a:pPr algn="l" marL="292608" indent="-292608">
              <a:spcBef>
                <a:spcPts val="1200"/>
              </a:spcBef>
              <a:spcAft>
                <a:spcPts val="0"/>
              </a:spcAft>
              <a:buClr>
                <a:srgbClr val="0066CC"/>
              </a:buClr>
              <a:buSzPct val="90000"/>
              <a:buFont typeface="Wingdings" pitchFamily="2" charset="2"/>
              <a:buChar char="v"/>
            </a:pPr>
            <a:r>
              <a:rPr lang="en-IN" sz="1650" dirty="0" b="1">
                <a:solidFill>
                  <a:srgbClr val="0F172A"/>
                </a:solidFill>
                <a:latin typeface="Arial"/>
                <a:cs typeface="Arial"/>
              </a:rPr>
              <a:t>Open Integration – </a:t>
            </a:r>
            <a:r>
              <a:rPr lang="en-IN" sz="1650" dirty="0">
                <a:solidFill>
                  <a:srgbClr val="0F172A"/>
                </a:solidFill>
                <a:latin typeface="Arial"/>
                <a:cs typeface="Arial"/>
              </a:rPr>
              <a:t>GeoJSON, ODIM &amp; REST plug into existing systems</a:t>
            </a:r>
            <a:endParaRPr sz="165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object 56"/>
          <p:cNvSpPr txBox="1">
            <a:spLocks noGrp="1"/>
          </p:cNvSpPr>
          <p:nvPr>
            <p:ph type="ftr" idx="5" sz="quarter"/>
          </p:nvPr>
        </p:nvSpPr>
        <p:spPr>
          <a:xfrm>
            <a:off x="5943600" y="9637776"/>
            <a:ext cx="6400800" cy="310896"/>
          </a:xfrm>
          <a:prstGeom prst="rect"/>
        </p:spPr>
        <p:txBody>
          <a:bodyPr wrap="square" lIns="0" tIns="26034" rIns="0" bIns="0" rtlCol="0" vert="horz">
            <a:spAutoFit/>
          </a:bodyPr>
          <a:lstStyle/>
          <a:p>
            <a:pPr marL="0" algn="ctr" indent="0">
              <a:lnSpc>
                <a:spcPct val="100000"/>
              </a:lnSpc>
              <a:spcBef>
                <a:spcPts val="204"/>
              </a:spcBef>
            </a:pPr>
            <a:r>
              <a:rPr dirty="0"/>
              <a:t>@SIH</a:t>
            </a:r>
            <a:r>
              <a:rPr dirty="0" spc="-15"/>
              <a:t> </a:t>
            </a:r>
            <a:r>
              <a:rPr dirty="0"/>
              <a:t>Idea</a:t>
            </a:r>
            <a:r>
              <a:rPr dirty="0" spc="-10"/>
              <a:t> </a:t>
            </a:r>
            <a:r>
              <a:rPr dirty="0"/>
              <a:t>submission-</a:t>
            </a:r>
            <a:r>
              <a:rPr dirty="0" spc="-10"/>
              <a:t> Template</a:t>
            </a:r>
          </a:p>
        </p:txBody>
      </p:sp>
      <p:sp>
        <p:nvSpPr>
          <p:cNvPr id="57" name="object 5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2085"/>
              </a:lnSpc>
            </a:pPr>
            <a:fld id="{81D60167-4931-47E6-BA6A-407CBD079E47}" type="slidenum">
              <a:rPr dirty="0" spc="-50"/>
              <a:t>4</a:t>
            </a:fld>
          </a:p>
        </p:txBody>
      </p:sp>
      <p:sp>
        <p:nvSpPr>
          <p:cNvPr id="58" name="Hexagon 57"/>
          <p:cNvSpPr/>
          <p:nvPr/>
        </p:nvSpPr>
        <p:spPr>
          <a:xfrm>
            <a:off x="822960" y="566928"/>
            <a:ext cx="329184" cy="292608"/>
          </a:xfrm>
          <a:prstGeom prst="hexagon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9" name="TextBox 58"/>
          <p:cNvSpPr txBox="1"/>
          <p:nvPr/>
        </p:nvSpPr>
        <p:spPr>
          <a:xfrm>
            <a:off x="1280160" y="457200"/>
            <a:ext cx="237744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 dirty="0" b="1">
                <a:solidFill>
                  <a:srgbClr val="1B559B"/>
                </a:solidFill>
                <a:latin typeface="Arial"/>
                <a:cs typeface="Arial"/>
              </a:rPr>
              <a:t>Bumblebee</a:t>
            </a:r>
            <a:endParaRPr sz="2000"/>
          </a:p>
        </p:txBody>
      </p:sp>
      <p:sp>
        <p:nvSpPr>
          <p:cNvPr id="60" name="TextBox 59"/>
          <p:cNvSpPr txBox="1"/>
          <p:nvPr/>
        </p:nvSpPr>
        <p:spPr>
          <a:xfrm>
            <a:off x="3657600" y="274320"/>
            <a:ext cx="10972800" cy="9601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5400" dirty="0" b="1">
                <a:solidFill>
                  <a:srgbClr val="000000"/>
                </a:solidFill>
                <a:latin typeface="Times New Roman"/>
                <a:cs typeface="Times New Roman"/>
              </a:rPr>
              <a:t>RESEARCH AND REFERENCES</a:t>
            </a:r>
            <a:endParaRPr sz="5400"/>
          </a:p>
        </p:txBody>
      </p:sp>
      <p:pic>
        <p:nvPicPr>
          <p:cNvPr id="61" name="Picture 6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66976" y="0"/>
            <a:ext cx="3374136" cy="1591056"/>
          </a:xfrm>
          <a:prstGeom prst="rect">
            <a:avLst/>
          </a:prstGeom>
        </p:spPr>
      </p:pic>
      <p:sp>
        <p:nvSpPr>
          <p:cNvPr id="62" name="Rectangle 61"/>
          <p:cNvSpPr/>
          <p:nvPr/>
        </p:nvSpPr>
        <p:spPr>
          <a:xfrm>
            <a:off x="822960" y="1600200"/>
            <a:ext cx="7863840" cy="7680960"/>
          </a:xfrm>
          <a:prstGeom prst="rect">
            <a:avLst/>
          </a:prstGeom>
          <a:solidFill>
            <a:srgbClr val="FFFFFF"/>
          </a:solidFill>
          <a:ln w="254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3716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dirty="0" b="1">
                <a:solidFill>
                  <a:srgbClr val="0066CC"/>
                </a:solidFill>
                <a:latin typeface="Arial"/>
                <a:cs typeface="Arial"/>
              </a:rPr>
              <a:t>RESEARCH BASE</a:t>
            </a:r>
            <a:endParaRPr sz="1800"/>
          </a:p>
          <a:p>
            <a:pPr algn="l" marL="0" indent="0">
              <a:spcBef>
                <a:spcPts val="1600"/>
              </a:spcBef>
              <a:spcAft>
                <a:spcPts val="0"/>
              </a:spcAft>
              <a:buNone/>
            </a:pPr>
            <a:r>
              <a:rPr lang="en-IN" sz="1600" dirty="0" b="1">
                <a:solidFill>
                  <a:srgbClr val="1B559B"/>
                </a:solidFill>
                <a:latin typeface="Arial"/>
                <a:cs typeface="Arial"/>
              </a:rPr>
              <a:t>Nowcasting &amp; Storm Tracking</a:t>
            </a:r>
            <a:endParaRPr sz="1600"/>
          </a:p>
          <a:p>
            <a:pPr algn="l" marL="292608" indent="-292608">
              <a:spcBef>
                <a:spcPts val="900"/>
              </a:spcBef>
              <a:spcAft>
                <a:spcPts val="0"/>
              </a:spcAft>
              <a:buClr>
                <a:srgbClr val="0066CC"/>
              </a:buClr>
              <a:buSzPct val="90000"/>
              <a:buFont typeface="Wingdings" pitchFamily="2" charset="2"/>
              <a:buChar char="v"/>
            </a:pPr>
            <a:r>
              <a:rPr lang="en-IN" sz="1550" dirty="0" b="1">
                <a:solidFill>
                  <a:srgbClr val="0F172A"/>
                </a:solidFill>
                <a:latin typeface="Arial"/>
                <a:cs typeface="Arial"/>
              </a:rPr>
              <a:t>Radar Extrapolation – </a:t>
            </a:r>
            <a:r>
              <a:rPr lang="en-IN" sz="1550" dirty="0">
                <a:solidFill>
                  <a:srgbClr val="0F172A"/>
                </a:solidFill>
                <a:latin typeface="Arial"/>
                <a:cs typeface="Arial"/>
              </a:rPr>
              <a:t>Germann &amp; Zawadzki (2002), Mon. Wea. Rev.</a:t>
            </a:r>
            <a:endParaRPr sz="1550"/>
          </a:p>
          <a:p>
            <a:pPr algn="l" marL="292608" indent="-292608">
              <a:spcBef>
                <a:spcPts val="900"/>
              </a:spcBef>
              <a:spcAft>
                <a:spcPts val="0"/>
              </a:spcAft>
              <a:buClr>
                <a:srgbClr val="0066CC"/>
              </a:buClr>
              <a:buSzPct val="90000"/>
              <a:buFont typeface="Wingdings" pitchFamily="2" charset="2"/>
              <a:buChar char="v"/>
            </a:pPr>
            <a:r>
              <a:rPr lang="en-IN" sz="1550" dirty="0" b="1">
                <a:solidFill>
                  <a:srgbClr val="0F172A"/>
                </a:solidFill>
                <a:latin typeface="Arial"/>
                <a:cs typeface="Arial"/>
              </a:rPr>
              <a:t>pySTEPS Nowcasting – </a:t>
            </a:r>
            <a:r>
              <a:rPr lang="en-IN" sz="1550" dirty="0">
                <a:solidFill>
                  <a:srgbClr val="0F172A"/>
                </a:solidFill>
                <a:latin typeface="Arial"/>
                <a:cs typeface="Arial"/>
              </a:rPr>
              <a:t>Pulkkinen et al. (2019), Geosci. Model Dev.</a:t>
            </a:r>
            <a:endParaRPr sz="1550"/>
          </a:p>
          <a:p>
            <a:pPr algn="l" marL="292608" indent="-292608">
              <a:spcBef>
                <a:spcPts val="900"/>
              </a:spcBef>
              <a:spcAft>
                <a:spcPts val="0"/>
              </a:spcAft>
              <a:buClr>
                <a:srgbClr val="0066CC"/>
              </a:buClr>
              <a:buSzPct val="90000"/>
              <a:buFont typeface="Wingdings" pitchFamily="2" charset="2"/>
              <a:buChar char="v"/>
            </a:pPr>
            <a:r>
              <a:rPr lang="en-IN" sz="1550" dirty="0" b="1">
                <a:solidFill>
                  <a:srgbClr val="0F172A"/>
                </a:solidFill>
                <a:latin typeface="Arial"/>
                <a:cs typeface="Arial"/>
              </a:rPr>
              <a:t>Cell Tracking – </a:t>
            </a:r>
            <a:r>
              <a:rPr lang="en-IN" sz="1550" dirty="0">
                <a:solidFill>
                  <a:srgbClr val="0F172A"/>
                </a:solidFill>
                <a:latin typeface="Arial"/>
                <a:cs typeface="Arial"/>
              </a:rPr>
              <a:t>Dixon &amp; Wiener (1993) TITAN, J. Atmos. Ocean. Tech.</a:t>
            </a:r>
            <a:endParaRPr sz="1550"/>
          </a:p>
          <a:p>
            <a:pPr algn="l" marL="0" indent="0">
              <a:spcBef>
                <a:spcPts val="2200"/>
              </a:spcBef>
              <a:spcAft>
                <a:spcPts val="0"/>
              </a:spcAft>
              <a:buNone/>
            </a:pPr>
            <a:r>
              <a:rPr lang="en-IN" sz="1600" dirty="0" b="1">
                <a:solidFill>
                  <a:srgbClr val="1B559B"/>
                </a:solidFill>
                <a:latin typeface="Arial"/>
                <a:cs typeface="Arial"/>
              </a:rPr>
              <a:t>Convection &amp; Hazards</a:t>
            </a:r>
            <a:endParaRPr sz="1600"/>
          </a:p>
          <a:p>
            <a:pPr algn="l" marL="292608" indent="-292608">
              <a:spcBef>
                <a:spcPts val="900"/>
              </a:spcBef>
              <a:spcAft>
                <a:spcPts val="0"/>
              </a:spcAft>
              <a:buClr>
                <a:srgbClr val="0066CC"/>
              </a:buClr>
              <a:buSzPct val="90000"/>
              <a:buFont typeface="Wingdings" pitchFamily="2" charset="2"/>
              <a:buChar char="v"/>
            </a:pPr>
            <a:r>
              <a:rPr lang="en-IN" sz="1550" dirty="0" b="1">
                <a:solidFill>
                  <a:srgbClr val="0F172A"/>
                </a:solidFill>
                <a:latin typeface="Arial"/>
                <a:cs typeface="Arial"/>
              </a:rPr>
              <a:t>Convective Initiation – </a:t>
            </a:r>
            <a:r>
              <a:rPr lang="en-IN" sz="1550" dirty="0">
                <a:solidFill>
                  <a:srgbClr val="0F172A"/>
                </a:solidFill>
                <a:latin typeface="Arial"/>
                <a:cs typeface="Arial"/>
              </a:rPr>
              <a:t>Mecikalski &amp; Bedka (2006) SATCAST, MWR</a:t>
            </a:r>
            <a:endParaRPr sz="1550"/>
          </a:p>
          <a:p>
            <a:pPr algn="l" marL="292608" indent="-292608">
              <a:spcBef>
                <a:spcPts val="900"/>
              </a:spcBef>
              <a:spcAft>
                <a:spcPts val="0"/>
              </a:spcAft>
              <a:buClr>
                <a:srgbClr val="0066CC"/>
              </a:buClr>
              <a:buSzPct val="90000"/>
              <a:buFont typeface="Wingdings" pitchFamily="2" charset="2"/>
              <a:buChar char="v"/>
            </a:pPr>
            <a:r>
              <a:rPr lang="en-IN" sz="1550" dirty="0" b="1">
                <a:solidFill>
                  <a:srgbClr val="0F172A"/>
                </a:solidFill>
                <a:latin typeface="Arial"/>
                <a:cs typeface="Arial"/>
              </a:rPr>
              <a:t>Lightning Jump – </a:t>
            </a:r>
            <a:r>
              <a:rPr lang="en-IN" sz="1550" dirty="0">
                <a:solidFill>
                  <a:srgbClr val="0F172A"/>
                </a:solidFill>
                <a:latin typeface="Arial"/>
                <a:cs typeface="Arial"/>
              </a:rPr>
              <a:t>Schultz et al. (2009), J. Appl. Meteor. Climatol.</a:t>
            </a:r>
            <a:endParaRPr sz="1550"/>
          </a:p>
          <a:p>
            <a:pPr algn="l" marL="0" indent="0">
              <a:spcBef>
                <a:spcPts val="2200"/>
              </a:spcBef>
              <a:spcAft>
                <a:spcPts val="0"/>
              </a:spcAft>
              <a:buNone/>
            </a:pPr>
            <a:r>
              <a:rPr lang="en-IN" sz="1600" dirty="0" b="1">
                <a:solidFill>
                  <a:srgbClr val="1B559B"/>
                </a:solidFill>
                <a:latin typeface="Arial"/>
                <a:cs typeface="Arial"/>
              </a:rPr>
              <a:t>Hazards &amp; Data Standards</a:t>
            </a:r>
            <a:endParaRPr sz="1600"/>
          </a:p>
          <a:p>
            <a:pPr algn="l" marL="292608" indent="-292608">
              <a:spcBef>
                <a:spcPts val="900"/>
              </a:spcBef>
              <a:spcAft>
                <a:spcPts val="0"/>
              </a:spcAft>
              <a:buClr>
                <a:srgbClr val="0066CC"/>
              </a:buClr>
              <a:buSzPct val="90000"/>
              <a:buFont typeface="Wingdings" pitchFamily="2" charset="2"/>
              <a:buChar char="v"/>
            </a:pPr>
            <a:r>
              <a:rPr lang="en-IN" sz="1550" dirty="0" b="1">
                <a:solidFill>
                  <a:srgbClr val="0F172A"/>
                </a:solidFill>
                <a:latin typeface="Arial"/>
                <a:cs typeface="Arial"/>
              </a:rPr>
              <a:t>VIL Density Hail – </a:t>
            </a:r>
            <a:r>
              <a:rPr lang="en-IN" sz="1550" dirty="0">
                <a:solidFill>
                  <a:srgbClr val="0F172A"/>
                </a:solidFill>
                <a:latin typeface="Arial"/>
                <a:cs typeface="Arial"/>
              </a:rPr>
              <a:t>Amburn &amp; Wolf (1997), Weather &amp; Forecasting</a:t>
            </a:r>
            <a:endParaRPr sz="1550"/>
          </a:p>
          <a:p>
            <a:pPr algn="l" marL="292608" indent="-292608">
              <a:spcBef>
                <a:spcPts val="900"/>
              </a:spcBef>
              <a:spcAft>
                <a:spcPts val="0"/>
              </a:spcAft>
              <a:buClr>
                <a:srgbClr val="0066CC"/>
              </a:buClr>
              <a:buSzPct val="90000"/>
              <a:buFont typeface="Wingdings" pitchFamily="2" charset="2"/>
              <a:buChar char="v"/>
            </a:pPr>
            <a:r>
              <a:rPr lang="en-IN" sz="1550" dirty="0" b="1">
                <a:solidFill>
                  <a:srgbClr val="0F172A"/>
                </a:solidFill>
                <a:latin typeface="Arial"/>
                <a:cs typeface="Arial"/>
              </a:rPr>
              <a:t>Downburst Gust – </a:t>
            </a:r>
            <a:r>
              <a:rPr lang="en-IN" sz="1550" dirty="0">
                <a:solidFill>
                  <a:srgbClr val="0F172A"/>
                </a:solidFill>
                <a:latin typeface="Arial"/>
                <a:cs typeface="Arial"/>
              </a:rPr>
              <a:t>Stewart (1991) VIL + echo-top relation</a:t>
            </a:r>
            <a:endParaRPr sz="1550"/>
          </a:p>
          <a:p>
            <a:pPr algn="l" marL="292608" indent="-292608">
              <a:spcBef>
                <a:spcPts val="900"/>
              </a:spcBef>
              <a:spcAft>
                <a:spcPts val="0"/>
              </a:spcAft>
              <a:buClr>
                <a:srgbClr val="0066CC"/>
              </a:buClr>
              <a:buSzPct val="90000"/>
              <a:buFont typeface="Wingdings" pitchFamily="2" charset="2"/>
              <a:buChar char="v"/>
            </a:pPr>
            <a:r>
              <a:rPr lang="en-IN" sz="1550" dirty="0" b="1">
                <a:solidFill>
                  <a:srgbClr val="0F172A"/>
                </a:solidFill>
                <a:latin typeface="Arial"/>
                <a:cs typeface="Arial"/>
              </a:rPr>
              <a:t>Data Standards – </a:t>
            </a:r>
            <a:r>
              <a:rPr lang="en-IN" sz="1550" dirty="0">
                <a:solidFill>
                  <a:srgbClr val="0F172A"/>
                </a:solidFill>
                <a:latin typeface="Arial"/>
                <a:cs typeface="Arial"/>
              </a:rPr>
              <a:t>EUMETNET ODIM_H5 radar; ISRO MOSDAC INSAT L1B</a:t>
            </a:r>
            <a:endParaRPr sz="1550"/>
          </a:p>
          <a:p>
            <a:pPr algn="l" marL="292608" indent="-292608">
              <a:spcBef>
                <a:spcPts val="900"/>
              </a:spcBef>
              <a:spcAft>
                <a:spcPts val="0"/>
              </a:spcAft>
              <a:buClr>
                <a:srgbClr val="0066CC"/>
              </a:buClr>
              <a:buSzPct val="90000"/>
              <a:buFont typeface="Wingdings" pitchFamily="2" charset="2"/>
              <a:buChar char="v"/>
            </a:pPr>
            <a:r>
              <a:rPr lang="en-IN" sz="1550" dirty="0" b="1">
                <a:solidFill>
                  <a:srgbClr val="0F172A"/>
                </a:solidFill>
                <a:latin typeface="Arial"/>
                <a:cs typeface="Arial"/>
              </a:rPr>
              <a:t>IMD Criteria – </a:t>
            </a:r>
            <a:r>
              <a:rPr lang="en-IN" sz="1550" dirty="0">
                <a:solidFill>
                  <a:srgbClr val="0F172A"/>
                </a:solidFill>
                <a:latin typeface="Arial"/>
                <a:cs typeface="Arial"/>
              </a:rPr>
              <a:t>rainfall classes, squall &amp; cloudburst (≥100 mm/h)</a:t>
            </a:r>
            <a:endParaRPr sz="1550"/>
          </a:p>
          <a:p>
            <a:pPr algn="l" marL="0" indent="0">
              <a:spcBef>
                <a:spcPts val="2200"/>
              </a:spcBef>
              <a:spcAft>
                <a:spcPts val="0"/>
              </a:spcAft>
              <a:buNone/>
            </a:pPr>
            <a:r>
              <a:rPr lang="en-IN" sz="1600" dirty="0" b="1">
                <a:solidFill>
                  <a:srgbClr val="1B559B"/>
                </a:solidFill>
                <a:latin typeface="Arial"/>
                <a:cs typeface="Arial"/>
              </a:rPr>
              <a:t>Proven Implementations</a:t>
            </a:r>
            <a:endParaRPr sz="1600"/>
          </a:p>
          <a:p>
            <a:pPr algn="l" marL="292608" indent="-292608">
              <a:spcBef>
                <a:spcPts val="900"/>
              </a:spcBef>
              <a:spcAft>
                <a:spcPts val="0"/>
              </a:spcAft>
              <a:buClr>
                <a:srgbClr val="0066CC"/>
              </a:buClr>
              <a:buSzPct val="90000"/>
              <a:buFont typeface="Wingdings" pitchFamily="2" charset="2"/>
              <a:buChar char="v"/>
            </a:pPr>
            <a:r>
              <a:rPr lang="en-IN" sz="1550" dirty="0" b="1">
                <a:solidFill>
                  <a:srgbClr val="0F172A"/>
                </a:solidFill>
                <a:latin typeface="Arial"/>
                <a:cs typeface="Arial"/>
              </a:rPr>
              <a:t>IMD DWR Network – </a:t>
            </a:r>
            <a:r>
              <a:rPr lang="en-IN" sz="1550" dirty="0">
                <a:solidFill>
                  <a:srgbClr val="0F172A"/>
                </a:solidFill>
                <a:latin typeface="Arial"/>
                <a:cs typeface="Arial"/>
              </a:rPr>
              <a:t>operational district-level nowcasts</a:t>
            </a:r>
            <a:endParaRPr sz="1550"/>
          </a:p>
          <a:p>
            <a:pPr algn="l" marL="292608" indent="-292608">
              <a:spcBef>
                <a:spcPts val="900"/>
              </a:spcBef>
              <a:spcAft>
                <a:spcPts val="0"/>
              </a:spcAft>
              <a:buClr>
                <a:srgbClr val="0066CC"/>
              </a:buClr>
              <a:buSzPct val="90000"/>
              <a:buFont typeface="Wingdings" pitchFamily="2" charset="2"/>
              <a:buChar char="v"/>
            </a:pPr>
            <a:r>
              <a:rPr lang="en-IN" sz="1550" dirty="0" b="1">
                <a:solidFill>
                  <a:srgbClr val="0F172A"/>
                </a:solidFill>
                <a:latin typeface="Arial"/>
                <a:cs typeface="Arial"/>
              </a:rPr>
              <a:t>NOAA MRMS &amp; UK Met Office – </a:t>
            </a:r>
            <a:r>
              <a:rPr lang="en-IN" sz="1550" dirty="0">
                <a:solidFill>
                  <a:srgbClr val="0F172A"/>
                </a:solidFill>
                <a:latin typeface="Arial"/>
                <a:cs typeface="Arial"/>
              </a:rPr>
              <a:t>operational radar nowcasting systems</a:t>
            </a:r>
            <a:endParaRPr sz="1550"/>
          </a:p>
        </p:txBody>
      </p:sp>
      <p:sp>
        <p:nvSpPr>
          <p:cNvPr id="63" name="Rectangle 62"/>
          <p:cNvSpPr/>
          <p:nvPr/>
        </p:nvSpPr>
        <p:spPr>
          <a:xfrm>
            <a:off x="8915400" y="1600200"/>
            <a:ext cx="8549640" cy="7680960"/>
          </a:xfrm>
          <a:prstGeom prst="rect">
            <a:avLst/>
          </a:prstGeom>
          <a:solidFill>
            <a:srgbClr val="FFFFFF"/>
          </a:solidFill>
          <a:ln w="254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9144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dirty="0" b="1">
                <a:solidFill>
                  <a:srgbClr val="0066CC"/>
                </a:solidFill>
                <a:latin typeface="Arial"/>
                <a:cs typeface="Arial"/>
              </a:rPr>
              <a:t>BENCHMARKING: OUR TECH VS REAL-WORLD SYSTEMS</a:t>
            </a:r>
            <a:endParaRPr sz="1800"/>
          </a:p>
        </p:txBody>
      </p:sp>
      <p:graphicFrame>
        <p:nvGraphicFramePr>
          <p:cNvPr id="64" name="Table 63"/>
          <p:cNvGraphicFramePr>
            <a:graphicFrameLocks noGrp="1"/>
          </p:cNvGraphicFramePr>
          <p:nvPr/>
        </p:nvGraphicFramePr>
        <p:xfrm>
          <a:off x="9144000" y="2377440"/>
          <a:ext cx="8092440" cy="667512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240280"/>
                <a:gridCol w="2926080"/>
                <a:gridCol w="2926080"/>
              </a:tblGrid>
              <a:tr h="1112520">
                <a:tc>
                  <a:txBody>
                    <a:bodyPr wrap="square" lIns="137160" tIns="36576" rIns="91440" bIns="36576" anchor="ctr">
                      <a:noAutofit/>
                    </a:bodyPr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500" dirty="0" b="1">
                          <a:solidFill>
                            <a:srgbClr val="1B559B"/>
                          </a:solidFill>
                          <a:latin typeface="Arial"/>
                          <a:cs typeface="Arial"/>
                        </a:rPr>
                        <a:t>Feature</a:t>
                      </a:r>
                      <a:endParaRPr sz="1500"/>
                    </a:p>
                  </a:txBody>
                  <a:tcPr marL="137160" marR="91440" marT="36576" marB="36576" anchor="ctr">
                    <a:solidFill>
                      <a:srgbClr val="DBEAFE"/>
                    </a:solidFill>
                  </a:tcPr>
                </a:tc>
                <a:tc>
                  <a:txBody>
                    <a:bodyPr wrap="square" lIns="137160" tIns="36576" rIns="91440" bIns="36576" anchor="ctr">
                      <a:noAutofit/>
                    </a:bodyPr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500" dirty="0" b="1">
                          <a:solidFill>
                            <a:srgbClr val="1B559B"/>
                          </a:solidFill>
                          <a:latin typeface="Arial"/>
                          <a:cs typeface="Arial"/>
                        </a:rPr>
                        <a:t>Our Approach</a:t>
                      </a:r>
                      <a:endParaRPr sz="1500"/>
                    </a:p>
                  </a:txBody>
                  <a:tcPr marL="137160" marR="91440" marT="36576" marB="36576" anchor="ctr">
                    <a:solidFill>
                      <a:srgbClr val="DBEAFE"/>
                    </a:solidFill>
                  </a:tcPr>
                </a:tc>
                <a:tc>
                  <a:txBody>
                    <a:bodyPr wrap="square" lIns="137160" tIns="36576" rIns="91440" bIns="36576" anchor="ctr">
                      <a:noAutofit/>
                    </a:bodyPr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500" dirty="0" b="1">
                          <a:solidFill>
                            <a:srgbClr val="1B559B"/>
                          </a:solidFill>
                          <a:latin typeface="Arial"/>
                          <a:cs typeface="Arial"/>
                        </a:rPr>
                        <a:t>Real-World Benchmark</a:t>
                      </a:r>
                      <a:endParaRPr sz="1500"/>
                    </a:p>
                  </a:txBody>
                  <a:tcPr marL="137160" marR="91440" marT="36576" marB="36576" anchor="ctr">
                    <a:solidFill>
                      <a:srgbClr val="DBEAFE"/>
                    </a:solidFill>
                  </a:tcPr>
                </a:tc>
              </a:tr>
              <a:tr h="1112520">
                <a:tc>
                  <a:txBody>
                    <a:bodyPr wrap="square" lIns="137160" tIns="36576" rIns="91440" bIns="36576" anchor="ctr">
                      <a:noAutofit/>
                    </a:bodyPr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dirty="0" b="1">
                          <a:solidFill>
                            <a:srgbClr val="1B559B"/>
                          </a:solidFill>
                          <a:latin typeface="Arial"/>
                          <a:cs typeface="Arial"/>
                        </a:rPr>
                        <a:t>Data Fusion</a:t>
                      </a:r>
                      <a:endParaRPr sz="1400"/>
                    </a:p>
                  </a:txBody>
                  <a:tcPr marL="13716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7160" tIns="36576" rIns="91440" bIns="36576" anchor="ctr">
                      <a:noAutofit/>
                    </a:bodyPr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dirty="0">
                          <a:solidFill>
                            <a:srgbClr val="0F172A"/>
                          </a:solidFill>
                          <a:latin typeface="Arial"/>
                          <a:cs typeface="Arial"/>
                        </a:rPr>
                        <a:t>Radar + INSAT + lightning on a 2 km grid</a:t>
                      </a:r>
                      <a:endParaRPr sz="1400"/>
                    </a:p>
                  </a:txBody>
                  <a:tcPr marL="13716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7160" tIns="36576" rIns="91440" bIns="36576" anchor="ctr">
                      <a:noAutofit/>
                    </a:bodyPr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dirty="0">
                          <a:solidFill>
                            <a:srgbClr val="0F172A"/>
                          </a:solidFill>
                          <a:latin typeface="Arial"/>
                          <a:cs typeface="Arial"/>
                        </a:rPr>
                        <a:t>NOAA MRMS multi-radar multi-sensor</a:t>
                      </a:r>
                      <a:endParaRPr sz="1400"/>
                    </a:p>
                  </a:txBody>
                  <a:tcPr marL="137160" marR="91440" marT="36576" marB="36576" anchor="ctr">
                    <a:solidFill>
                      <a:srgbClr val="FFFFFF"/>
                    </a:solidFill>
                  </a:tcPr>
                </a:tc>
              </a:tr>
              <a:tr h="1112520">
                <a:tc>
                  <a:txBody>
                    <a:bodyPr wrap="square" lIns="137160" tIns="36576" rIns="91440" bIns="36576" anchor="ctr">
                      <a:noAutofit/>
                    </a:bodyPr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dirty="0" b="1">
                          <a:solidFill>
                            <a:srgbClr val="1B559B"/>
                          </a:solidFill>
                          <a:latin typeface="Arial"/>
                          <a:cs typeface="Arial"/>
                        </a:rPr>
                        <a:t>Nowcast Engine</a:t>
                      </a:r>
                      <a:endParaRPr sz="1400"/>
                    </a:p>
                  </a:txBody>
                  <a:tcPr marL="137160" marR="91440" marT="36576" marB="36576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lIns="137160" tIns="36576" rIns="91440" bIns="36576" anchor="ctr">
                      <a:noAutofit/>
                    </a:bodyPr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dirty="0">
                          <a:solidFill>
                            <a:srgbClr val="0F172A"/>
                          </a:solidFill>
                          <a:latin typeface="Arial"/>
                          <a:cs typeface="Arial"/>
                        </a:rPr>
                        <a:t>Semi-Lagrangian extrapolation + growth/decay</a:t>
                      </a:r>
                      <a:endParaRPr sz="1400"/>
                    </a:p>
                  </a:txBody>
                  <a:tcPr marL="137160" marR="91440" marT="36576" marB="36576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lIns="137160" tIns="36576" rIns="91440" bIns="36576" anchor="ctr">
                      <a:noAutofit/>
                    </a:bodyPr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dirty="0">
                          <a:solidFill>
                            <a:srgbClr val="0F172A"/>
                          </a:solidFill>
                          <a:latin typeface="Arial"/>
                          <a:cs typeface="Arial"/>
                        </a:rPr>
                        <a:t>pySTEPS, UK Met Office STEPS</a:t>
                      </a:r>
                      <a:endParaRPr sz="1400"/>
                    </a:p>
                  </a:txBody>
                  <a:tcPr marL="137160" marR="91440" marT="36576" marB="36576" anchor="ctr">
                    <a:solidFill>
                      <a:srgbClr val="F8FAFC"/>
                    </a:solidFill>
                  </a:tcPr>
                </a:tc>
              </a:tr>
              <a:tr h="1112520">
                <a:tc>
                  <a:txBody>
                    <a:bodyPr wrap="square" lIns="137160" tIns="36576" rIns="91440" bIns="36576" anchor="ctr">
                      <a:noAutofit/>
                    </a:bodyPr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dirty="0" b="1">
                          <a:solidFill>
                            <a:srgbClr val="1B559B"/>
                          </a:solidFill>
                          <a:latin typeface="Arial"/>
                          <a:cs typeface="Arial"/>
                        </a:rPr>
                        <a:t>Storm Tracking</a:t>
                      </a:r>
                      <a:endParaRPr sz="1400"/>
                    </a:p>
                  </a:txBody>
                  <a:tcPr marL="13716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7160" tIns="36576" rIns="91440" bIns="36576" anchor="ctr">
                      <a:noAutofit/>
                    </a:bodyPr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dirty="0">
                          <a:solidFill>
                            <a:srgbClr val="0F172A"/>
                          </a:solidFill>
                          <a:latin typeface="Arial"/>
                          <a:cs typeface="Arial"/>
                        </a:rPr>
                        <a:t>40 dBZ cell tracking + lightning jump</a:t>
                      </a:r>
                      <a:endParaRPr sz="1400"/>
                    </a:p>
                  </a:txBody>
                  <a:tcPr marL="13716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7160" tIns="36576" rIns="91440" bIns="36576" anchor="ctr">
                      <a:noAutofit/>
                    </a:bodyPr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dirty="0">
                          <a:solidFill>
                            <a:srgbClr val="0F172A"/>
                          </a:solidFill>
                          <a:latin typeface="Arial"/>
                          <a:cs typeface="Arial"/>
                        </a:rPr>
                        <a:t>NCAR TITAN, NOAA lightning-jump</a:t>
                      </a:r>
                      <a:endParaRPr sz="1400"/>
                    </a:p>
                  </a:txBody>
                  <a:tcPr marL="137160" marR="91440" marT="36576" marB="36576" anchor="ctr">
                    <a:solidFill>
                      <a:srgbClr val="FFFFFF"/>
                    </a:solidFill>
                  </a:tcPr>
                </a:tc>
              </a:tr>
              <a:tr h="1112520">
                <a:tc>
                  <a:txBody>
                    <a:bodyPr wrap="square" lIns="137160" tIns="36576" rIns="91440" bIns="36576" anchor="ctr">
                      <a:noAutofit/>
                    </a:bodyPr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dirty="0" b="1">
                          <a:solidFill>
                            <a:srgbClr val="1B559B"/>
                          </a:solidFill>
                          <a:latin typeface="Arial"/>
                          <a:cs typeface="Arial"/>
                        </a:rPr>
                        <a:t>Initiation Detection</a:t>
                      </a:r>
                      <a:endParaRPr sz="1400"/>
                    </a:p>
                  </a:txBody>
                  <a:tcPr marL="137160" marR="91440" marT="36576" marB="36576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lIns="137160" tIns="36576" rIns="91440" bIns="36576" anchor="ctr">
                      <a:noAutofit/>
                    </a:bodyPr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dirty="0">
                          <a:solidFill>
                            <a:srgbClr val="0F172A"/>
                          </a:solidFill>
                          <a:latin typeface="Arial"/>
                          <a:cs typeface="Arial"/>
                        </a:rPr>
                        <a:t>IR cloud-top cooling-rate CI</a:t>
                      </a:r>
                      <a:endParaRPr sz="1400"/>
                    </a:p>
                  </a:txBody>
                  <a:tcPr marL="137160" marR="91440" marT="36576" marB="36576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lIns="137160" tIns="36576" rIns="91440" bIns="36576" anchor="ctr">
                      <a:noAutofit/>
                    </a:bodyPr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dirty="0">
                          <a:solidFill>
                            <a:srgbClr val="0F172A"/>
                          </a:solidFill>
                          <a:latin typeface="Arial"/>
                          <a:cs typeface="Arial"/>
                        </a:rPr>
                        <a:t>SATCAST (GOES), EUMETSAT NWC SAF</a:t>
                      </a:r>
                      <a:endParaRPr sz="1400"/>
                    </a:p>
                  </a:txBody>
                  <a:tcPr marL="137160" marR="91440" marT="36576" marB="36576" anchor="ctr">
                    <a:solidFill>
                      <a:srgbClr val="F8FAFC"/>
                    </a:solidFill>
                  </a:tcPr>
                </a:tc>
              </a:tr>
              <a:tr h="1112520">
                <a:tc>
                  <a:txBody>
                    <a:bodyPr wrap="square" lIns="137160" tIns="36576" rIns="91440" bIns="36576" anchor="ctr">
                      <a:noAutofit/>
                    </a:bodyPr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dirty="0" b="1">
                          <a:solidFill>
                            <a:srgbClr val="1B559B"/>
                          </a:solidFill>
                          <a:latin typeface="Arial"/>
                          <a:cs typeface="Arial"/>
                        </a:rPr>
                        <a:t>Warning Delivery</a:t>
                      </a:r>
                      <a:endParaRPr sz="1400"/>
                    </a:p>
                  </a:txBody>
                  <a:tcPr marL="13716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7160" tIns="36576" rIns="91440" bIns="36576" anchor="ctr">
                      <a:noAutofit/>
                    </a:bodyPr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dirty="0">
                          <a:solidFill>
                            <a:srgbClr val="0F172A"/>
                          </a:solidFill>
                          <a:latin typeface="Arial"/>
                          <a:cs typeface="Arial"/>
                        </a:rPr>
                        <a:t>City ETAs, GIS map, AI assistant, exports</a:t>
                      </a:r>
                      <a:endParaRPr sz="1400"/>
                    </a:p>
                  </a:txBody>
                  <a:tcPr marL="13716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7160" tIns="36576" rIns="91440" bIns="36576" anchor="ctr">
                      <a:noAutofit/>
                    </a:bodyPr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dirty="0">
                          <a:solidFill>
                            <a:srgbClr val="0F172A"/>
                          </a:solidFill>
                          <a:latin typeface="Arial"/>
                          <a:cs typeface="Arial"/>
                        </a:rPr>
                        <a:t>IMD district nowcasts, Damini app</a:t>
                      </a:r>
                      <a:endParaRPr sz="1400"/>
                    </a:p>
                  </a:txBody>
                  <a:tcPr marL="137160" marR="91440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66CC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2026-09-18T21:56:14Z</dcterms:created>
  <dcterms:modified xsi:type="dcterms:W3CDTF">2026-09-18T21:56:14Z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StructuredOutput v10.0.19912.1</vt:lpwstr>
  </property>
  <property fmtid="{D5CDD505-2E9C-101B-9397-08002B2CF9AE}" pid="3" name="Created">
    <vt:filetime>2026-09-18T00:00:00Z</vt:filetime>
  </property>
  <property fmtid="{D5CDD505-2E9C-101B-9397-08002B2CF9AE}" pid="4" name="CreationClient">
    <vt:lpwstr>pptx-direct-import</vt:lpwstr>
  </property>
  <property fmtid="{D5CDD505-2E9C-101B-9397-08002B2CF9AE}" pid="5" name="Creator">
    <vt:lpwstr>Adobe Express</vt:lpwstr>
  </property>
  <property fmtid="{D5CDD505-2E9C-101B-9397-08002B2CF9AE}" pid="6" name="LastSaved">
    <vt:filetime>2026-09-18T00:00:00Z</vt:filetime>
  </property>
  <property fmtid="{D5CDD505-2E9C-101B-9397-08002B2CF9AE}" pid="7" name="Producer">
    <vt:lpwstr>Adobe Express</vt:lpwstr>
  </property>
</Properties>
</file>
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Bumblebee, solving SIH26084: real-time nowcasting of severe convective storms. Our prototype is called BUMBLEBLE. In one line: it tells every city, airport and village exactly when a thunderstorm will hit them, up to six hours ahead, at 2 km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lightning is India's biggest natural-disaster killer, and pre-monsoon Nor'westers form in minutes, too fast and too small for weather models. BUMBLEBLE fuses Doppler radar, INSAT-3DR satellite and lightning data on one 2 km grid, spots storms forming before radar sees them, and forecasts four hazards: lightning, hail, downburst winds and cloudbursts. The screenshot is the working prototype: every place gets a live countdown. It keeps working when a radar fails, it scores its own accuracy live, and a Gemini assistant answers questions in English or Hindi.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there are three stages. One: ingest and fuse. We quality-control each feed, correct satellite parallax, and build one fused grid. Two: detect and nowcast. We estimate storm motion by FFT phase correlation, track storm cells, detect convective initiation and lightning jumps, then extrapolate 0 to 6 hours with growth and decay. Hazard physics come from published relations: VIL for hail, Stewart's formula for gusts. Three: alert. Arrival countdowns, GIS maps, the AI assistant and exports. The stack is Python, FastAPI, NumPy, Leaflet and WebGL, packaged in one Docker container.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feasible today. Data cost is near zero: we already run on free live radar, and the IMD and INSAT adapters are built. It needs one CPU container: a full 0-to-6-hour forecast takes under 15 seconds on a laptop. In a 150-minute simulated Nor'wester, our 30-minute forecast scored a CSI of 0.55, seven times better than persistence, caught 86% of storm areas, and flagged new storms about 15 minutes before radar. The main risk is access to INSAT and lightning feeds, which we address through MOSDAC and IMD/IITM data access; meanwhile the system degrades gracefully.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district authorities get block-level warnings instead of district-wide ones; airports get gust and wind-shear countdowns; farmers get hail and cloudburst warnings in their language. Nationally this saves lives from lightning, protects crops, flights and power lines, and supports Mission Mausam with open, plug-in standards.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methods are grounded in published research: radar extrapolation, pySTEPS, TITAN cell tracking, SATCAST convective initiation, the lightning-jump algorithm, VIL-density hail and Stewart gusts, and we benchmark against operational systems like NOAA MRMS, UK Met Office STEPS, EUMETSAT and IMD's own nowcasts. And this is not a concept, it is running: on the right is the 30-minute hail forecast and our AI assistant answering from live data. Nine of nine tests pass, it runs on real radar today and deploys as one container. Thank you. We'd love to show you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400" b="1" i="0">
                <a:solidFill>
                  <a:schemeClr val="tx1"/>
                </a:solidFill>
                <a:latin typeface="Times New Roman"/>
                <a:cs typeface="Times New Roman"/>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idx="2" sz="half"/>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9559506"/>
            <a:ext cx="18288000" cy="727494"/>
          </a:xfrm>
          <a:prstGeom prst="rect">
            <a:avLst/>
          </a:prstGeom>
        </p:spPr>
      </p:pic>
      <p:sp>
        <p:nvSpPr>
          <p:cNvPr id="17" name="bg object 17"/>
          <p:cNvSpPr/>
          <p:nvPr/>
        </p:nvSpPr>
        <p:spPr>
          <a:xfrm>
            <a:off x="0" y="9532137"/>
            <a:ext cx="18288000" cy="755015"/>
          </a:xfrm>
          <a:custGeom>
            <a:avLst/>
            <a:gdLst/>
            <a:ahLst/>
            <a:cxnLst/>
            <a:rect l="l" t="t" r="r" b="b"/>
            <a:pathLst>
              <a:path w="18288000" h="755015">
                <a:moveTo>
                  <a:pt x="18288000" y="0"/>
                </a:moveTo>
                <a:lnTo>
                  <a:pt x="0" y="0"/>
                </a:lnTo>
                <a:lnTo>
                  <a:pt x="0" y="754862"/>
                </a:lnTo>
                <a:lnTo>
                  <a:pt x="18288000" y="754862"/>
                </a:lnTo>
                <a:lnTo>
                  <a:pt x="18288000" y="0"/>
                </a:lnTo>
                <a:close/>
              </a:path>
            </a:pathLst>
          </a:custGeom>
          <a:solidFill>
            <a:srgbClr val="0070C0"/>
          </a:solidFill>
        </p:spPr>
        <p:txBody>
          <a:bodyPr wrap="square" lIns="0" tIns="0" rIns="0" bIns="0" rtlCol="0"/>
          <a:lstStyle/>
          <a:p/>
        </p:txBody>
      </p:sp>
      <p:sp>
        <p:nvSpPr>
          <p:cNvPr id="2" name="Holder 2"/>
          <p:cNvSpPr>
            <a:spLocks noGrp="1"/>
          </p:cNvSpPr>
          <p:nvPr>
            <p:ph type="title"/>
          </p:nvPr>
        </p:nvSpPr>
        <p:spPr>
          <a:xfrm>
            <a:off x="3939199" y="298276"/>
            <a:ext cx="10409600" cy="848360"/>
          </a:xfrm>
          <a:prstGeom prst="rect">
            <a:avLst/>
          </a:prstGeom>
        </p:spPr>
        <p:txBody>
          <a:bodyPr wrap="square" lIns="0" tIns="0" rIns="0" bIns="0">
            <a:spAutoFit/>
          </a:bodyPr>
          <a:lstStyle>
            <a:lvl1pPr>
              <a:defRPr sz="5400" b="1" i="0">
                <a:solidFill>
                  <a:schemeClr val="tx1"/>
                </a:solidFill>
                <a:latin typeface="Times New Roman"/>
                <a:cs typeface="Times New Roman"/>
              </a:defRPr>
            </a:lvl1pPr>
          </a:lstStyle>
          <a:p/>
        </p:txBody>
      </p:sp>
      <p:sp>
        <p:nvSpPr>
          <p:cNvPr id="3" name="Holder 3"/>
          <p:cNvSpPr>
            <a:spLocks noGrp="1"/>
          </p:cNvSpPr>
          <p:nvPr>
            <p:ph type="body" idx="1"/>
          </p:nvPr>
        </p:nvSpPr>
        <p:spPr>
          <a:xfrm>
            <a:off x="8923399" y="2395538"/>
            <a:ext cx="8640444" cy="2148204"/>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7750099" y="9635368"/>
            <a:ext cx="3250565" cy="313690"/>
          </a:xfrm>
          <a:prstGeom prst="rect">
            <a:avLst/>
          </a:prstGeom>
        </p:spPr>
        <p:txBody>
          <a:bodyPr wrap="square" lIns="0" tIns="0" rIns="0" bIns="0">
            <a:spAutoFit/>
          </a:bodyPr>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17104614" y="9656285"/>
            <a:ext cx="182880" cy="288925"/>
          </a:xfrm>
          <a:prstGeom prst="rect">
            <a:avLst/>
          </a:prstGeom>
        </p:spPr>
        <p:txBody>
          <a:bodyPr wrap="square" lIns="0" tIns="0" rIns="0" bIns="0">
            <a:spAutoFit/>
          </a:bodyPr>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hyperlink" Target="http://localhost:8000" TargetMode="External"/><Relationship Id="rId10" Type="http://schemas.openxmlformats.org/officeDocument/2006/relationships/image" Target="../media/image56.jp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3.png"/><Relationship Id="rId21" Type="http://schemas.openxmlformats.org/officeDocument/2006/relationships/image" Target="../media/image42.png"/><Relationship Id="rId22" Type="http://schemas.openxmlformats.org/officeDocument/2006/relationships/image" Target="../media/image43.png"/><Relationship Id="rId23" Type="http://schemas.openxmlformats.org/officeDocument/2006/relationships/image" Target="../media/image44.png"/><Relationship Id="rId24" Type="http://schemas.openxmlformats.org/officeDocument/2006/relationships/image" Target="../media/image45.png"/><Relationship Id="rId25" Type="http://schemas.openxmlformats.org/officeDocument/2006/relationships/image" Target="../media/image46.png"/><Relationship Id="rId26" Type="http://schemas.openxmlformats.org/officeDocument/2006/relationships/image" Target="../media/image47.png"/><Relationship Id="rId27" Type="http://schemas.openxmlformats.org/officeDocument/2006/relationships/image" Target="../media/image48.png"/><Relationship Id="rId28" Type="http://schemas.openxmlformats.org/officeDocument/2006/relationships/image" Target="../media/image49.png"/><Relationship Id="rId29" Type="http://schemas.openxmlformats.org/officeDocument/2006/relationships/image" Target="../media/image50.png"/><Relationship Id="rId30" Type="http://schemas.openxmlformats.org/officeDocument/2006/relationships/image" Target="../media/image51.png"/><Relationship Id="rId31" Type="http://schemas.openxmlformats.org/officeDocument/2006/relationships/image" Target="../media/image52.png"/><Relationship Id="rId32" Type="http://schemas.openxmlformats.org/officeDocument/2006/relationships/image" Target="../media/image53.png"/><Relationship Id="rId33" Type="http://schemas.openxmlformats.org/officeDocument/2006/relationships/image" Target="../media/image54.png"/><Relationship Id="rId34" Type="http://schemas.openxmlformats.org/officeDocument/2006/relationships/image" Target="../media/image55.png"/><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28.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058400" y="1783080"/>
            <a:ext cx="6958330" cy="7733030"/>
            <a:chOff x="8485169" y="1277282"/>
            <a:chExt cx="6958330" cy="7733030"/>
          </a:xfrm>
        </p:grpSpPr>
        <p:sp>
          <p:nvSpPr>
            <p:cNvPr id="3" name="object 3"/>
            <p:cNvSpPr/>
            <p:nvPr/>
          </p:nvSpPr>
          <p:spPr>
            <a:xfrm>
              <a:off x="8485169" y="1277282"/>
              <a:ext cx="6958330" cy="7733030"/>
            </a:xfrm>
            <a:custGeom>
              <a:avLst/>
              <a:gdLst/>
              <a:ahLst/>
              <a:cxnLst/>
              <a:rect l="l" t="t" r="r" b="b"/>
              <a:pathLst>
                <a:path w="6958330" h="7733030">
                  <a:moveTo>
                    <a:pt x="2809862" y="0"/>
                  </a:moveTo>
                  <a:lnTo>
                    <a:pt x="1769922" y="0"/>
                  </a:lnTo>
                  <a:lnTo>
                    <a:pt x="1730468" y="5586"/>
                  </a:lnTo>
                  <a:lnTo>
                    <a:pt x="1693600" y="21773"/>
                  </a:lnTo>
                  <a:lnTo>
                    <a:pt x="1660289" y="47698"/>
                  </a:lnTo>
                  <a:lnTo>
                    <a:pt x="1631508" y="82502"/>
                  </a:lnTo>
                  <a:lnTo>
                    <a:pt x="1608226" y="125323"/>
                  </a:lnTo>
                  <a:lnTo>
                    <a:pt x="1089367" y="1321790"/>
                  </a:lnTo>
                  <a:lnTo>
                    <a:pt x="1073189" y="1368721"/>
                  </a:lnTo>
                  <a:lnTo>
                    <a:pt x="1065099" y="1418659"/>
                  </a:lnTo>
                  <a:lnTo>
                    <a:pt x="1065099" y="1469599"/>
                  </a:lnTo>
                  <a:lnTo>
                    <a:pt x="1073189" y="1519537"/>
                  </a:lnTo>
                  <a:lnTo>
                    <a:pt x="1089367" y="1566468"/>
                  </a:lnTo>
                  <a:lnTo>
                    <a:pt x="1608226" y="2762948"/>
                  </a:lnTo>
                  <a:lnTo>
                    <a:pt x="1638222" y="2815250"/>
                  </a:lnTo>
                  <a:lnTo>
                    <a:pt x="1676438" y="2854693"/>
                  </a:lnTo>
                  <a:lnTo>
                    <a:pt x="1677797" y="2855468"/>
                  </a:lnTo>
                  <a:lnTo>
                    <a:pt x="1180401" y="4002455"/>
                  </a:lnTo>
                  <a:lnTo>
                    <a:pt x="1162019" y="4047839"/>
                  </a:lnTo>
                  <a:lnTo>
                    <a:pt x="1146979" y="4094949"/>
                  </a:lnTo>
                  <a:lnTo>
                    <a:pt x="1135281" y="4143441"/>
                  </a:lnTo>
                  <a:lnTo>
                    <a:pt x="1126926" y="4192968"/>
                  </a:lnTo>
                  <a:lnTo>
                    <a:pt x="1121912" y="4243186"/>
                  </a:lnTo>
                  <a:lnTo>
                    <a:pt x="1120241" y="4293749"/>
                  </a:lnTo>
                  <a:lnTo>
                    <a:pt x="1121912" y="4344312"/>
                  </a:lnTo>
                  <a:lnTo>
                    <a:pt x="1126926" y="4394530"/>
                  </a:lnTo>
                  <a:lnTo>
                    <a:pt x="1135281" y="4444057"/>
                  </a:lnTo>
                  <a:lnTo>
                    <a:pt x="1146979" y="4492548"/>
                  </a:lnTo>
                  <a:lnTo>
                    <a:pt x="1162019" y="4539659"/>
                  </a:lnTo>
                  <a:lnTo>
                    <a:pt x="1180401" y="4585042"/>
                  </a:lnTo>
                  <a:lnTo>
                    <a:pt x="2415870" y="7434059"/>
                  </a:lnTo>
                  <a:lnTo>
                    <a:pt x="2439302" y="7482644"/>
                  </a:lnTo>
                  <a:lnTo>
                    <a:pt x="2465700" y="7527513"/>
                  </a:lnTo>
                  <a:lnTo>
                    <a:pt x="2494847" y="7568475"/>
                  </a:lnTo>
                  <a:lnTo>
                    <a:pt x="2526527" y="7605337"/>
                  </a:lnTo>
                  <a:lnTo>
                    <a:pt x="2560521" y="7637907"/>
                  </a:lnTo>
                  <a:lnTo>
                    <a:pt x="2596613" y="7665993"/>
                  </a:lnTo>
                  <a:lnTo>
                    <a:pt x="2634587" y="7689404"/>
                  </a:lnTo>
                  <a:lnTo>
                    <a:pt x="2674224" y="7707946"/>
                  </a:lnTo>
                  <a:lnTo>
                    <a:pt x="2715307" y="7721429"/>
                  </a:lnTo>
                  <a:lnTo>
                    <a:pt x="2757621" y="7729659"/>
                  </a:lnTo>
                  <a:lnTo>
                    <a:pt x="2800946" y="7732445"/>
                  </a:lnTo>
                  <a:lnTo>
                    <a:pt x="5277205" y="7732445"/>
                  </a:lnTo>
                  <a:lnTo>
                    <a:pt x="5319321" y="7729659"/>
                  </a:lnTo>
                  <a:lnTo>
                    <a:pt x="5360859" y="7721429"/>
                  </a:lnTo>
                  <a:lnTo>
                    <a:pt x="5401503" y="7707946"/>
                  </a:lnTo>
                  <a:lnTo>
                    <a:pt x="5440942" y="7689404"/>
                  </a:lnTo>
                  <a:lnTo>
                    <a:pt x="5478862" y="7665993"/>
                  </a:lnTo>
                  <a:lnTo>
                    <a:pt x="5514950" y="7637907"/>
                  </a:lnTo>
                  <a:lnTo>
                    <a:pt x="5548892" y="7605337"/>
                  </a:lnTo>
                  <a:lnTo>
                    <a:pt x="5580375" y="7568475"/>
                  </a:lnTo>
                  <a:lnTo>
                    <a:pt x="5609085" y="7527513"/>
                  </a:lnTo>
                  <a:lnTo>
                    <a:pt x="5634710" y="7482644"/>
                  </a:lnTo>
                  <a:lnTo>
                    <a:pt x="5656935" y="7434059"/>
                  </a:lnTo>
                  <a:lnTo>
                    <a:pt x="6897738" y="4585042"/>
                  </a:lnTo>
                  <a:lnTo>
                    <a:pt x="6916120" y="4539659"/>
                  </a:lnTo>
                  <a:lnTo>
                    <a:pt x="6931160" y="4492548"/>
                  </a:lnTo>
                  <a:lnTo>
                    <a:pt x="6942858" y="4444057"/>
                  </a:lnTo>
                  <a:lnTo>
                    <a:pt x="6951213" y="4394530"/>
                  </a:lnTo>
                  <a:lnTo>
                    <a:pt x="6956227" y="4344312"/>
                  </a:lnTo>
                  <a:lnTo>
                    <a:pt x="6957898" y="4293749"/>
                  </a:lnTo>
                  <a:lnTo>
                    <a:pt x="6956227" y="4243186"/>
                  </a:lnTo>
                  <a:lnTo>
                    <a:pt x="6951213" y="4192968"/>
                  </a:lnTo>
                  <a:lnTo>
                    <a:pt x="6942858" y="4143441"/>
                  </a:lnTo>
                  <a:lnTo>
                    <a:pt x="6931160" y="4094949"/>
                  </a:lnTo>
                  <a:lnTo>
                    <a:pt x="6916120" y="4047839"/>
                  </a:lnTo>
                  <a:lnTo>
                    <a:pt x="6897738" y="4002455"/>
                  </a:lnTo>
                  <a:lnTo>
                    <a:pt x="6406386" y="2874264"/>
                  </a:lnTo>
                  <a:lnTo>
                    <a:pt x="1765515" y="2874264"/>
                  </a:lnTo>
                  <a:lnTo>
                    <a:pt x="1752967" y="2873706"/>
                  </a:lnTo>
                  <a:lnTo>
                    <a:pt x="1740603" y="2872055"/>
                  </a:lnTo>
                  <a:lnTo>
                    <a:pt x="1728455" y="2869340"/>
                  </a:lnTo>
                  <a:lnTo>
                    <a:pt x="1716559" y="2865590"/>
                  </a:lnTo>
                  <a:lnTo>
                    <a:pt x="1687626" y="2849397"/>
                  </a:lnTo>
                  <a:lnTo>
                    <a:pt x="1753044" y="2698534"/>
                  </a:lnTo>
                  <a:lnTo>
                    <a:pt x="1746046" y="2694647"/>
                  </a:lnTo>
                  <a:lnTo>
                    <a:pt x="1712167" y="2659665"/>
                  </a:lnTo>
                  <a:lnTo>
                    <a:pt x="1685556" y="2613291"/>
                  </a:lnTo>
                  <a:lnTo>
                    <a:pt x="1225588" y="1552587"/>
                  </a:lnTo>
                  <a:lnTo>
                    <a:pt x="1211250" y="1510983"/>
                  </a:lnTo>
                  <a:lnTo>
                    <a:pt x="1204081" y="1466711"/>
                  </a:lnTo>
                  <a:lnTo>
                    <a:pt x="1204081" y="1421551"/>
                  </a:lnTo>
                  <a:lnTo>
                    <a:pt x="1211250" y="1377282"/>
                  </a:lnTo>
                  <a:lnTo>
                    <a:pt x="1225588" y="1335684"/>
                  </a:lnTo>
                  <a:lnTo>
                    <a:pt x="1685556" y="274967"/>
                  </a:lnTo>
                  <a:lnTo>
                    <a:pt x="1712160" y="228590"/>
                  </a:lnTo>
                  <a:lnTo>
                    <a:pt x="1746045" y="193624"/>
                  </a:lnTo>
                  <a:lnTo>
                    <a:pt x="1785528" y="171554"/>
                  </a:lnTo>
                  <a:lnTo>
                    <a:pt x="1828927" y="163868"/>
                  </a:lnTo>
                  <a:lnTo>
                    <a:pt x="2986136" y="163868"/>
                  </a:lnTo>
                  <a:lnTo>
                    <a:pt x="2969348" y="125323"/>
                  </a:lnTo>
                  <a:lnTo>
                    <a:pt x="2940323" y="73016"/>
                  </a:lnTo>
                  <a:lnTo>
                    <a:pt x="2902240" y="33572"/>
                  </a:lnTo>
                  <a:lnTo>
                    <a:pt x="2857840" y="8673"/>
                  </a:lnTo>
                  <a:lnTo>
                    <a:pt x="2809862" y="0"/>
                  </a:lnTo>
                  <a:close/>
                </a:path>
                <a:path w="6958330" h="7733030">
                  <a:moveTo>
                    <a:pt x="1010551" y="4687785"/>
                  </a:moveTo>
                  <a:lnTo>
                    <a:pt x="408584" y="4687785"/>
                  </a:lnTo>
                  <a:lnTo>
                    <a:pt x="380245" y="4692805"/>
                  </a:lnTo>
                  <a:lnTo>
                    <a:pt x="332339" y="4730042"/>
                  </a:lnTo>
                  <a:lnTo>
                    <a:pt x="14630" y="5452910"/>
                  </a:lnTo>
                  <a:lnTo>
                    <a:pt x="0" y="5523730"/>
                  </a:lnTo>
                  <a:lnTo>
                    <a:pt x="3657" y="5560271"/>
                  </a:lnTo>
                  <a:lnTo>
                    <a:pt x="314972" y="6287122"/>
                  </a:lnTo>
                  <a:lnTo>
                    <a:pt x="354463" y="6340238"/>
                  </a:lnTo>
                  <a:lnTo>
                    <a:pt x="408584" y="6359664"/>
                  </a:lnTo>
                  <a:lnTo>
                    <a:pt x="1010551" y="6359664"/>
                  </a:lnTo>
                  <a:lnTo>
                    <a:pt x="1064025" y="6340238"/>
                  </a:lnTo>
                  <a:lnTo>
                    <a:pt x="1102868" y="6287122"/>
                  </a:lnTo>
                  <a:lnTo>
                    <a:pt x="1404505" y="5594540"/>
                  </a:lnTo>
                  <a:lnTo>
                    <a:pt x="1419136" y="5523730"/>
                  </a:lnTo>
                  <a:lnTo>
                    <a:pt x="1415478" y="5487186"/>
                  </a:lnTo>
                  <a:lnTo>
                    <a:pt x="1102868" y="4760315"/>
                  </a:lnTo>
                  <a:lnTo>
                    <a:pt x="1064025" y="4707215"/>
                  </a:lnTo>
                  <a:lnTo>
                    <a:pt x="1010551" y="4687785"/>
                  </a:lnTo>
                  <a:close/>
                </a:path>
                <a:path w="6958330" h="7733030">
                  <a:moveTo>
                    <a:pt x="5277205" y="855052"/>
                  </a:moveTo>
                  <a:lnTo>
                    <a:pt x="3288855" y="855052"/>
                  </a:lnTo>
                  <a:lnTo>
                    <a:pt x="3486035" y="1307795"/>
                  </a:lnTo>
                  <a:lnTo>
                    <a:pt x="3502208" y="1354726"/>
                  </a:lnTo>
                  <a:lnTo>
                    <a:pt x="3510294" y="1404664"/>
                  </a:lnTo>
                  <a:lnTo>
                    <a:pt x="3510294" y="1455604"/>
                  </a:lnTo>
                  <a:lnTo>
                    <a:pt x="3502208" y="1505542"/>
                  </a:lnTo>
                  <a:lnTo>
                    <a:pt x="3485985" y="1552587"/>
                  </a:lnTo>
                  <a:lnTo>
                    <a:pt x="2964942" y="2748940"/>
                  </a:lnTo>
                  <a:lnTo>
                    <a:pt x="2935918" y="2801247"/>
                  </a:lnTo>
                  <a:lnTo>
                    <a:pt x="2897839" y="2840691"/>
                  </a:lnTo>
                  <a:lnTo>
                    <a:pt x="2853444" y="2865590"/>
                  </a:lnTo>
                  <a:lnTo>
                    <a:pt x="2805468" y="2874264"/>
                  </a:lnTo>
                  <a:lnTo>
                    <a:pt x="6406386" y="2874264"/>
                  </a:lnTo>
                  <a:lnTo>
                    <a:pt x="5656935" y="1153452"/>
                  </a:lnTo>
                  <a:lnTo>
                    <a:pt x="5634710" y="1104869"/>
                  </a:lnTo>
                  <a:lnTo>
                    <a:pt x="5609085" y="1060001"/>
                  </a:lnTo>
                  <a:lnTo>
                    <a:pt x="5580375" y="1019039"/>
                  </a:lnTo>
                  <a:lnTo>
                    <a:pt x="5548892" y="982176"/>
                  </a:lnTo>
                  <a:lnTo>
                    <a:pt x="5514950" y="949603"/>
                  </a:lnTo>
                  <a:lnTo>
                    <a:pt x="5478862" y="921514"/>
                  </a:lnTo>
                  <a:lnTo>
                    <a:pt x="5440942" y="898101"/>
                  </a:lnTo>
                  <a:lnTo>
                    <a:pt x="5401503" y="879556"/>
                  </a:lnTo>
                  <a:lnTo>
                    <a:pt x="5360859" y="866071"/>
                  </a:lnTo>
                  <a:lnTo>
                    <a:pt x="5319321" y="857839"/>
                  </a:lnTo>
                  <a:lnTo>
                    <a:pt x="5277205" y="855052"/>
                  </a:lnTo>
                  <a:close/>
                </a:path>
                <a:path w="6958330" h="7733030">
                  <a:moveTo>
                    <a:pt x="3146590" y="855052"/>
                  </a:moveTo>
                  <a:lnTo>
                    <a:pt x="2800946" y="855052"/>
                  </a:lnTo>
                  <a:lnTo>
                    <a:pt x="2757621" y="857839"/>
                  </a:lnTo>
                  <a:lnTo>
                    <a:pt x="2715307" y="866071"/>
                  </a:lnTo>
                  <a:lnTo>
                    <a:pt x="2674224" y="879556"/>
                  </a:lnTo>
                  <a:lnTo>
                    <a:pt x="2634587" y="898101"/>
                  </a:lnTo>
                  <a:lnTo>
                    <a:pt x="2596613" y="921514"/>
                  </a:lnTo>
                  <a:lnTo>
                    <a:pt x="2560521" y="949603"/>
                  </a:lnTo>
                  <a:lnTo>
                    <a:pt x="2526527" y="982176"/>
                  </a:lnTo>
                  <a:lnTo>
                    <a:pt x="2494847" y="1019039"/>
                  </a:lnTo>
                  <a:lnTo>
                    <a:pt x="2465700" y="1060001"/>
                  </a:lnTo>
                  <a:lnTo>
                    <a:pt x="2439302" y="1104869"/>
                  </a:lnTo>
                  <a:lnTo>
                    <a:pt x="2415870" y="1153452"/>
                  </a:lnTo>
                  <a:lnTo>
                    <a:pt x="1751266" y="2686024"/>
                  </a:lnTo>
                  <a:lnTo>
                    <a:pt x="1781124" y="2702712"/>
                  </a:lnTo>
                  <a:lnTo>
                    <a:pt x="1791671" y="2706034"/>
                  </a:lnTo>
                  <a:lnTo>
                    <a:pt x="1802436" y="2708440"/>
                  </a:lnTo>
                  <a:lnTo>
                    <a:pt x="1813394" y="2709902"/>
                  </a:lnTo>
                  <a:lnTo>
                    <a:pt x="1824520" y="2710395"/>
                  </a:lnTo>
                  <a:lnTo>
                    <a:pt x="2746463" y="2710395"/>
                  </a:lnTo>
                  <a:lnTo>
                    <a:pt x="2788966" y="2702712"/>
                  </a:lnTo>
                  <a:lnTo>
                    <a:pt x="2828347" y="2680635"/>
                  </a:lnTo>
                  <a:lnTo>
                    <a:pt x="2862099" y="2645668"/>
                  </a:lnTo>
                  <a:lnTo>
                    <a:pt x="2887827" y="2599296"/>
                  </a:lnTo>
                  <a:lnTo>
                    <a:pt x="3349802" y="1538579"/>
                  </a:lnTo>
                  <a:lnTo>
                    <a:pt x="3364146" y="1496981"/>
                  </a:lnTo>
                  <a:lnTo>
                    <a:pt x="3371318" y="1452712"/>
                  </a:lnTo>
                  <a:lnTo>
                    <a:pt x="3371318" y="1407552"/>
                  </a:lnTo>
                  <a:lnTo>
                    <a:pt x="3364146" y="1363280"/>
                  </a:lnTo>
                  <a:lnTo>
                    <a:pt x="3349842" y="1321790"/>
                  </a:lnTo>
                  <a:lnTo>
                    <a:pt x="3146590" y="855052"/>
                  </a:lnTo>
                  <a:close/>
                </a:path>
                <a:path w="6958330" h="7733030">
                  <a:moveTo>
                    <a:pt x="2986136" y="163868"/>
                  </a:moveTo>
                  <a:lnTo>
                    <a:pt x="2750870" y="163868"/>
                  </a:lnTo>
                  <a:lnTo>
                    <a:pt x="2793399" y="171554"/>
                  </a:lnTo>
                  <a:lnTo>
                    <a:pt x="2832760" y="193624"/>
                  </a:lnTo>
                  <a:lnTo>
                    <a:pt x="2866520" y="228590"/>
                  </a:lnTo>
                  <a:lnTo>
                    <a:pt x="2892247" y="274967"/>
                  </a:lnTo>
                  <a:lnTo>
                    <a:pt x="3138157" y="839584"/>
                  </a:lnTo>
                  <a:lnTo>
                    <a:pt x="3280435" y="839584"/>
                  </a:lnTo>
                  <a:lnTo>
                    <a:pt x="2986136" y="163868"/>
                  </a:lnTo>
                  <a:close/>
                </a:path>
              </a:pathLst>
            </a:custGeom>
            <a:solidFill>
              <a:srgbClr val="808080">
                <a:alpha val="14900"/>
              </a:srgbClr>
            </a:solidFill>
          </p:spPr>
          <p:txBody>
            <a:bodyPr wrap="square" lIns="0" tIns="0" rIns="0" bIns="0" rtlCol="0"/>
            <a:lstStyle/>
            <a:p/>
          </p:txBody>
        </p:sp>
        <p:pic>
          <p:nvPicPr>
            <p:cNvPr id="4" name="object 4"/>
            <p:cNvPicPr/>
            <p:nvPr/>
          </p:nvPicPr>
          <p:blipFill>
            <a:blip r:embed="rId2" cstate="print"/>
            <a:stretch>
              <a:fillRect/>
            </a:stretch>
          </p:blipFill>
          <p:spPr>
            <a:xfrm>
              <a:off x="10282339" y="2573821"/>
              <a:ext cx="4805260" cy="5139358"/>
            </a:xfrm>
            <a:prstGeom prst="rect">
              <a:avLst/>
            </a:prstGeom>
          </p:spPr>
        </p:pic>
      </p:grpSp>
      <p:sp>
        <p:nvSpPr>
          <p:cNvPr id="5" name="Hexagon 4"/>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7" name="TextBox 6"/>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TITLE PAGE</a:t>
            </a:r>
            <a:endParaRPr sz="5400"/>
          </a:p>
        </p:txBody>
      </p:sp>
      <p:pic>
        <p:nvPicPr>
          <p:cNvPr id="8" name="Picture 7" descr="image.png"/>
          <p:cNvPicPr>
            <a:picLocks noChangeAspect="1"/>
          </p:cNvPicPr>
          <p:nvPr/>
        </p:nvPicPr>
        <p:blipFill>
          <a:blip r:embed="rId3"/>
          <a:stretch>
            <a:fillRect/>
          </a:stretch>
        </p:blipFill>
        <p:spPr>
          <a:xfrm>
            <a:off x="14666976" y="0"/>
            <a:ext cx="3374136" cy="1591056"/>
          </a:xfrm>
          <a:prstGeom prst="rect">
            <a:avLst/>
          </a:prstGeom>
        </p:spPr>
      </p:pic>
      <p:sp>
        <p:nvSpPr>
          <p:cNvPr id="9" name="TextBox 8"/>
          <p:cNvSpPr txBox="1"/>
          <p:nvPr/>
        </p:nvSpPr>
        <p:spPr>
          <a:xfrm>
            <a:off x="822960" y="2377440"/>
            <a:ext cx="8778240" cy="6400800"/>
          </a:xfrm>
          <a:prstGeom prst="rect">
            <a:avLst/>
          </a:prstGeom>
          <a:noFill/>
        </p:spPr>
        <p:txBody>
          <a:bodyPr wrap="square" lIns="0" tIns="0" rIns="0" bIns="0" anchor="ctr">
            <a:noAutofit/>
          </a:bodyPr>
          <a:lstStyle/>
          <a:p>
            <a:pPr algn="l" marL="365760" indent="-365760">
              <a:spcBef>
                <a:spcPts val="0"/>
              </a:spcBef>
              <a:spcAft>
                <a:spcPts val="0"/>
              </a:spcAft>
              <a:buClr>
                <a:srgbClr val="0066CC"/>
              </a:buClr>
              <a:buSzPct val="90000"/>
              <a:buFont typeface="Wingdings" pitchFamily="2" charset="2"/>
              <a:buChar char="v"/>
            </a:pPr>
            <a:r>
              <a:rPr lang="en-IN" sz="2200" dirty="0" b="1">
                <a:solidFill>
                  <a:srgbClr val="0F172A"/>
                </a:solidFill>
                <a:latin typeface="Arial"/>
                <a:cs typeface="Arial"/>
              </a:rPr>
              <a:t>Problem Statement ID – </a:t>
            </a:r>
            <a:r>
              <a:rPr lang="en-IN" sz="2200" dirty="0" b="1">
                <a:solidFill>
                  <a:srgbClr val="0066CC"/>
                </a:solidFill>
                <a:latin typeface="Arial"/>
                <a:cs typeface="Arial"/>
              </a:rPr>
              <a:t>SIH26084</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Problem Statement Title – </a:t>
            </a:r>
            <a:r>
              <a:rPr lang="en-IN" sz="2200" dirty="0">
                <a:solidFill>
                  <a:srgbClr val="0F172A"/>
                </a:solidFill>
                <a:latin typeface="Arial"/>
                <a:cs typeface="Arial"/>
              </a:rPr>
              <a:t>Real-Time Convective-Scale Nowcasting (0–6 h) of Severe Storms using Multi-Source Data Fusion</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Theme – </a:t>
            </a:r>
            <a:r>
              <a:rPr lang="en-IN" sz="2200" dirty="0">
                <a:solidFill>
                  <a:srgbClr val="0F172A"/>
                </a:solidFill>
                <a:latin typeface="Arial"/>
                <a:cs typeface="Arial"/>
              </a:rPr>
              <a:t>Disaster Management / Smart Automation</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PS Category – </a:t>
            </a:r>
            <a:r>
              <a:rPr lang="en-IN" sz="2200" dirty="0">
                <a:solidFill>
                  <a:srgbClr val="0F172A"/>
                </a:solidFill>
                <a:latin typeface="Arial"/>
                <a:cs typeface="Arial"/>
              </a:rPr>
              <a:t>Software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Team ID – </a:t>
            </a:r>
            <a:r>
              <a:rPr lang="en-IN" sz="2200" dirty="0" b="1">
                <a:solidFill>
                  <a:srgbClr val="0066CC"/>
                </a:solidFill>
                <a:latin typeface="Arial"/>
                <a:cs typeface="Arial"/>
              </a:rPr>
              <a:t>85508 (SIH26084_BUMBLEBEE)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Team Name – </a:t>
            </a:r>
            <a:r>
              <a:rPr lang="en-IN" sz="2200" dirty="0" b="1">
                <a:solidFill>
                  <a:srgbClr val="0066CC"/>
                </a:solidFill>
                <a:latin typeface="Arial"/>
                <a:cs typeface="Arial"/>
              </a:rPr>
              <a:t>Bumblebee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Ministry / Agency – </a:t>
            </a:r>
            <a:r>
              <a:rPr lang="en-IN" sz="2200" dirty="0">
                <a:solidFill>
                  <a:srgbClr val="0F172A"/>
                </a:solidFill>
                <a:latin typeface="Arial"/>
                <a:cs typeface="Arial"/>
              </a:rPr>
              <a:t>Ministry of Earth Sciences (MoES) &amp; India Meteorological Department (IMD)</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49"/>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0" name="object 50"/>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1" name="Hexagon 50"/>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TextBox 51"/>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53" name="TextBox 52"/>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IDEA TITLE</a:t>
            </a:r>
            <a:endParaRPr sz="5400"/>
          </a:p>
        </p:txBody>
      </p:sp>
      <p:pic>
        <p:nvPicPr>
          <p:cNvPr id="54" name="Picture 53" descr="image.png"/>
          <p:cNvPicPr>
            <a:picLocks noChangeAspect="1"/>
          </p:cNvPicPr>
          <p:nvPr/>
        </p:nvPicPr>
        <p:blipFill>
          <a:blip r:embed="rId2"/>
          <a:stretch>
            <a:fillRect/>
          </a:stretch>
        </p:blipFill>
        <p:spPr>
          <a:xfrm>
            <a:off x="14666976" y="0"/>
            <a:ext cx="3374136" cy="1591056"/>
          </a:xfrm>
          <a:prstGeom prst="rect">
            <a:avLst/>
          </a:prstGeom>
        </p:spPr>
      </p:pic>
      <p:sp>
        <p:nvSpPr>
          <p:cNvPr id="55" name="TextBox 54"/>
          <p:cNvSpPr txBox="1"/>
          <p:nvPr/>
        </p:nvSpPr>
        <p:spPr>
          <a:xfrm>
            <a:off x="822960" y="1627632"/>
            <a:ext cx="16642080" cy="640080"/>
          </a:xfrm>
          <a:prstGeom prst="rect">
            <a:avLst/>
          </a:prstGeom>
          <a:noFill/>
        </p:spPr>
        <p:txBody>
          <a:bodyPr wrap="square" lIns="0" tIns="0" rIns="0" bIns="0" anchor="ctr">
            <a:noAutofit/>
          </a:bodyPr>
          <a:lstStyle/>
          <a:p>
            <a:pPr algn="ctr" marL="0" indent="0">
              <a:spcBef>
                <a:spcPts val="0"/>
              </a:spcBef>
              <a:spcAft>
                <a:spcPts val="0"/>
              </a:spcAft>
              <a:buNone/>
            </a:pPr>
            <a:r>
              <a:rPr lang="en-IN" sz="1800" dirty="0" b="1">
                <a:solidFill>
                  <a:srgbClr val="1B559B"/>
                </a:solidFill>
                <a:latin typeface="Arial"/>
                <a:cs typeface="Arial"/>
              </a:rPr>
              <a:t>GIST : </a:t>
            </a:r>
            <a:r>
              <a:rPr lang="en-IN" sz="1800" dirty="0">
                <a:solidFill>
                  <a:srgbClr val="0066CC"/>
                </a:solidFill>
                <a:latin typeface="Arial"/>
                <a:cs typeface="Arial"/>
              </a:rPr>
              <a:t>BUMBLEBLE fuses radar, INSAT-3DR &amp; lightning data on a 2 km grid to nowcast severe storms 0–6 h ahead, with live arrival countdowns.</a:t>
            </a:r>
            <a:endParaRPr sz="1800"/>
          </a:p>
        </p:txBody>
      </p:sp>
      <p:sp>
        <p:nvSpPr>
          <p:cNvPr id="56" name="Rectangle 55"/>
          <p:cNvSpPr/>
          <p:nvPr/>
        </p:nvSpPr>
        <p:spPr>
          <a:xfrm>
            <a:off x="822960" y="2395728"/>
            <a:ext cx="5394960" cy="33375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IDEA / SOLUTION</a:t>
            </a:r>
            <a:endParaRPr sz="18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Multi-Source Data Fusion</a:t>
            </a:r>
            <a:r>
              <a:rPr lang="en-IN" sz="1600" dirty="0">
                <a:solidFill>
                  <a:srgbClr val="0F172A"/>
                </a:solidFill>
                <a:latin typeface="Arial"/>
                <a:cs typeface="Arial"/>
              </a:rPr>
              <a:t> – DWR radar, INSAT-3DR IR/WV &amp; lightning on one 2 km grid</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Early Storm Detection</a:t>
            </a:r>
            <a:r>
              <a:rPr lang="en-IN" sz="1600" dirty="0">
                <a:solidFill>
                  <a:srgbClr val="0F172A"/>
                </a:solidFill>
                <a:latin typeface="Arial"/>
                <a:cs typeface="Arial"/>
              </a:rPr>
              <a:t> – cloud-top cooling flags new storms before radar sees them</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0–6 h Hazard Nowcast</a:t>
            </a:r>
            <a:r>
              <a:rPr lang="en-IN" sz="1600" dirty="0">
                <a:solidFill>
                  <a:srgbClr val="0F172A"/>
                </a:solidFill>
                <a:latin typeface="Arial"/>
                <a:cs typeface="Arial"/>
              </a:rPr>
              <a:t> – lightning, hail, gust &amp; cloudburst every 10 min</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Live GIS Dashboard</a:t>
            </a:r>
            <a:r>
              <a:rPr lang="en-IN" sz="1600" dirty="0">
                <a:solidFill>
                  <a:srgbClr val="0F172A"/>
                </a:solidFill>
                <a:latin typeface="Arial"/>
                <a:cs typeface="Arial"/>
              </a:rPr>
              <a:t> – arrival countdowns for 80+ cities, airports &amp; farms</a:t>
            </a:r>
            <a:endParaRPr sz="1600"/>
          </a:p>
        </p:txBody>
      </p:sp>
      <p:sp>
        <p:nvSpPr>
          <p:cNvPr id="57" name="Rectangle 56"/>
          <p:cNvSpPr/>
          <p:nvPr/>
        </p:nvSpPr>
        <p:spPr>
          <a:xfrm>
            <a:off x="822960" y="5916168"/>
            <a:ext cx="5394960" cy="336499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PROBLEM RESOLUTION</a:t>
            </a:r>
            <a:endParaRPr sz="18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Lightning: India's #1 natural-disaster killer → </a:t>
            </a:r>
            <a:r>
              <a:rPr lang="en-IN" sz="1600" dirty="0" b="1">
                <a:solidFill>
                  <a:srgbClr val="0066CC"/>
                </a:solidFill>
                <a:latin typeface="Arial"/>
                <a:cs typeface="Arial"/>
              </a:rPr>
              <a:t>minute-level shelter alerts</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Storms form in minutes</a:t>
            </a:r>
            <a:r>
              <a:rPr lang="en-IN" sz="1600" dirty="0">
                <a:solidFill>
                  <a:srgbClr val="0F172A"/>
                </a:solidFill>
                <a:latin typeface="Arial"/>
                <a:cs typeface="Arial"/>
              </a:rPr>
              <a:t> – too fast for coarse NWP; we nowcast at 2 km</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Radar gaps</a:t>
            </a:r>
            <a:r>
              <a:rPr lang="en-IN" sz="1600" dirty="0">
                <a:solidFill>
                  <a:srgbClr val="0F172A"/>
                </a:solidFill>
                <a:latin typeface="Arial"/>
                <a:cs typeface="Arial"/>
              </a:rPr>
              <a:t> are filled by a satellite + lightning proxy</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Vague district warnings</a:t>
            </a:r>
            <a:r>
              <a:rPr lang="en-IN" sz="1600" dirty="0">
                <a:solidFill>
                  <a:srgbClr val="0F172A"/>
                </a:solidFill>
                <a:latin typeface="Arial"/>
                <a:cs typeface="Arial"/>
              </a:rPr>
              <a:t> replaced by minute-level ETAs per place</a:t>
            </a:r>
            <a:endParaRPr sz="1600"/>
          </a:p>
        </p:txBody>
      </p:sp>
      <p:sp>
        <p:nvSpPr>
          <p:cNvPr id="58" name="Rectangle 57"/>
          <p:cNvSpPr/>
          <p:nvPr/>
        </p:nvSpPr>
        <p:spPr>
          <a:xfrm>
            <a:off x="12070080" y="2395728"/>
            <a:ext cx="5394960" cy="555955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UNIQUENESS</a:t>
            </a:r>
            <a:endParaRPr sz="18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Minute-level countdowns</a:t>
            </a:r>
            <a:r>
              <a:rPr lang="en-IN" sz="1500" dirty="0">
                <a:solidFill>
                  <a:srgbClr val="0F172A"/>
                </a:solidFill>
                <a:latin typeface="Arial"/>
                <a:cs typeface="Arial"/>
              </a:rPr>
              <a:t> for 80+ places</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Outage-proof:</a:t>
            </a:r>
            <a:r>
              <a:rPr lang="en-IN" sz="1500" dirty="0">
                <a:solidFill>
                  <a:srgbClr val="0F172A"/>
                </a:solidFill>
                <a:latin typeface="Arial"/>
                <a:cs typeface="Arial"/>
              </a:rPr>
              <a:t> satellite + lightning fill radar gaps</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Self-verifying:</a:t>
            </a:r>
            <a:r>
              <a:rPr lang="en-IN" sz="1500" dirty="0">
                <a:solidFill>
                  <a:srgbClr val="0F172A"/>
                </a:solidFill>
                <a:latin typeface="Arial"/>
                <a:cs typeface="Arial"/>
              </a:rPr>
              <a:t> skill scored live vs baseline</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AI + RAG assistant</a:t>
            </a:r>
            <a:r>
              <a:rPr lang="en-IN" sz="1500" dirty="0">
                <a:solidFill>
                  <a:srgbClr val="0F172A"/>
                </a:solidFill>
                <a:latin typeface="Arial"/>
                <a:cs typeface="Arial"/>
              </a:rPr>
              <a:t> (Gemini) in EN / हिन्दी</a:t>
            </a:r>
            <a:endParaRPr sz="1700"/>
          </a:p>
        </p:txBody>
      </p:sp>
      <p:sp>
        <p:nvSpPr>
          <p:cNvPr id="59" name="Rectangle 58"/>
          <p:cNvSpPr/>
          <p:nvPr/>
        </p:nvSpPr>
        <p:spPr>
          <a:xfrm>
            <a:off x="6446520" y="2395728"/>
            <a:ext cx="5394960" cy="555955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182880" tIns="137160" rIns="182880" bIns="91440">
            <a:noAutofit/>
          </a:bodyPr>
          <a:lstStyle/>
          <a:p>
            <a:pPr algn="ctr" marL="0" indent="0">
              <a:spcBef>
                <a:spcPts val="0"/>
              </a:spcBef>
              <a:spcAft>
                <a:spcPts val="0"/>
              </a:spcAft>
              <a:buNone/>
            </a:pPr>
            <a:r>
              <a:rPr lang="en-IN" sz="1800" dirty="0" b="1">
                <a:solidFill>
                  <a:srgbClr val="0066CC"/>
                </a:solidFill>
                <a:latin typeface="Arial"/>
                <a:cs typeface="Arial"/>
              </a:rPr>
              <a:t>BUMBLEBLE NOWCAST FLOW</a:t>
            </a:r>
            <a:endParaRPr sz="1800"/>
          </a:p>
        </p:txBody>
      </p:sp>
      <p:sp>
        <p:nvSpPr>
          <p:cNvPr id="60" name="TextBox 59"/>
          <p:cNvSpPr txBox="1"/>
          <p:nvPr/>
        </p:nvSpPr>
        <p:spPr>
          <a:xfrm>
            <a:off x="6720840" y="2926080"/>
            <a:ext cx="4846320" cy="237744"/>
          </a:xfrm>
          <a:prstGeom prst="rect">
            <a:avLst/>
          </a:prstGeom>
          <a:noFill/>
        </p:spPr>
        <p:txBody>
          <a:bodyPr wrap="square" lIns="0" tIns="0" rIns="0" bIns="0" anchor="ctr">
            <a:noAutofit/>
          </a:bodyPr>
          <a:lstStyle/>
          <a:p>
            <a:pPr algn="ctr" marL="0" indent="0">
              <a:spcBef>
                <a:spcPts val="0"/>
              </a:spcBef>
              <a:spcAft>
                <a:spcPts val="0"/>
              </a:spcAft>
              <a:buNone/>
            </a:pPr>
            <a:r>
              <a:rPr lang="en-IN" sz="1200" dirty="0" b="1">
                <a:solidFill>
                  <a:srgbClr val="1B559B"/>
                </a:solidFill>
                <a:latin typeface="Arial"/>
                <a:cs typeface="Arial"/>
              </a:rPr>
              <a:t>INGEST &amp; FUSE</a:t>
            </a:r>
            <a:endParaRPr sz="1200"/>
          </a:p>
        </p:txBody>
      </p:sp>
      <p:sp>
        <p:nvSpPr>
          <p:cNvPr id="61" name="Rounded Rectangle 60"/>
          <p:cNvSpPr/>
          <p:nvPr/>
        </p:nvSpPr>
        <p:spPr>
          <a:xfrm>
            <a:off x="6720840" y="3182112"/>
            <a:ext cx="4846320" cy="530352"/>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Real-Time Ingestion &amp; Quality Control</a:t>
            </a:r>
            <a:endParaRPr sz="1400"/>
          </a:p>
        </p:txBody>
      </p:sp>
      <p:sp>
        <p:nvSpPr>
          <p:cNvPr id="62" name="Down Arrow 61"/>
          <p:cNvSpPr/>
          <p:nvPr/>
        </p:nvSpPr>
        <p:spPr>
          <a:xfrm>
            <a:off x="9006840" y="3749039"/>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3" name="Rounded Rectangle 62"/>
          <p:cNvSpPr/>
          <p:nvPr/>
        </p:nvSpPr>
        <p:spPr>
          <a:xfrm>
            <a:off x="6720840" y="3986784"/>
            <a:ext cx="4846320" cy="56692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2 km Multi-Source Fusion</a:t>
            </a:r>
            <a:endParaRPr sz="1400"/>
          </a:p>
          <a:p>
            <a:pPr algn="ctr" marL="0" indent="0">
              <a:spcBef>
                <a:spcPts val="100"/>
              </a:spcBef>
              <a:spcAft>
                <a:spcPts val="0"/>
              </a:spcAft>
              <a:buNone/>
            </a:pPr>
            <a:r>
              <a:rPr lang="en-IN" sz="1100" dirty="0">
                <a:solidFill>
                  <a:srgbClr val="475569"/>
                </a:solidFill>
                <a:latin typeface="Arial"/>
                <a:cs typeface="Arial"/>
              </a:rPr>
              <a:t>radar mosaic · parallax fix · latency alignment</a:t>
            </a:r>
            <a:endParaRPr sz="1100"/>
          </a:p>
        </p:txBody>
      </p:sp>
      <p:sp>
        <p:nvSpPr>
          <p:cNvPr id="64" name="Down Arrow 63"/>
          <p:cNvSpPr/>
          <p:nvPr/>
        </p:nvSpPr>
        <p:spPr>
          <a:xfrm>
            <a:off x="9006840" y="4590288"/>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5" name="Rounded Rectangle 64"/>
          <p:cNvSpPr/>
          <p:nvPr/>
        </p:nvSpPr>
        <p:spPr>
          <a:xfrm>
            <a:off x="6720840" y="4828032"/>
            <a:ext cx="4846320" cy="621792"/>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B45309"/>
                </a:solidFill>
                <a:latin typeface="Arial"/>
                <a:cs typeface="Arial"/>
              </a:rPr>
              <a:t>AI Detection &amp; 0–6 h Nowcast</a:t>
            </a:r>
            <a:endParaRPr sz="1400"/>
          </a:p>
          <a:p>
            <a:pPr algn="ctr" marL="0" indent="0">
              <a:spcBef>
                <a:spcPts val="100"/>
              </a:spcBef>
              <a:spcAft>
                <a:spcPts val="0"/>
              </a:spcAft>
              <a:buNone/>
            </a:pPr>
            <a:r>
              <a:rPr lang="en-IN" sz="1100" dirty="0">
                <a:solidFill>
                  <a:srgbClr val="B45309"/>
                </a:solidFill>
                <a:latin typeface="Arial"/>
                <a:cs typeface="Arial"/>
              </a:rPr>
              <a:t>storm tracking · initiation · lightning jump · extrapolation</a:t>
            </a:r>
            <a:endParaRPr sz="1100"/>
          </a:p>
        </p:txBody>
      </p:sp>
      <p:sp>
        <p:nvSpPr>
          <p:cNvPr id="66" name="TextBox 65"/>
          <p:cNvSpPr txBox="1"/>
          <p:nvPr/>
        </p:nvSpPr>
        <p:spPr>
          <a:xfrm>
            <a:off x="6720840" y="5541264"/>
            <a:ext cx="4846320" cy="237744"/>
          </a:xfrm>
          <a:prstGeom prst="rect">
            <a:avLst/>
          </a:prstGeom>
          <a:noFill/>
        </p:spPr>
        <p:txBody>
          <a:bodyPr wrap="square" lIns="0" tIns="0" rIns="0" bIns="0" anchor="ctr">
            <a:noAutofit/>
          </a:bodyPr>
          <a:lstStyle/>
          <a:p>
            <a:pPr algn="ctr" marL="0" indent="0">
              <a:spcBef>
                <a:spcPts val="0"/>
              </a:spcBef>
              <a:spcAft>
                <a:spcPts val="0"/>
              </a:spcAft>
              <a:buNone/>
            </a:pPr>
            <a:r>
              <a:rPr lang="en-IN" sz="1200" dirty="0" b="1">
                <a:solidFill>
                  <a:srgbClr val="1B559B"/>
                </a:solidFill>
                <a:latin typeface="Arial"/>
                <a:cs typeface="Arial"/>
              </a:rPr>
              <a:t>HAZARD ENGINE</a:t>
            </a:r>
            <a:endParaRPr sz="1200"/>
          </a:p>
        </p:txBody>
      </p:sp>
      <p:sp>
        <p:nvSpPr>
          <p:cNvPr id="67" name="Rounded Rectangle 66"/>
          <p:cNvSpPr/>
          <p:nvPr/>
        </p:nvSpPr>
        <p:spPr>
          <a:xfrm>
            <a:off x="6720840" y="5797296"/>
            <a:ext cx="4846320" cy="530352"/>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Lightning · Hail · Downburst · Cloudburst</a:t>
            </a:r>
            <a:endParaRPr sz="1400"/>
          </a:p>
        </p:txBody>
      </p:sp>
      <p:sp>
        <p:nvSpPr>
          <p:cNvPr id="68" name="Down Arrow 67"/>
          <p:cNvSpPr/>
          <p:nvPr/>
        </p:nvSpPr>
        <p:spPr>
          <a:xfrm>
            <a:off x="7738110" y="6364224"/>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9" name="Down Arrow 68"/>
          <p:cNvSpPr/>
          <p:nvPr/>
        </p:nvSpPr>
        <p:spPr>
          <a:xfrm>
            <a:off x="10275569" y="6364224"/>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Rounded Rectangle 69"/>
          <p:cNvSpPr/>
          <p:nvPr/>
        </p:nvSpPr>
        <p:spPr>
          <a:xfrm>
            <a:off x="6720840" y="6601968"/>
            <a:ext cx="2308860" cy="914400"/>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15803D"/>
                </a:solidFill>
                <a:latin typeface="Arial"/>
                <a:cs typeface="Arial"/>
              </a:rPr>
              <a:t>ALL CLEAR</a:t>
            </a:r>
            <a:endParaRPr sz="1400"/>
          </a:p>
          <a:p>
            <a:pPr algn="ctr" marL="0" indent="0">
              <a:spcBef>
                <a:spcPts val="100"/>
              </a:spcBef>
              <a:spcAft>
                <a:spcPts val="0"/>
              </a:spcAft>
              <a:buNone/>
            </a:pPr>
            <a:r>
              <a:rPr lang="en-IN" sz="1200" dirty="0">
                <a:solidFill>
                  <a:srgbClr val="15803D"/>
                </a:solidFill>
                <a:latin typeface="Arial"/>
                <a:cs typeface="Arial"/>
              </a:rPr>
              <a:t>No threat in next 6 h</a:t>
            </a:r>
            <a:endParaRPr sz="1200"/>
          </a:p>
        </p:txBody>
      </p:sp>
      <p:sp>
        <p:nvSpPr>
          <p:cNvPr id="71" name="Rounded Rectangle 70"/>
          <p:cNvSpPr/>
          <p:nvPr/>
        </p:nvSpPr>
        <p:spPr>
          <a:xfrm>
            <a:off x="9258300" y="6601968"/>
            <a:ext cx="2308860" cy="914400"/>
          </a:xfrm>
          <a:prstGeom prst="roundRect">
            <a:avLst>
              <a:gd name="adj" fmla="val 12000"/>
            </a:avLst>
          </a:prstGeom>
          <a:solidFill>
            <a:srgbClr val="FEE2E2"/>
          </a:solidFill>
          <a:ln w="15875">
            <a:solidFill>
              <a:srgbClr val="DC2626"/>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B91C1C"/>
                </a:solidFill>
                <a:latin typeface="Arial"/>
                <a:cs typeface="Arial"/>
              </a:rPr>
              <a:t>SEVERE THREAT</a:t>
            </a:r>
            <a:endParaRPr sz="1400"/>
          </a:p>
          <a:p>
            <a:pPr algn="ctr" marL="0" indent="0">
              <a:spcBef>
                <a:spcPts val="100"/>
              </a:spcBef>
              <a:spcAft>
                <a:spcPts val="0"/>
              </a:spcAft>
              <a:buNone/>
            </a:pPr>
            <a:r>
              <a:rPr lang="en-IN" sz="1200" dirty="0">
                <a:solidFill>
                  <a:srgbClr val="B91C1C"/>
                </a:solidFill>
                <a:latin typeface="Arial"/>
                <a:cs typeface="Arial"/>
              </a:rPr>
              <a:t>Countdown + alert issued</a:t>
            </a:r>
            <a:endParaRPr sz="1200"/>
          </a:p>
        </p:txBody>
      </p:sp>
      <p:sp>
        <p:nvSpPr>
          <p:cNvPr id="72" name="Rounded Rectangle 71"/>
          <p:cNvSpPr/>
          <p:nvPr/>
        </p:nvSpPr>
        <p:spPr>
          <a:xfrm>
            <a:off x="6446520" y="8138160"/>
            <a:ext cx="5394960" cy="1143000"/>
          </a:xfrm>
          <a:prstGeom prst="roundRect">
            <a:avLst>
              <a:gd name="adj" fmla="val 12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800" dirty="0" b="1">
                <a:solidFill>
                  <a:srgbClr val="0F172A"/>
                </a:solidFill>
                <a:latin typeface="Arial"/>
                <a:cs typeface="Arial"/>
              </a:rPr>
              <a:t>Live Demo</a:t>
            </a:r>
            <a:endParaRPr sz="1800"/>
          </a:p>
          <a:p>
            <a:pPr algn="ctr" marL="0" indent="0">
              <a:spcBef>
                <a:spcPts val="300"/>
              </a:spcBef>
              <a:spcAft>
                <a:spcPts val="0"/>
              </a:spcAft>
              <a:buNone/>
            </a:pPr>
            <a:r>
              <a:rPr lang="en-IN" sz="1500" dirty="0" u="none">
                <a:solidFill>
                  <a:srgbClr val="0066CC"/>
                </a:solidFill>
                <a:latin typeface="Arial"/>
                <a:cs typeface="Arial"/>
              </a:rPr>
              <a:t>Shown live at evaluation · one-click cloud deploy</a:t>
            </a:r>
            <a:endParaRPr sz="1500"/>
          </a:p>
        </p:txBody>
      </p:sp>
      <p:sp>
        <p:nvSpPr>
          <p:cNvPr id="73" name="Rounded Rectangle 72"/>
          <p:cNvSpPr/>
          <p:nvPr/>
        </p:nvSpPr>
        <p:spPr>
          <a:xfrm>
            <a:off x="12070080" y="8138160"/>
            <a:ext cx="5394960" cy="1143000"/>
          </a:xfrm>
          <a:prstGeom prst="roundRect">
            <a:avLst>
              <a:gd name="adj" fmla="val 12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600" dirty="0" b="1">
                <a:solidFill>
                  <a:srgbClr val="0F172A"/>
                </a:solidFill>
                <a:latin typeface="Arial"/>
                <a:cs typeface="Arial"/>
              </a:rPr>
              <a:t>Prototype Status: Working</a:t>
            </a:r>
            <a:endParaRPr sz="1600"/>
          </a:p>
          <a:p>
            <a:pPr algn="ctr" marL="0" indent="0">
              <a:spcBef>
                <a:spcPts val="200"/>
              </a:spcBef>
              <a:spcAft>
                <a:spcPts val="0"/>
              </a:spcAft>
              <a:buNone/>
            </a:pPr>
            <a:r>
              <a:rPr lang="en-IN" sz="1250" dirty="0">
                <a:solidFill>
                  <a:srgbClr val="0F172A"/>
                </a:solidFill>
                <a:latin typeface="Arial"/>
                <a:cs typeface="Arial"/>
              </a:rPr>
              <a:t>9/9 automated tests · 150-min storm benchmark</a:t>
            </a:r>
            <a:endParaRPr sz="1250"/>
          </a:p>
          <a:p>
            <a:pPr algn="ctr" marL="0" indent="0">
              <a:spcBef>
                <a:spcPts val="100"/>
              </a:spcBef>
              <a:spcAft>
                <a:spcPts val="0"/>
              </a:spcAft>
              <a:buNone/>
            </a:pPr>
            <a:r>
              <a:rPr lang="en-IN" sz="1250" dirty="0">
                <a:solidFill>
                  <a:srgbClr val="475569"/>
                </a:solidFill>
                <a:latin typeface="Arial"/>
                <a:cs typeface="Arial"/>
              </a:rPr>
              <a:t>Realtime (live radar) + Simulated Nor'wester demo</a:t>
            </a:r>
            <a:endParaRPr sz="1250"/>
          </a:p>
        </p:txBody>
      </p:sp>
      <p:pic>
        <p:nvPicPr>
          <p:cNvPr id="74" name="Picture 73" descr="c_dash.jpg"/>
          <p:cNvPicPr>
            <a:picLocks noChangeAspect="1"/>
          </p:cNvPicPr>
          <p:nvPr/>
        </p:nvPicPr>
        <p:blipFill>
          <a:blip r:embed="rId10"/>
          <a:stretch>
            <a:fillRect/>
          </a:stretch>
        </p:blipFill>
        <p:spPr>
          <a:xfrm>
            <a:off x="12298680" y="4526280"/>
            <a:ext cx="4937760" cy="2777490"/>
          </a:xfrm>
          <a:prstGeom prst="rect">
            <a:avLst/>
          </a:prstGeom>
          <a:ln w="12700">
            <a:solidFill>
              <a:srgbClr val="C9D6E8"/>
            </a:solidFill>
          </a:ln>
        </p:spPr>
      </p:pic>
      <p:sp>
        <p:nvSpPr>
          <p:cNvPr id="75" name="Rounded Rectangle 74"/>
          <p:cNvSpPr/>
          <p:nvPr/>
        </p:nvSpPr>
        <p:spPr>
          <a:xfrm>
            <a:off x="12417552" y="4636008"/>
            <a:ext cx="1417320" cy="274320"/>
          </a:xfrm>
          <a:prstGeom prst="roundRect">
            <a:avLst>
              <a:gd name="adj" fmla="val 50000"/>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LIVE PROTOTYPE</a:t>
            </a:r>
          </a:p>
        </p:txBody>
      </p:sp>
      <p:sp>
        <p:nvSpPr>
          <p:cNvPr id="76" name="TextBox 75"/>
          <p:cNvSpPr txBox="1"/>
          <p:nvPr/>
        </p:nvSpPr>
        <p:spPr>
          <a:xfrm>
            <a:off x="12298680" y="7424927"/>
            <a:ext cx="4937760" cy="274320"/>
          </a:xfrm>
          <a:prstGeom prst="rect">
            <a:avLst/>
          </a:prstGeom>
          <a:noFill/>
        </p:spPr>
        <p:txBody>
          <a:bodyPr wrap="square" lIns="0" rIns="0" tIns="0" bIns="0">
            <a:spAutoFit/>
          </a:bodyPr>
          <a:lstStyle/>
          <a:p>
            <a:pPr algn="ctr"/>
            <a:r>
              <a:rPr sz="1050" b="0">
                <a:solidFill>
                  <a:srgbClr val="5B6B82"/>
                </a:solidFill>
                <a:latin typeface="Arial"/>
              </a:rPr>
              <a:t>Live dashboard · simulated Nor'wester storm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113" name="object 113"/>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114" name="Hexagon 113"/>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5" name="TextBox 114"/>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116" name="TextBox 115"/>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TECHNICAL APPROACH</a:t>
            </a:r>
            <a:endParaRPr sz="5400"/>
          </a:p>
        </p:txBody>
      </p:sp>
      <p:pic>
        <p:nvPicPr>
          <p:cNvPr id="117" name="Picture 116" descr="image.png"/>
          <p:cNvPicPr>
            <a:picLocks noChangeAspect="1"/>
          </p:cNvPicPr>
          <p:nvPr/>
        </p:nvPicPr>
        <p:blipFill>
          <a:blip r:embed="rId20"/>
          <a:stretch>
            <a:fillRect/>
          </a:stretch>
        </p:blipFill>
        <p:spPr>
          <a:xfrm>
            <a:off x="14666976" y="0"/>
            <a:ext cx="3374136" cy="1591056"/>
          </a:xfrm>
          <a:prstGeom prst="rect">
            <a:avLst/>
          </a:prstGeom>
        </p:spPr>
      </p:pic>
      <p:sp>
        <p:nvSpPr>
          <p:cNvPr id="118" name="Rectangle 117"/>
          <p:cNvSpPr/>
          <p:nvPr/>
        </p:nvSpPr>
        <p:spPr>
          <a:xfrm>
            <a:off x="822960" y="1600200"/>
            <a:ext cx="1229868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9" name="Rounded Rectangle 118"/>
          <p:cNvSpPr/>
          <p:nvPr/>
        </p:nvSpPr>
        <p:spPr>
          <a:xfrm>
            <a:off x="5783580" y="1737360"/>
            <a:ext cx="2377440" cy="457200"/>
          </a:xfrm>
          <a:prstGeom prst="roundRect">
            <a:avLst>
              <a:gd name="adj" fmla="val 30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800" dirty="0" b="1">
                <a:solidFill>
                  <a:srgbClr val="B45309"/>
                </a:solidFill>
                <a:latin typeface="Arial"/>
                <a:cs typeface="Arial"/>
              </a:rPr>
              <a:t>FLOW-CHART</a:t>
            </a:r>
            <a:endParaRPr sz="1800"/>
          </a:p>
        </p:txBody>
      </p:sp>
      <p:sp>
        <p:nvSpPr>
          <p:cNvPr id="120" name="Rounded Rectangle 119"/>
          <p:cNvSpPr/>
          <p:nvPr/>
        </p:nvSpPr>
        <p:spPr>
          <a:xfrm>
            <a:off x="1097280"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1" name="TextBox 120"/>
          <p:cNvSpPr txBox="1"/>
          <p:nvPr/>
        </p:nvSpPr>
        <p:spPr>
          <a:xfrm>
            <a:off x="1097280"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1 · Ingest &amp; Fuse</a:t>
            </a:r>
            <a:endParaRPr sz="1500"/>
          </a:p>
        </p:txBody>
      </p:sp>
      <p:sp>
        <p:nvSpPr>
          <p:cNvPr id="122" name="Rounded Rectangle 121"/>
          <p:cNvSpPr/>
          <p:nvPr/>
        </p:nvSpPr>
        <p:spPr>
          <a:xfrm>
            <a:off x="1280160"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Multi-Source Ingestion</a:t>
            </a:r>
            <a:endParaRPr sz="1300"/>
          </a:p>
          <a:p>
            <a:pPr algn="ctr" marL="0" indent="0">
              <a:spcBef>
                <a:spcPts val="100"/>
              </a:spcBef>
              <a:spcAft>
                <a:spcPts val="0"/>
              </a:spcAft>
              <a:buNone/>
            </a:pPr>
            <a:r>
              <a:rPr lang="en-IN" sz="1100" dirty="0">
                <a:solidFill>
                  <a:srgbClr val="475569"/>
                </a:solidFill>
                <a:latin typeface="Arial"/>
                <a:cs typeface="Arial"/>
              </a:rPr>
              <a:t>DWR radar · INSAT-3DR · lightning · RainViewer</a:t>
            </a:r>
            <a:endParaRPr sz="1100"/>
          </a:p>
        </p:txBody>
      </p:sp>
      <p:sp>
        <p:nvSpPr>
          <p:cNvPr id="123" name="Down Arrow 122"/>
          <p:cNvSpPr/>
          <p:nvPr/>
        </p:nvSpPr>
        <p:spPr>
          <a:xfrm>
            <a:off x="2811779"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4" name="Rounded Rectangle 123"/>
          <p:cNvSpPr/>
          <p:nvPr/>
        </p:nvSpPr>
        <p:spPr>
          <a:xfrm>
            <a:off x="1280160"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Quality Control</a:t>
            </a:r>
            <a:endParaRPr sz="1300"/>
          </a:p>
          <a:p>
            <a:pPr algn="ctr" marL="0" indent="0">
              <a:spcBef>
                <a:spcPts val="100"/>
              </a:spcBef>
              <a:spcAft>
                <a:spcPts val="0"/>
              </a:spcAft>
              <a:buNone/>
            </a:pPr>
            <a:r>
              <a:rPr lang="en-IN" sz="1100" dirty="0">
                <a:solidFill>
                  <a:srgbClr val="475569"/>
                </a:solidFill>
                <a:latin typeface="Arial"/>
                <a:cs typeface="Arial"/>
              </a:rPr>
              <a:t>clutter &amp; speckle filter · latency &amp; feed health</a:t>
            </a:r>
            <a:endParaRPr sz="1100"/>
          </a:p>
        </p:txBody>
      </p:sp>
      <p:sp>
        <p:nvSpPr>
          <p:cNvPr id="125" name="Down Arrow 124"/>
          <p:cNvSpPr/>
          <p:nvPr/>
        </p:nvSpPr>
        <p:spPr>
          <a:xfrm>
            <a:off x="2811779"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6" name="Rounded Rectangle 125"/>
          <p:cNvSpPr/>
          <p:nvPr/>
        </p:nvSpPr>
        <p:spPr>
          <a:xfrm>
            <a:off x="1280160" y="530352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2 km Data Fusion</a:t>
            </a:r>
            <a:endParaRPr sz="1300"/>
          </a:p>
          <a:p>
            <a:pPr algn="ctr" marL="0" indent="0">
              <a:spcBef>
                <a:spcPts val="100"/>
              </a:spcBef>
              <a:spcAft>
                <a:spcPts val="0"/>
              </a:spcAft>
              <a:buNone/>
            </a:pPr>
            <a:r>
              <a:rPr lang="en-IN" sz="1100" dirty="0">
                <a:solidFill>
                  <a:srgbClr val="475569"/>
                </a:solidFill>
                <a:latin typeface="Arial"/>
                <a:cs typeface="Arial"/>
              </a:rPr>
              <a:t>radar mosaic · parallax fix · sat+lightning gap-fill</a:t>
            </a:r>
            <a:endParaRPr sz="1100"/>
          </a:p>
        </p:txBody>
      </p:sp>
      <p:sp>
        <p:nvSpPr>
          <p:cNvPr id="127" name="Down Arrow 126"/>
          <p:cNvSpPr/>
          <p:nvPr/>
        </p:nvSpPr>
        <p:spPr>
          <a:xfrm>
            <a:off x="2811779"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8" name="Rounded Rectangle 127"/>
          <p:cNvSpPr/>
          <p:nvPr/>
        </p:nvSpPr>
        <p:spPr>
          <a:xfrm>
            <a:off x="1280160" y="6492240"/>
            <a:ext cx="3337560" cy="841248"/>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B45309"/>
                </a:solidFill>
                <a:latin typeface="Arial"/>
                <a:cs typeface="Arial"/>
              </a:rPr>
              <a:t>Fused Analysis Grid</a:t>
            </a:r>
            <a:endParaRPr sz="1300"/>
          </a:p>
          <a:p>
            <a:pPr algn="ctr" marL="0" indent="0">
              <a:spcBef>
                <a:spcPts val="100"/>
              </a:spcBef>
              <a:spcAft>
                <a:spcPts val="0"/>
              </a:spcAft>
              <a:buNone/>
            </a:pPr>
            <a:r>
              <a:rPr lang="en-IN" sz="1100" dirty="0">
                <a:solidFill>
                  <a:srgbClr val="B45309"/>
                </a:solidFill>
                <a:latin typeface="Arial"/>
                <a:cs typeface="Arial"/>
              </a:rPr>
              <a:t>reflectivity · cloud-top BT · flash density</a:t>
            </a:r>
            <a:endParaRPr sz="1100"/>
          </a:p>
        </p:txBody>
      </p:sp>
      <p:sp>
        <p:nvSpPr>
          <p:cNvPr id="129" name="Rounded Rectangle 128"/>
          <p:cNvSpPr/>
          <p:nvPr/>
        </p:nvSpPr>
        <p:spPr>
          <a:xfrm>
            <a:off x="5029200"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0" name="TextBox 129"/>
          <p:cNvSpPr txBox="1"/>
          <p:nvPr/>
        </p:nvSpPr>
        <p:spPr>
          <a:xfrm>
            <a:off x="5029200"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2 · Detect &amp; Nowcast</a:t>
            </a:r>
            <a:endParaRPr sz="1500"/>
          </a:p>
        </p:txBody>
      </p:sp>
      <p:sp>
        <p:nvSpPr>
          <p:cNvPr id="131" name="Rounded Rectangle 130"/>
          <p:cNvSpPr/>
          <p:nvPr/>
        </p:nvSpPr>
        <p:spPr>
          <a:xfrm>
            <a:off x="5212080"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Storm Motion</a:t>
            </a:r>
            <a:endParaRPr sz="1300"/>
          </a:p>
          <a:p>
            <a:pPr algn="ctr" marL="0" indent="0">
              <a:spcBef>
                <a:spcPts val="100"/>
              </a:spcBef>
              <a:spcAft>
                <a:spcPts val="0"/>
              </a:spcAft>
              <a:buNone/>
            </a:pPr>
            <a:r>
              <a:rPr lang="en-IN" sz="1100" dirty="0">
                <a:solidFill>
                  <a:srgbClr val="475569"/>
                </a:solidFill>
                <a:latin typeface="Arial"/>
                <a:cs typeface="Arial"/>
              </a:rPr>
              <a:t>FFT phase correlation on radar + IR pairs</a:t>
            </a:r>
            <a:endParaRPr sz="1100"/>
          </a:p>
        </p:txBody>
      </p:sp>
      <p:sp>
        <p:nvSpPr>
          <p:cNvPr id="132" name="Down Arrow 131"/>
          <p:cNvSpPr/>
          <p:nvPr/>
        </p:nvSpPr>
        <p:spPr>
          <a:xfrm>
            <a:off x="6743700"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3" name="Rounded Rectangle 132"/>
          <p:cNvSpPr/>
          <p:nvPr/>
        </p:nvSpPr>
        <p:spPr>
          <a:xfrm>
            <a:off x="5212080"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Storm &amp; CI Detection</a:t>
            </a:r>
            <a:endParaRPr sz="1300"/>
          </a:p>
          <a:p>
            <a:pPr algn="ctr" marL="0" indent="0">
              <a:spcBef>
                <a:spcPts val="100"/>
              </a:spcBef>
              <a:spcAft>
                <a:spcPts val="0"/>
              </a:spcAft>
              <a:buNone/>
            </a:pPr>
            <a:r>
              <a:rPr lang="en-IN" sz="1100" dirty="0">
                <a:solidFill>
                  <a:srgbClr val="475569"/>
                </a:solidFill>
                <a:latin typeface="Arial"/>
                <a:cs typeface="Arial"/>
              </a:rPr>
              <a:t>40 dBZ cell tracking · CI · lightning jump</a:t>
            </a:r>
            <a:endParaRPr sz="1100"/>
          </a:p>
        </p:txBody>
      </p:sp>
      <p:sp>
        <p:nvSpPr>
          <p:cNvPr id="134" name="Down Arrow 133"/>
          <p:cNvSpPr/>
          <p:nvPr/>
        </p:nvSpPr>
        <p:spPr>
          <a:xfrm>
            <a:off x="6743700"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5" name="Rounded Rectangle 134"/>
          <p:cNvSpPr/>
          <p:nvPr/>
        </p:nvSpPr>
        <p:spPr>
          <a:xfrm>
            <a:off x="5212080" y="530352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0–6 h Extrapolation</a:t>
            </a:r>
            <a:endParaRPr sz="1300"/>
          </a:p>
          <a:p>
            <a:pPr algn="ctr" marL="0" indent="0">
              <a:spcBef>
                <a:spcPts val="100"/>
              </a:spcBef>
              <a:spcAft>
                <a:spcPts val="0"/>
              </a:spcAft>
              <a:buNone/>
            </a:pPr>
            <a:r>
              <a:rPr lang="en-IN" sz="1100" dirty="0">
                <a:solidFill>
                  <a:srgbClr val="475569"/>
                </a:solidFill>
                <a:latin typeface="Arial"/>
                <a:cs typeface="Arial"/>
              </a:rPr>
              <a:t>semi-Lagrangian · growth/decay · new cells</a:t>
            </a:r>
            <a:endParaRPr sz="1100"/>
          </a:p>
        </p:txBody>
      </p:sp>
      <p:sp>
        <p:nvSpPr>
          <p:cNvPr id="136" name="Down Arrow 135"/>
          <p:cNvSpPr/>
          <p:nvPr/>
        </p:nvSpPr>
        <p:spPr>
          <a:xfrm>
            <a:off x="6743700"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7" name="Rounded Rectangle 136"/>
          <p:cNvSpPr/>
          <p:nvPr/>
        </p:nvSpPr>
        <p:spPr>
          <a:xfrm>
            <a:off x="5212080" y="6492240"/>
            <a:ext cx="3337560" cy="841248"/>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B45309"/>
                </a:solidFill>
                <a:latin typeface="Arial"/>
                <a:cs typeface="Arial"/>
              </a:rPr>
              <a:t>Hazard Engine</a:t>
            </a:r>
            <a:endParaRPr sz="1300"/>
          </a:p>
          <a:p>
            <a:pPr algn="ctr" marL="0" indent="0">
              <a:spcBef>
                <a:spcPts val="100"/>
              </a:spcBef>
              <a:spcAft>
                <a:spcPts val="0"/>
              </a:spcAft>
              <a:buNone/>
            </a:pPr>
            <a:r>
              <a:rPr lang="en-IN" sz="1100" dirty="0">
                <a:solidFill>
                  <a:srgbClr val="B45309"/>
                </a:solidFill>
                <a:latin typeface="Arial"/>
                <a:cs typeface="Arial"/>
              </a:rPr>
              <a:t>VIL · Stewart gust · Z–R rain · probabilities</a:t>
            </a:r>
            <a:endParaRPr sz="1100"/>
          </a:p>
        </p:txBody>
      </p:sp>
      <p:sp>
        <p:nvSpPr>
          <p:cNvPr id="138" name="Down Arrow 137"/>
          <p:cNvSpPr/>
          <p:nvPr/>
        </p:nvSpPr>
        <p:spPr>
          <a:xfrm>
            <a:off x="6743700" y="738835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9" name="Rounded Rectangle 138"/>
          <p:cNvSpPr/>
          <p:nvPr/>
        </p:nvSpPr>
        <p:spPr>
          <a:xfrm>
            <a:off x="5212080" y="7680960"/>
            <a:ext cx="3337560" cy="841248"/>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15803D"/>
                </a:solidFill>
                <a:latin typeface="Arial"/>
                <a:cs typeface="Arial"/>
              </a:rPr>
              <a:t>Live Verification</a:t>
            </a:r>
            <a:endParaRPr sz="1300"/>
          </a:p>
          <a:p>
            <a:pPr algn="ctr" marL="0" indent="0">
              <a:spcBef>
                <a:spcPts val="100"/>
              </a:spcBef>
              <a:spcAft>
                <a:spcPts val="0"/>
              </a:spcAft>
              <a:buNone/>
            </a:pPr>
            <a:r>
              <a:rPr lang="en-IN" sz="1100" dirty="0">
                <a:solidFill>
                  <a:srgbClr val="15803D"/>
                </a:solidFill>
                <a:latin typeface="Arial"/>
                <a:cs typeface="Arial"/>
              </a:rPr>
              <a:t>CSI / POD / FAR vs persistence baseline</a:t>
            </a:r>
            <a:endParaRPr sz="1100"/>
          </a:p>
        </p:txBody>
      </p:sp>
      <p:sp>
        <p:nvSpPr>
          <p:cNvPr id="140" name="Rounded Rectangle 139"/>
          <p:cNvSpPr/>
          <p:nvPr/>
        </p:nvSpPr>
        <p:spPr>
          <a:xfrm>
            <a:off x="8961119"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1" name="TextBox 140"/>
          <p:cNvSpPr txBox="1"/>
          <p:nvPr/>
        </p:nvSpPr>
        <p:spPr>
          <a:xfrm>
            <a:off x="8961119"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3 · Alert &amp; Decide</a:t>
            </a:r>
            <a:endParaRPr sz="1500"/>
          </a:p>
        </p:txBody>
      </p:sp>
      <p:sp>
        <p:nvSpPr>
          <p:cNvPr id="142" name="Rounded Rectangle 141"/>
          <p:cNvSpPr/>
          <p:nvPr/>
        </p:nvSpPr>
        <p:spPr>
          <a:xfrm>
            <a:off x="9143999"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Arrival Countdowns</a:t>
            </a:r>
            <a:endParaRPr sz="1300"/>
          </a:p>
          <a:p>
            <a:pPr algn="ctr" marL="0" indent="0">
              <a:spcBef>
                <a:spcPts val="100"/>
              </a:spcBef>
              <a:spcAft>
                <a:spcPts val="0"/>
              </a:spcAft>
              <a:buNone/>
            </a:pPr>
            <a:r>
              <a:rPr lang="en-IN" sz="1100" dirty="0">
                <a:solidFill>
                  <a:srgbClr val="475569"/>
                </a:solidFill>
                <a:latin typeface="Arial"/>
                <a:cs typeface="Arial"/>
              </a:rPr>
              <a:t>minute-level ETA for 80+ places</a:t>
            </a:r>
            <a:endParaRPr sz="1100"/>
          </a:p>
        </p:txBody>
      </p:sp>
      <p:sp>
        <p:nvSpPr>
          <p:cNvPr id="143" name="Down Arrow 142"/>
          <p:cNvSpPr/>
          <p:nvPr/>
        </p:nvSpPr>
        <p:spPr>
          <a:xfrm>
            <a:off x="10675619"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4" name="Rounded Rectangle 143"/>
          <p:cNvSpPr/>
          <p:nvPr/>
        </p:nvSpPr>
        <p:spPr>
          <a:xfrm>
            <a:off x="9143999"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GIS Dashboard + AI</a:t>
            </a:r>
            <a:endParaRPr sz="1300"/>
          </a:p>
          <a:p>
            <a:pPr algn="ctr" marL="0" indent="0">
              <a:spcBef>
                <a:spcPts val="100"/>
              </a:spcBef>
              <a:spcAft>
                <a:spcPts val="0"/>
              </a:spcAft>
              <a:buNone/>
            </a:pPr>
            <a:r>
              <a:rPr lang="en-IN" sz="1100" dirty="0">
                <a:solidFill>
                  <a:srgbClr val="475569"/>
                </a:solidFill>
                <a:latin typeface="Arial"/>
                <a:cs typeface="Arial"/>
              </a:rPr>
              <a:t>hazard maps · 0–6 h timeline · RAG assistant</a:t>
            </a:r>
            <a:endParaRPr sz="1100"/>
          </a:p>
        </p:txBody>
      </p:sp>
      <p:sp>
        <p:nvSpPr>
          <p:cNvPr id="145" name="Down Arrow 144"/>
          <p:cNvSpPr/>
          <p:nvPr/>
        </p:nvSpPr>
        <p:spPr>
          <a:xfrm>
            <a:off x="10675619"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6" name="Diamond 145"/>
          <p:cNvSpPr/>
          <p:nvPr/>
        </p:nvSpPr>
        <p:spPr>
          <a:xfrm>
            <a:off x="9852659" y="5266944"/>
            <a:ext cx="1920240" cy="914400"/>
          </a:xfrm>
          <a:prstGeom prst="diamond">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marL="0" indent="0">
              <a:spcBef>
                <a:spcPts val="0"/>
              </a:spcBef>
              <a:spcAft>
                <a:spcPts val="0"/>
              </a:spcAft>
              <a:buNone/>
            </a:pPr>
            <a:r>
              <a:rPr lang="en-IN" sz="1250" dirty="0" b="1">
                <a:solidFill>
                  <a:srgbClr val="B45309"/>
                </a:solidFill>
                <a:latin typeface="Arial"/>
                <a:cs typeface="Arial"/>
              </a:rPr>
              <a:t>Threat ≥ Moderate?</a:t>
            </a:r>
            <a:endParaRPr sz="1250"/>
          </a:p>
        </p:txBody>
      </p:sp>
      <p:sp>
        <p:nvSpPr>
          <p:cNvPr id="147" name="TextBox 146"/>
          <p:cNvSpPr txBox="1"/>
          <p:nvPr/>
        </p:nvSpPr>
        <p:spPr>
          <a:xfrm>
            <a:off x="10995659" y="6199631"/>
            <a:ext cx="548640" cy="228600"/>
          </a:xfrm>
          <a:prstGeom prst="rect">
            <a:avLst/>
          </a:prstGeom>
          <a:noFill/>
        </p:spPr>
        <p:txBody>
          <a:bodyPr wrap="square" lIns="0" tIns="0" rIns="0" bIns="0" anchor="ctr">
            <a:noAutofit/>
          </a:bodyPr>
          <a:lstStyle/>
          <a:p>
            <a:pPr algn="l" marL="0" indent="0">
              <a:spcBef>
                <a:spcPts val="0"/>
              </a:spcBef>
              <a:spcAft>
                <a:spcPts val="0"/>
              </a:spcAft>
              <a:buNone/>
            </a:pPr>
            <a:r>
              <a:rPr lang="en-IN" sz="1000" dirty="0" b="1">
                <a:solidFill>
                  <a:srgbClr val="15803D"/>
                </a:solidFill>
                <a:latin typeface="Arial"/>
                <a:cs typeface="Arial"/>
              </a:rPr>
              <a:t>YES</a:t>
            </a:r>
            <a:endParaRPr sz="1000"/>
          </a:p>
        </p:txBody>
      </p:sp>
      <p:sp>
        <p:nvSpPr>
          <p:cNvPr id="148" name="Down Arrow 147"/>
          <p:cNvSpPr/>
          <p:nvPr/>
        </p:nvSpPr>
        <p:spPr>
          <a:xfrm>
            <a:off x="10675619"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9" name="Rounded Rectangle 148"/>
          <p:cNvSpPr/>
          <p:nvPr/>
        </p:nvSpPr>
        <p:spPr>
          <a:xfrm>
            <a:off x="9143999" y="6492240"/>
            <a:ext cx="3337560" cy="841248"/>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15803D"/>
                </a:solidFill>
                <a:latin typeface="Arial"/>
                <a:cs typeface="Arial"/>
              </a:rPr>
              <a:t>Warnings Issued</a:t>
            </a:r>
            <a:endParaRPr sz="1300"/>
          </a:p>
          <a:p>
            <a:pPr algn="ctr" marL="0" indent="0">
              <a:spcBef>
                <a:spcPts val="100"/>
              </a:spcBef>
              <a:spcAft>
                <a:spcPts val="0"/>
              </a:spcAft>
              <a:buNone/>
            </a:pPr>
            <a:r>
              <a:rPr lang="en-IN" sz="1100" dirty="0">
                <a:solidFill>
                  <a:srgbClr val="15803D"/>
                </a:solidFill>
                <a:latin typeface="Arial"/>
                <a:cs typeface="Arial"/>
              </a:rPr>
              <a:t>banner · browser alert · bulletin / CSV / GeoJSON</a:t>
            </a:r>
            <a:endParaRPr sz="1100"/>
          </a:p>
        </p:txBody>
      </p:sp>
      <p:sp>
        <p:nvSpPr>
          <p:cNvPr id="150" name="Down Arrow 149"/>
          <p:cNvSpPr/>
          <p:nvPr/>
        </p:nvSpPr>
        <p:spPr>
          <a:xfrm>
            <a:off x="10675619" y="738835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1" name="Rounded Rectangle 150"/>
          <p:cNvSpPr/>
          <p:nvPr/>
        </p:nvSpPr>
        <p:spPr>
          <a:xfrm>
            <a:off x="9143999" y="768096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Forecast Improves</a:t>
            </a:r>
            <a:endParaRPr sz="1300"/>
          </a:p>
          <a:p>
            <a:pPr algn="ctr" marL="0" indent="0">
              <a:spcBef>
                <a:spcPts val="100"/>
              </a:spcBef>
              <a:spcAft>
                <a:spcPts val="0"/>
              </a:spcAft>
              <a:buNone/>
            </a:pPr>
            <a:r>
              <a:rPr lang="en-IN" sz="1100" dirty="0">
                <a:solidFill>
                  <a:srgbClr val="475569"/>
                </a:solidFill>
                <a:latin typeface="Arial"/>
                <a:cs typeface="Arial"/>
              </a:rPr>
              <a:t>skill scored every cycle</a:t>
            </a:r>
            <a:endParaRPr sz="1100"/>
          </a:p>
        </p:txBody>
      </p:sp>
      <p:sp>
        <p:nvSpPr>
          <p:cNvPr id="152" name="TextBox 151"/>
          <p:cNvSpPr txBox="1"/>
          <p:nvPr/>
        </p:nvSpPr>
        <p:spPr>
          <a:xfrm>
            <a:off x="1280160" y="7589520"/>
            <a:ext cx="3337560" cy="731520"/>
          </a:xfrm>
          <a:prstGeom prst="rect">
            <a:avLst/>
          </a:prstGeom>
          <a:noFill/>
        </p:spPr>
        <p:txBody>
          <a:bodyPr wrap="square" lIns="0" tIns="0" rIns="0" bIns="0" anchor="ctr">
            <a:noAutofit/>
          </a:bodyPr>
          <a:lstStyle/>
          <a:p>
            <a:pPr algn="ctr" marL="0" indent="0">
              <a:spcBef>
                <a:spcPts val="0"/>
              </a:spcBef>
              <a:spcAft>
                <a:spcPts val="0"/>
              </a:spcAft>
              <a:buNone/>
            </a:pPr>
            <a:r>
              <a:rPr lang="en-IN" sz="1200" dirty="0">
                <a:solidFill>
                  <a:srgbClr val="475569"/>
                </a:solidFill>
                <a:latin typeface="Arial"/>
                <a:cs typeface="Arial"/>
              </a:rPr>
              <a:t>Fused grid feeds the</a:t>
            </a:r>
            <a:endParaRPr sz="1200"/>
          </a:p>
          <a:p>
            <a:pPr algn="ctr" marL="0" indent="0">
              <a:spcBef>
                <a:spcPts val="200"/>
              </a:spcBef>
              <a:spcAft>
                <a:spcPts val="0"/>
              </a:spcAft>
              <a:buNone/>
            </a:pPr>
            <a:r>
              <a:rPr lang="en-IN" sz="1200" dirty="0" b="1">
                <a:solidFill>
                  <a:srgbClr val="0066CC"/>
                </a:solidFill>
                <a:latin typeface="Arial"/>
                <a:cs typeface="Arial"/>
              </a:rPr>
              <a:t>2 · Detect &amp; Nowcast →</a:t>
            </a:r>
            <a:endParaRPr sz="1200"/>
          </a:p>
        </p:txBody>
      </p:sp>
      <p:sp>
        <p:nvSpPr>
          <p:cNvPr id="153" name="Rectangle 152"/>
          <p:cNvSpPr/>
          <p:nvPr/>
        </p:nvSpPr>
        <p:spPr>
          <a:xfrm>
            <a:off x="13350240" y="1600200"/>
            <a:ext cx="411480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4" name="TextBox 153"/>
          <p:cNvSpPr txBox="1"/>
          <p:nvPr/>
        </p:nvSpPr>
        <p:spPr>
          <a:xfrm>
            <a:off x="13350240" y="1737360"/>
            <a:ext cx="4114800" cy="457200"/>
          </a:xfrm>
          <a:prstGeom prst="rect">
            <a:avLst/>
          </a:prstGeom>
          <a:noFill/>
        </p:spPr>
        <p:txBody>
          <a:bodyPr wrap="square" lIns="0" tIns="0" rIns="0" bIns="0" anchor="ctr">
            <a:noAutofit/>
          </a:bodyPr>
          <a:lstStyle/>
          <a:p>
            <a:pPr algn="ctr" marL="0" indent="0">
              <a:spcBef>
                <a:spcPts val="0"/>
              </a:spcBef>
              <a:spcAft>
                <a:spcPts val="0"/>
              </a:spcAft>
              <a:buNone/>
            </a:pPr>
            <a:r>
              <a:rPr lang="en-IN" sz="1800" dirty="0" b="1">
                <a:solidFill>
                  <a:srgbClr val="0066CC"/>
                </a:solidFill>
                <a:latin typeface="Arial"/>
                <a:cs typeface="Arial"/>
              </a:rPr>
              <a:t>TECH STACK</a:t>
            </a:r>
            <a:endParaRPr sz="1800"/>
          </a:p>
        </p:txBody>
      </p:sp>
      <p:sp>
        <p:nvSpPr>
          <p:cNvPr id="155" name="Rounded Rectangle 154"/>
          <p:cNvSpPr/>
          <p:nvPr/>
        </p:nvSpPr>
        <p:spPr>
          <a:xfrm>
            <a:off x="13578840" y="233172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56" name="Picture 155" descr="image.png"/>
          <p:cNvPicPr>
            <a:picLocks noChangeAspect="1"/>
          </p:cNvPicPr>
          <p:nvPr/>
        </p:nvPicPr>
        <p:blipFill>
          <a:blip r:embed="rId21"/>
          <a:stretch>
            <a:fillRect/>
          </a:stretch>
        </p:blipFill>
        <p:spPr>
          <a:xfrm>
            <a:off x="13688567" y="2523744"/>
            <a:ext cx="457200" cy="457200"/>
          </a:xfrm>
          <a:prstGeom prst="rect">
            <a:avLst/>
          </a:prstGeom>
        </p:spPr>
      </p:pic>
      <p:sp>
        <p:nvSpPr>
          <p:cNvPr id="157" name="TextBox 156"/>
          <p:cNvSpPr txBox="1"/>
          <p:nvPr/>
        </p:nvSpPr>
        <p:spPr>
          <a:xfrm>
            <a:off x="14218919" y="233172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Python 3</a:t>
            </a:r>
            <a:endParaRPr sz="1250"/>
          </a:p>
        </p:txBody>
      </p:sp>
      <p:sp>
        <p:nvSpPr>
          <p:cNvPr id="158" name="Rounded Rectangle 157"/>
          <p:cNvSpPr/>
          <p:nvPr/>
        </p:nvSpPr>
        <p:spPr>
          <a:xfrm>
            <a:off x="15476220" y="233172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59" name="Picture 158" descr="image.png"/>
          <p:cNvPicPr>
            <a:picLocks noChangeAspect="1"/>
          </p:cNvPicPr>
          <p:nvPr/>
        </p:nvPicPr>
        <p:blipFill>
          <a:blip r:embed="rId22"/>
          <a:stretch>
            <a:fillRect/>
          </a:stretch>
        </p:blipFill>
        <p:spPr>
          <a:xfrm>
            <a:off x="15585948" y="2523744"/>
            <a:ext cx="457200" cy="457200"/>
          </a:xfrm>
          <a:prstGeom prst="rect">
            <a:avLst/>
          </a:prstGeom>
        </p:spPr>
      </p:pic>
      <p:sp>
        <p:nvSpPr>
          <p:cNvPr id="160" name="TextBox 159"/>
          <p:cNvSpPr txBox="1"/>
          <p:nvPr/>
        </p:nvSpPr>
        <p:spPr>
          <a:xfrm>
            <a:off x="16116300" y="233172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FastAPI</a:t>
            </a:r>
            <a:endParaRPr sz="1250"/>
          </a:p>
        </p:txBody>
      </p:sp>
      <p:sp>
        <p:nvSpPr>
          <p:cNvPr id="161" name="Rounded Rectangle 160"/>
          <p:cNvSpPr/>
          <p:nvPr/>
        </p:nvSpPr>
        <p:spPr>
          <a:xfrm>
            <a:off x="13578840" y="3282696"/>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2" name="Picture 161" descr="image.png"/>
          <p:cNvPicPr>
            <a:picLocks noChangeAspect="1"/>
          </p:cNvPicPr>
          <p:nvPr/>
        </p:nvPicPr>
        <p:blipFill>
          <a:blip r:embed="rId23"/>
          <a:stretch>
            <a:fillRect/>
          </a:stretch>
        </p:blipFill>
        <p:spPr>
          <a:xfrm>
            <a:off x="13688567" y="3474720"/>
            <a:ext cx="457200" cy="457200"/>
          </a:xfrm>
          <a:prstGeom prst="rect">
            <a:avLst/>
          </a:prstGeom>
        </p:spPr>
      </p:pic>
      <p:sp>
        <p:nvSpPr>
          <p:cNvPr id="163" name="TextBox 162"/>
          <p:cNvSpPr txBox="1"/>
          <p:nvPr/>
        </p:nvSpPr>
        <p:spPr>
          <a:xfrm>
            <a:off x="14218919" y="3282696"/>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NumPy / SciPy</a:t>
            </a:r>
            <a:endParaRPr sz="1250"/>
          </a:p>
        </p:txBody>
      </p:sp>
      <p:sp>
        <p:nvSpPr>
          <p:cNvPr id="164" name="Rounded Rectangle 163"/>
          <p:cNvSpPr/>
          <p:nvPr/>
        </p:nvSpPr>
        <p:spPr>
          <a:xfrm>
            <a:off x="15476220" y="3282696"/>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5" name="Picture 164" descr="image.png"/>
          <p:cNvPicPr>
            <a:picLocks noChangeAspect="1"/>
          </p:cNvPicPr>
          <p:nvPr/>
        </p:nvPicPr>
        <p:blipFill>
          <a:blip r:embed="rId24"/>
          <a:stretch>
            <a:fillRect/>
          </a:stretch>
        </p:blipFill>
        <p:spPr>
          <a:xfrm>
            <a:off x="15585948" y="3474720"/>
            <a:ext cx="457200" cy="457200"/>
          </a:xfrm>
          <a:prstGeom prst="rect">
            <a:avLst/>
          </a:prstGeom>
        </p:spPr>
      </p:pic>
      <p:sp>
        <p:nvSpPr>
          <p:cNvPr id="166" name="TextBox 165"/>
          <p:cNvSpPr txBox="1"/>
          <p:nvPr/>
        </p:nvSpPr>
        <p:spPr>
          <a:xfrm>
            <a:off x="16116300" y="3282696"/>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WebSocket</a:t>
            </a:r>
            <a:endParaRPr sz="1250"/>
          </a:p>
        </p:txBody>
      </p:sp>
      <p:sp>
        <p:nvSpPr>
          <p:cNvPr id="167" name="Rounded Rectangle 166"/>
          <p:cNvSpPr/>
          <p:nvPr/>
        </p:nvSpPr>
        <p:spPr>
          <a:xfrm>
            <a:off x="13578840" y="4233672"/>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8" name="Picture 167" descr="image.png"/>
          <p:cNvPicPr>
            <a:picLocks noChangeAspect="1"/>
          </p:cNvPicPr>
          <p:nvPr/>
        </p:nvPicPr>
        <p:blipFill>
          <a:blip r:embed="rId25"/>
          <a:stretch>
            <a:fillRect/>
          </a:stretch>
        </p:blipFill>
        <p:spPr>
          <a:xfrm>
            <a:off x="13688567" y="4425696"/>
            <a:ext cx="457200" cy="457200"/>
          </a:xfrm>
          <a:prstGeom prst="rect">
            <a:avLst/>
          </a:prstGeom>
        </p:spPr>
      </p:pic>
      <p:sp>
        <p:nvSpPr>
          <p:cNvPr id="169" name="TextBox 168"/>
          <p:cNvSpPr txBox="1"/>
          <p:nvPr/>
        </p:nvSpPr>
        <p:spPr>
          <a:xfrm>
            <a:off x="14218919" y="4233672"/>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Gemini 2.5 Flash</a:t>
            </a:r>
            <a:endParaRPr sz="1250"/>
          </a:p>
        </p:txBody>
      </p:sp>
      <p:sp>
        <p:nvSpPr>
          <p:cNvPr id="170" name="Rounded Rectangle 169"/>
          <p:cNvSpPr/>
          <p:nvPr/>
        </p:nvSpPr>
        <p:spPr>
          <a:xfrm>
            <a:off x="15476220" y="4233672"/>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1" name="Picture 170" descr="image.png"/>
          <p:cNvPicPr>
            <a:picLocks noChangeAspect="1"/>
          </p:cNvPicPr>
          <p:nvPr/>
        </p:nvPicPr>
        <p:blipFill>
          <a:blip r:embed="rId26"/>
          <a:stretch>
            <a:fillRect/>
          </a:stretch>
        </p:blipFill>
        <p:spPr>
          <a:xfrm>
            <a:off x="15585948" y="4425696"/>
            <a:ext cx="457200" cy="457200"/>
          </a:xfrm>
          <a:prstGeom prst="rect">
            <a:avLst/>
          </a:prstGeom>
        </p:spPr>
      </p:pic>
      <p:sp>
        <p:nvSpPr>
          <p:cNvPr id="172" name="TextBox 171"/>
          <p:cNvSpPr txBox="1"/>
          <p:nvPr/>
        </p:nvSpPr>
        <p:spPr>
          <a:xfrm>
            <a:off x="16116300" y="4233672"/>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WebGL</a:t>
            </a:r>
            <a:endParaRPr sz="1250"/>
          </a:p>
        </p:txBody>
      </p:sp>
      <p:sp>
        <p:nvSpPr>
          <p:cNvPr id="173" name="Rounded Rectangle 172"/>
          <p:cNvSpPr/>
          <p:nvPr/>
        </p:nvSpPr>
        <p:spPr>
          <a:xfrm>
            <a:off x="13578840" y="5184648"/>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4" name="Picture 173" descr="image.png"/>
          <p:cNvPicPr>
            <a:picLocks noChangeAspect="1"/>
          </p:cNvPicPr>
          <p:nvPr/>
        </p:nvPicPr>
        <p:blipFill>
          <a:blip r:embed="rId27"/>
          <a:stretch>
            <a:fillRect/>
          </a:stretch>
        </p:blipFill>
        <p:spPr>
          <a:xfrm>
            <a:off x="13688567" y="5376672"/>
            <a:ext cx="457200" cy="457200"/>
          </a:xfrm>
          <a:prstGeom prst="rect">
            <a:avLst/>
          </a:prstGeom>
        </p:spPr>
      </p:pic>
      <p:sp>
        <p:nvSpPr>
          <p:cNvPr id="175" name="TextBox 174"/>
          <p:cNvSpPr txBox="1"/>
          <p:nvPr/>
        </p:nvSpPr>
        <p:spPr>
          <a:xfrm>
            <a:off x="14218919" y="5184648"/>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Leaflet GIS</a:t>
            </a:r>
            <a:endParaRPr sz="1250"/>
          </a:p>
        </p:txBody>
      </p:sp>
      <p:sp>
        <p:nvSpPr>
          <p:cNvPr id="176" name="Rounded Rectangle 175"/>
          <p:cNvSpPr/>
          <p:nvPr/>
        </p:nvSpPr>
        <p:spPr>
          <a:xfrm>
            <a:off x="15476220" y="5184648"/>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7" name="Picture 176" descr="image.png"/>
          <p:cNvPicPr>
            <a:picLocks noChangeAspect="1"/>
          </p:cNvPicPr>
          <p:nvPr/>
        </p:nvPicPr>
        <p:blipFill>
          <a:blip r:embed="rId28"/>
          <a:stretch>
            <a:fillRect/>
          </a:stretch>
        </p:blipFill>
        <p:spPr>
          <a:xfrm>
            <a:off x="15585948" y="5376672"/>
            <a:ext cx="457200" cy="457200"/>
          </a:xfrm>
          <a:prstGeom prst="rect">
            <a:avLst/>
          </a:prstGeom>
        </p:spPr>
      </p:pic>
      <p:sp>
        <p:nvSpPr>
          <p:cNvPr id="178" name="TextBox 177"/>
          <p:cNvSpPr txBox="1"/>
          <p:nvPr/>
        </p:nvSpPr>
        <p:spPr>
          <a:xfrm>
            <a:off x="16116300" y="5184648"/>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JavaScript</a:t>
            </a:r>
            <a:endParaRPr sz="1250"/>
          </a:p>
        </p:txBody>
      </p:sp>
      <p:sp>
        <p:nvSpPr>
          <p:cNvPr id="179" name="Rounded Rectangle 178"/>
          <p:cNvSpPr/>
          <p:nvPr/>
        </p:nvSpPr>
        <p:spPr>
          <a:xfrm>
            <a:off x="13578840" y="6135624"/>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0" name="Picture 179" descr="image.png"/>
          <p:cNvPicPr>
            <a:picLocks noChangeAspect="1"/>
          </p:cNvPicPr>
          <p:nvPr/>
        </p:nvPicPr>
        <p:blipFill>
          <a:blip r:embed="rId29"/>
          <a:stretch>
            <a:fillRect/>
          </a:stretch>
        </p:blipFill>
        <p:spPr>
          <a:xfrm>
            <a:off x="13688567" y="6327648"/>
            <a:ext cx="457200" cy="457200"/>
          </a:xfrm>
          <a:prstGeom prst="rect">
            <a:avLst/>
          </a:prstGeom>
        </p:spPr>
      </p:pic>
      <p:sp>
        <p:nvSpPr>
          <p:cNvPr id="181" name="TextBox 180"/>
          <p:cNvSpPr txBox="1"/>
          <p:nvPr/>
        </p:nvSpPr>
        <p:spPr>
          <a:xfrm>
            <a:off x="14218919" y="6135624"/>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RainViewer Radar</a:t>
            </a:r>
            <a:endParaRPr sz="1250"/>
          </a:p>
        </p:txBody>
      </p:sp>
      <p:sp>
        <p:nvSpPr>
          <p:cNvPr id="182" name="Rounded Rectangle 181"/>
          <p:cNvSpPr/>
          <p:nvPr/>
        </p:nvSpPr>
        <p:spPr>
          <a:xfrm>
            <a:off x="15476220" y="6135624"/>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3" name="Picture 182" descr="image.png"/>
          <p:cNvPicPr>
            <a:picLocks noChangeAspect="1"/>
          </p:cNvPicPr>
          <p:nvPr/>
        </p:nvPicPr>
        <p:blipFill>
          <a:blip r:embed="rId30"/>
          <a:stretch>
            <a:fillRect/>
          </a:stretch>
        </p:blipFill>
        <p:spPr>
          <a:xfrm>
            <a:off x="15585948" y="6327648"/>
            <a:ext cx="457200" cy="457200"/>
          </a:xfrm>
          <a:prstGeom prst="rect">
            <a:avLst/>
          </a:prstGeom>
        </p:spPr>
      </p:pic>
      <p:sp>
        <p:nvSpPr>
          <p:cNvPr id="184" name="TextBox 183"/>
          <p:cNvSpPr txBox="1"/>
          <p:nvPr/>
        </p:nvSpPr>
        <p:spPr>
          <a:xfrm>
            <a:off x="16116300" y="6135624"/>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Open-Meteo</a:t>
            </a:r>
            <a:endParaRPr sz="1250"/>
          </a:p>
        </p:txBody>
      </p:sp>
      <p:sp>
        <p:nvSpPr>
          <p:cNvPr id="185" name="Rounded Rectangle 184"/>
          <p:cNvSpPr/>
          <p:nvPr/>
        </p:nvSpPr>
        <p:spPr>
          <a:xfrm>
            <a:off x="13578840" y="708660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6" name="Picture 185" descr="image.png"/>
          <p:cNvPicPr>
            <a:picLocks noChangeAspect="1"/>
          </p:cNvPicPr>
          <p:nvPr/>
        </p:nvPicPr>
        <p:blipFill>
          <a:blip r:embed="rId31"/>
          <a:stretch>
            <a:fillRect/>
          </a:stretch>
        </p:blipFill>
        <p:spPr>
          <a:xfrm>
            <a:off x="13688567" y="7278624"/>
            <a:ext cx="457200" cy="457200"/>
          </a:xfrm>
          <a:prstGeom prst="rect">
            <a:avLst/>
          </a:prstGeom>
        </p:spPr>
      </p:pic>
      <p:sp>
        <p:nvSpPr>
          <p:cNvPr id="187" name="TextBox 186"/>
          <p:cNvSpPr txBox="1"/>
          <p:nvPr/>
        </p:nvSpPr>
        <p:spPr>
          <a:xfrm>
            <a:off x="14218919" y="708660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NASA GIBS</a:t>
            </a:r>
            <a:endParaRPr sz="1250"/>
          </a:p>
        </p:txBody>
      </p:sp>
      <p:sp>
        <p:nvSpPr>
          <p:cNvPr id="188" name="Rounded Rectangle 187"/>
          <p:cNvSpPr/>
          <p:nvPr/>
        </p:nvSpPr>
        <p:spPr>
          <a:xfrm>
            <a:off x="15476220" y="708660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9" name="Picture 188" descr="image.png"/>
          <p:cNvPicPr>
            <a:picLocks noChangeAspect="1"/>
          </p:cNvPicPr>
          <p:nvPr/>
        </p:nvPicPr>
        <p:blipFill>
          <a:blip r:embed="rId32"/>
          <a:stretch>
            <a:fillRect/>
          </a:stretch>
        </p:blipFill>
        <p:spPr>
          <a:xfrm>
            <a:off x="15585948" y="7278624"/>
            <a:ext cx="457200" cy="457200"/>
          </a:xfrm>
          <a:prstGeom prst="rect">
            <a:avLst/>
          </a:prstGeom>
        </p:spPr>
      </p:pic>
      <p:sp>
        <p:nvSpPr>
          <p:cNvPr id="190" name="TextBox 189"/>
          <p:cNvSpPr txBox="1"/>
          <p:nvPr/>
        </p:nvSpPr>
        <p:spPr>
          <a:xfrm>
            <a:off x="16116300" y="708660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RAG Engine</a:t>
            </a:r>
            <a:endParaRPr sz="1250"/>
          </a:p>
        </p:txBody>
      </p:sp>
      <p:sp>
        <p:nvSpPr>
          <p:cNvPr id="191" name="Rounded Rectangle 190"/>
          <p:cNvSpPr/>
          <p:nvPr/>
        </p:nvSpPr>
        <p:spPr>
          <a:xfrm>
            <a:off x="13578840" y="8037575"/>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2" name="Picture 191" descr="image.png"/>
          <p:cNvPicPr>
            <a:picLocks noChangeAspect="1"/>
          </p:cNvPicPr>
          <p:nvPr/>
        </p:nvPicPr>
        <p:blipFill>
          <a:blip r:embed="rId33"/>
          <a:stretch>
            <a:fillRect/>
          </a:stretch>
        </p:blipFill>
        <p:spPr>
          <a:xfrm>
            <a:off x="13688567" y="8229600"/>
            <a:ext cx="457200" cy="457200"/>
          </a:xfrm>
          <a:prstGeom prst="rect">
            <a:avLst/>
          </a:prstGeom>
        </p:spPr>
      </p:pic>
      <p:sp>
        <p:nvSpPr>
          <p:cNvPr id="193" name="TextBox 192"/>
          <p:cNvSpPr txBox="1"/>
          <p:nvPr/>
        </p:nvSpPr>
        <p:spPr>
          <a:xfrm>
            <a:off x="14218919" y="8037575"/>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ODIM_H5 / HDF5</a:t>
            </a:r>
            <a:endParaRPr sz="1250"/>
          </a:p>
        </p:txBody>
      </p:sp>
      <p:sp>
        <p:nvSpPr>
          <p:cNvPr id="194" name="Rounded Rectangle 193"/>
          <p:cNvSpPr/>
          <p:nvPr/>
        </p:nvSpPr>
        <p:spPr>
          <a:xfrm>
            <a:off x="15476220" y="8037575"/>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5" name="Picture 194" descr="image.png"/>
          <p:cNvPicPr>
            <a:picLocks noChangeAspect="1"/>
          </p:cNvPicPr>
          <p:nvPr/>
        </p:nvPicPr>
        <p:blipFill>
          <a:blip r:embed="rId34"/>
          <a:stretch>
            <a:fillRect/>
          </a:stretch>
        </p:blipFill>
        <p:spPr>
          <a:xfrm>
            <a:off x="15585948" y="8229600"/>
            <a:ext cx="457200" cy="457200"/>
          </a:xfrm>
          <a:prstGeom prst="rect">
            <a:avLst/>
          </a:prstGeom>
        </p:spPr>
      </p:pic>
      <p:sp>
        <p:nvSpPr>
          <p:cNvPr id="196" name="TextBox 195"/>
          <p:cNvSpPr txBox="1"/>
          <p:nvPr/>
        </p:nvSpPr>
        <p:spPr>
          <a:xfrm>
            <a:off x="16116300" y="8037575"/>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Docker / Cloud</a:t>
            </a:r>
            <a:endParaRPr sz="12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object 57"/>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8" name="object 58"/>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9" name="Hexagon 58"/>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TextBox 59"/>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1" name="TextBox 60"/>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FEASIBILITY AND VIABILITY</a:t>
            </a:r>
            <a:endParaRPr sz="5400"/>
          </a:p>
        </p:txBody>
      </p:sp>
      <p:pic>
        <p:nvPicPr>
          <p:cNvPr id="62" name="Picture 61" descr="image.png"/>
          <p:cNvPicPr>
            <a:picLocks noChangeAspect="1"/>
          </p:cNvPicPr>
          <p:nvPr/>
        </p:nvPicPr>
        <p:blipFill>
          <a:blip r:embed="rId2"/>
          <a:stretch>
            <a:fillRect/>
          </a:stretch>
        </p:blipFill>
        <p:spPr>
          <a:xfrm>
            <a:off x="14666976" y="0"/>
            <a:ext cx="3374136" cy="1591056"/>
          </a:xfrm>
          <a:prstGeom prst="rect">
            <a:avLst/>
          </a:prstGeom>
        </p:spPr>
      </p:pic>
      <p:sp>
        <p:nvSpPr>
          <p:cNvPr id="63" name="Rectangle 62"/>
          <p:cNvSpPr/>
          <p:nvPr/>
        </p:nvSpPr>
        <p:spPr>
          <a:xfrm>
            <a:off x="822960" y="1600200"/>
            <a:ext cx="78638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ANALYSIS OF FEASIBILITY</a:t>
            </a:r>
            <a:endParaRPr sz="1800"/>
          </a:p>
          <a:p>
            <a:pPr algn="l" marL="0" indent="0">
              <a:spcBef>
                <a:spcPts val="1800"/>
              </a:spcBef>
              <a:spcAft>
                <a:spcPts val="0"/>
              </a:spcAft>
              <a:buNone/>
            </a:pPr>
            <a:r>
              <a:rPr lang="en-IN" sz="1600" dirty="0" b="1">
                <a:solidFill>
                  <a:srgbClr val="1B559B"/>
                </a:solidFill>
                <a:latin typeface="Arial"/>
                <a:cs typeface="Arial"/>
              </a:rPr>
              <a:t>Economic</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Near-zero data cost:</a:t>
            </a:r>
            <a:r>
              <a:rPr lang="en-IN" sz="1600" dirty="0">
                <a:solidFill>
                  <a:srgbClr val="0F172A"/>
                </a:solidFill>
                <a:latin typeface="Arial"/>
                <a:cs typeface="Arial"/>
              </a:rPr>
              <a:t> free RainViewer, Open-Meteo &amp; NASA feeds today</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Funding:</a:t>
            </a:r>
            <a:r>
              <a:rPr lang="en-IN" sz="1600" dirty="0">
                <a:solidFill>
                  <a:srgbClr val="0F172A"/>
                </a:solidFill>
                <a:latin typeface="Arial"/>
                <a:cs typeface="Arial"/>
              </a:rPr>
              <a:t> MoES / IMD, NDMA &amp; state disaster-tech programmes</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Low infrastructure:</a:t>
            </a:r>
            <a:r>
              <a:rPr lang="en-IN" sz="1600" dirty="0">
                <a:solidFill>
                  <a:srgbClr val="0F172A"/>
                </a:solidFill>
                <a:latin typeface="Arial"/>
                <a:cs typeface="Arial"/>
              </a:rPr>
              <a:t> one CPU container — no GPU or supercomputer</a:t>
            </a:r>
            <a:endParaRPr sz="1600"/>
          </a:p>
          <a:p>
            <a:pPr algn="l" marL="0" indent="0">
              <a:spcBef>
                <a:spcPts val="2600"/>
              </a:spcBef>
              <a:spcAft>
                <a:spcPts val="0"/>
              </a:spcAft>
              <a:buNone/>
            </a:pPr>
            <a:r>
              <a:rPr lang="en-IN" sz="1600" dirty="0" b="1">
                <a:solidFill>
                  <a:srgbClr val="1B559B"/>
                </a:solidFill>
                <a:latin typeface="Arial"/>
                <a:cs typeface="Arial"/>
              </a:rPr>
              <a:t>Technical</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Working prototype:</a:t>
            </a:r>
            <a:r>
              <a:rPr lang="en-IN" sz="1600" dirty="0">
                <a:solidFill>
                  <a:srgbClr val="0F172A"/>
                </a:solidFill>
                <a:latin typeface="Arial"/>
                <a:cs typeface="Arial"/>
              </a:rPr>
              <a:t> 9/9 tests pass; runs on live radar</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&lt;15 s per cycle</a:t>
            </a:r>
            <a:r>
              <a:rPr lang="en-IN" sz="1600" dirty="0">
                <a:solidFill>
                  <a:srgbClr val="0F172A"/>
                </a:solidFill>
                <a:latin typeface="Arial"/>
                <a:cs typeface="Arial"/>
              </a:rPr>
              <a:t> for all 37 lead times on a laptop CPU</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Containerized</a:t>
            </a:r>
            <a:r>
              <a:rPr lang="en-IN" sz="1600" dirty="0">
                <a:solidFill>
                  <a:srgbClr val="0F172A"/>
                </a:solidFill>
                <a:latin typeface="Arial"/>
                <a:cs typeface="Arial"/>
              </a:rPr>
              <a:t> (Docker) → free cloud deploy (HF Spaces)</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IMD-ready:</a:t>
            </a:r>
            <a:r>
              <a:rPr lang="en-IN" sz="1600" dirty="0">
                <a:solidFill>
                  <a:srgbClr val="0F172A"/>
                </a:solidFill>
                <a:latin typeface="Arial"/>
                <a:cs typeface="Arial"/>
              </a:rPr>
              <a:t> ODIM_H5 radar, INSAT HDF5 &amp; lightning push API</a:t>
            </a:r>
            <a:endParaRPr sz="1600"/>
          </a:p>
          <a:p>
            <a:pPr algn="l" marL="0" indent="0">
              <a:spcBef>
                <a:spcPts val="2600"/>
              </a:spcBef>
              <a:spcAft>
                <a:spcPts val="0"/>
              </a:spcAft>
              <a:buNone/>
            </a:pPr>
            <a:r>
              <a:rPr lang="en-IN" sz="1600" dirty="0" b="1">
                <a:solidFill>
                  <a:srgbClr val="1B559B"/>
                </a:solidFill>
                <a:latin typeface="Arial"/>
                <a:cs typeface="Arial"/>
              </a:rPr>
              <a:t>Scalability</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Region presets</a:t>
            </a:r>
            <a:r>
              <a:rPr lang="en-IN" sz="1600" dirty="0">
                <a:solidFill>
                  <a:srgbClr val="0F172A"/>
                </a:solidFill>
                <a:latin typeface="Arial"/>
                <a:cs typeface="Arial"/>
              </a:rPr>
              <a:t> for East, NE, North, Central, West &amp; South India</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Modular pipeline</a:t>
            </a:r>
            <a:r>
              <a:rPr lang="en-IN" sz="1600" dirty="0">
                <a:solidFill>
                  <a:srgbClr val="0F172A"/>
                </a:solidFill>
                <a:latin typeface="Arial"/>
                <a:cs typeface="Arial"/>
              </a:rPr>
              <a:t> → add radars, satellites &amp; NWP blending</a:t>
            </a:r>
            <a:endParaRPr sz="1600"/>
          </a:p>
        </p:txBody>
      </p:sp>
      <p:graphicFrame>
        <p:nvGraphicFramePr>
          <p:cNvPr id="64" name="Table 63"/>
          <p:cNvGraphicFramePr>
            <a:graphicFrameLocks noGrp="1"/>
          </p:cNvGraphicFramePr>
          <p:nvPr/>
        </p:nvGraphicFramePr>
        <p:xfrm>
          <a:off x="8915400" y="1600200"/>
          <a:ext cx="8549640" cy="4114800"/>
        </p:xfrm>
        <a:graphic>
          <a:graphicData uri="http://schemas.openxmlformats.org/drawingml/2006/table">
            <a:tbl>
              <a:tblPr firstRow="0" bandRow="0">
                <a:tableStyleId>{5C22544A-7EE6-4342-B048-85BDC9FD1C3A}</a:tableStyleId>
              </a:tblPr>
              <a:tblGrid>
                <a:gridCol w="3246120"/>
                <a:gridCol w="5303520"/>
              </a:tblGrid>
              <a:tr h="548640">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Challenges &amp; Risks</a:t>
                      </a:r>
                      <a:endParaRPr sz="1500"/>
                    </a:p>
                  </a:txBody>
                  <a:tcPr marL="137160" marR="91440" marT="36576" marB="36576" anchor="ctr">
                    <a:solidFill>
                      <a:srgbClr val="DBEAFE"/>
                    </a:solidFill>
                  </a:tcPr>
                </a:tc>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How We Overcome Them</a:t>
                      </a:r>
                      <a:endParaRPr sz="1500"/>
                    </a:p>
                  </a:txBody>
                  <a:tcPr marL="137160" marR="91440" marT="36576" marB="36576" anchor="ctr">
                    <a:solidFill>
                      <a:srgbClr val="DBEAFE"/>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No INSAT / lightning feed yet</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Adapters built; MOSDAC &amp; IMD/IITM data access</a:t>
                      </a:r>
                      <a:endParaRPr sz="1400"/>
                    </a:p>
                  </a:txBody>
                  <a:tcPr marL="137160" marR="91440" marT="36576" marB="36576" anchor="ctr">
                    <a:solidFill>
                      <a:srgbClr val="FFFFFF"/>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Radar gaps &amp; outages</a:t>
                      </a:r>
                      <a:endParaRPr sz="1400"/>
                    </a:p>
                  </a:txBody>
                  <a:tcPr marL="658368"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Satellite + lightning proxy with confidence score</a:t>
                      </a:r>
                      <a:endParaRPr sz="1400"/>
                    </a:p>
                  </a:txBody>
                  <a:tcPr marL="137160" marR="91440" marT="36576" marB="36576" anchor="ctr">
                    <a:solidFill>
                      <a:srgbClr val="F8FAFC"/>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Skill drops after 2–3 h</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Widening probabilities; NWP blending on roadmap</a:t>
                      </a:r>
                      <a:endParaRPr sz="1400"/>
                    </a:p>
                  </a:txBody>
                  <a:tcPr marL="137160" marR="91440" marT="36576" marB="36576" anchor="ctr">
                    <a:solidFill>
                      <a:srgbClr val="FFFFFF"/>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AI overload &amp; API keys</a:t>
                      </a:r>
                      <a:endParaRPr sz="1400"/>
                    </a:p>
                  </a:txBody>
                  <a:tcPr marL="658368"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Gemini fallback chain → demo mode; keys server-side</a:t>
                      </a:r>
                      <a:endParaRPr sz="1400"/>
                    </a:p>
                  </a:txBody>
                  <a:tcPr marL="137160" marR="91440" marT="36576" marB="36576" anchor="ctr">
                    <a:solidFill>
                      <a:srgbClr val="F8FAFC"/>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False alarms &amp; trust</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Live verification; IMD warnings take precedence</a:t>
                      </a:r>
                      <a:endParaRPr sz="1400"/>
                    </a:p>
                  </a:txBody>
                  <a:tcPr marL="137160" marR="91440" marT="36576" marB="36576" anchor="ctr">
                    <a:solidFill>
                      <a:srgbClr val="FFFFFF"/>
                    </a:solidFill>
                  </a:tcPr>
                </a:tc>
              </a:tr>
            </a:tbl>
          </a:graphicData>
        </a:graphic>
      </p:graphicFrame>
      <p:pic>
        <p:nvPicPr>
          <p:cNvPr id="65" name="Picture 64" descr="image.png"/>
          <p:cNvPicPr>
            <a:picLocks noChangeAspect="1"/>
          </p:cNvPicPr>
          <p:nvPr/>
        </p:nvPicPr>
        <p:blipFill>
          <a:blip r:embed="rId7"/>
          <a:stretch>
            <a:fillRect/>
          </a:stretch>
        </p:blipFill>
        <p:spPr>
          <a:xfrm>
            <a:off x="9052560" y="2322576"/>
            <a:ext cx="365760" cy="365760"/>
          </a:xfrm>
          <a:prstGeom prst="rect">
            <a:avLst/>
          </a:prstGeom>
        </p:spPr>
      </p:pic>
      <p:pic>
        <p:nvPicPr>
          <p:cNvPr id="66" name="Picture 65" descr="image.png"/>
          <p:cNvPicPr>
            <a:picLocks noChangeAspect="1"/>
          </p:cNvPicPr>
          <p:nvPr/>
        </p:nvPicPr>
        <p:blipFill>
          <a:blip r:embed="rId8"/>
          <a:stretch>
            <a:fillRect/>
          </a:stretch>
        </p:blipFill>
        <p:spPr>
          <a:xfrm>
            <a:off x="9052560" y="3035808"/>
            <a:ext cx="365760" cy="365760"/>
          </a:xfrm>
          <a:prstGeom prst="rect">
            <a:avLst/>
          </a:prstGeom>
        </p:spPr>
      </p:pic>
      <p:pic>
        <p:nvPicPr>
          <p:cNvPr id="67" name="Picture 66" descr="image.png"/>
          <p:cNvPicPr>
            <a:picLocks noChangeAspect="1"/>
          </p:cNvPicPr>
          <p:nvPr/>
        </p:nvPicPr>
        <p:blipFill>
          <a:blip r:embed="rId5"/>
          <a:stretch>
            <a:fillRect/>
          </a:stretch>
        </p:blipFill>
        <p:spPr>
          <a:xfrm>
            <a:off x="9052560" y="3749040"/>
            <a:ext cx="365760" cy="365760"/>
          </a:xfrm>
          <a:prstGeom prst="rect">
            <a:avLst/>
          </a:prstGeom>
        </p:spPr>
      </p:pic>
      <p:pic>
        <p:nvPicPr>
          <p:cNvPr id="68" name="Picture 67" descr="image.png"/>
          <p:cNvPicPr>
            <a:picLocks noChangeAspect="1"/>
          </p:cNvPicPr>
          <p:nvPr/>
        </p:nvPicPr>
        <p:blipFill>
          <a:blip r:embed="rId9"/>
          <a:stretch>
            <a:fillRect/>
          </a:stretch>
        </p:blipFill>
        <p:spPr>
          <a:xfrm>
            <a:off x="9052560" y="4462272"/>
            <a:ext cx="365760" cy="365760"/>
          </a:xfrm>
          <a:prstGeom prst="rect">
            <a:avLst/>
          </a:prstGeom>
        </p:spPr>
      </p:pic>
      <p:pic>
        <p:nvPicPr>
          <p:cNvPr id="69" name="Picture 68" descr="image.png"/>
          <p:cNvPicPr>
            <a:picLocks noChangeAspect="1"/>
          </p:cNvPicPr>
          <p:nvPr/>
        </p:nvPicPr>
        <p:blipFill>
          <a:blip r:embed="rId6"/>
          <a:stretch>
            <a:fillRect/>
          </a:stretch>
        </p:blipFill>
        <p:spPr>
          <a:xfrm>
            <a:off x="9052560" y="5175504"/>
            <a:ext cx="365760" cy="365760"/>
          </a:xfrm>
          <a:prstGeom prst="rect">
            <a:avLst/>
          </a:prstGeom>
        </p:spPr>
      </p:pic>
      <p:sp>
        <p:nvSpPr>
          <p:cNvPr id="70" name="Rectangle 69"/>
          <p:cNvSpPr/>
          <p:nvPr/>
        </p:nvSpPr>
        <p:spPr>
          <a:xfrm>
            <a:off x="8915400" y="1600200"/>
            <a:ext cx="8549640" cy="4114800"/>
          </a:xfrm>
          <a:prstGeom prst="rect">
            <a:avLst/>
          </a:prstGeom>
          <a:no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1" name="Rectangle 70"/>
          <p:cNvSpPr/>
          <p:nvPr/>
        </p:nvSpPr>
        <p:spPr>
          <a:xfrm>
            <a:off x="8915400" y="5989320"/>
            <a:ext cx="8549640" cy="329184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37160" rIns="228600" bIns="91440">
            <a:noAutofit/>
          </a:bodyPr>
          <a:lstStyle/>
          <a:p>
            <a:pPr algn="l" marL="0" indent="0">
              <a:spcBef>
                <a:spcPts val="0"/>
              </a:spcBef>
              <a:spcAft>
                <a:spcPts val="0"/>
              </a:spcAft>
              <a:buNone/>
            </a:pPr>
            <a:r>
              <a:rPr lang="en-IN" sz="1800" dirty="0" b="1">
                <a:solidFill>
                  <a:srgbClr val="0066CC"/>
                </a:solidFill>
                <a:latin typeface="Arial"/>
                <a:cs typeface="Arial"/>
              </a:rPr>
              <a:t>KEY METRICS</a:t>
            </a:r>
            <a:endParaRPr sz="1800"/>
          </a:p>
        </p:txBody>
      </p:sp>
      <p:sp>
        <p:nvSpPr>
          <p:cNvPr id="72" name="Rounded Rectangle 71"/>
          <p:cNvSpPr/>
          <p:nvPr/>
        </p:nvSpPr>
        <p:spPr>
          <a:xfrm>
            <a:off x="914400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0.55</a:t>
            </a:r>
            <a:endParaRPr sz="3600"/>
          </a:p>
          <a:p>
            <a:pPr algn="ctr" marL="0" indent="0">
              <a:spcBef>
                <a:spcPts val="400"/>
              </a:spcBef>
              <a:spcAft>
                <a:spcPts val="0"/>
              </a:spcAft>
              <a:buNone/>
            </a:pPr>
            <a:r>
              <a:rPr lang="en-IN" sz="1250" dirty="0">
                <a:solidFill>
                  <a:srgbClr val="0F172A"/>
                </a:solidFill>
                <a:latin typeface="Arial"/>
                <a:cs typeface="Arial"/>
              </a:rPr>
              <a:t>forecast skill (CSI)</a:t>
            </a:r>
            <a:endParaRPr sz="1250"/>
          </a:p>
          <a:p>
            <a:pPr algn="ctr" marL="0" indent="0">
              <a:spcBef>
                <a:spcPts val="0"/>
              </a:spcBef>
              <a:spcAft>
                <a:spcPts val="0"/>
              </a:spcAft>
              <a:buNone/>
            </a:pPr>
            <a:r>
              <a:rPr lang="en-IN" sz="1250" dirty="0">
                <a:solidFill>
                  <a:srgbClr val="0F172A"/>
                </a:solidFill>
                <a:latin typeface="Arial"/>
                <a:cs typeface="Arial"/>
              </a:rPr>
              <a:t>at 30 min · 7× baseline*</a:t>
            </a:r>
            <a:endParaRPr sz="1250"/>
          </a:p>
        </p:txBody>
      </p:sp>
      <p:sp>
        <p:nvSpPr>
          <p:cNvPr id="73" name="Rounded Rectangle 72"/>
          <p:cNvSpPr/>
          <p:nvPr/>
        </p:nvSpPr>
        <p:spPr>
          <a:xfrm>
            <a:off x="1121283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86%</a:t>
            </a:r>
            <a:endParaRPr sz="3600"/>
          </a:p>
          <a:p>
            <a:pPr algn="ctr" marL="0" indent="0">
              <a:spcBef>
                <a:spcPts val="400"/>
              </a:spcBef>
              <a:spcAft>
                <a:spcPts val="0"/>
              </a:spcAft>
              <a:buNone/>
            </a:pPr>
            <a:r>
              <a:rPr lang="en-IN" sz="1250" dirty="0">
                <a:solidFill>
                  <a:srgbClr val="0F172A"/>
                </a:solidFill>
                <a:latin typeface="Arial"/>
                <a:cs typeface="Arial"/>
              </a:rPr>
              <a:t>storm areas caught</a:t>
            </a:r>
            <a:endParaRPr sz="1250"/>
          </a:p>
          <a:p>
            <a:pPr algn="ctr" marL="0" indent="0">
              <a:spcBef>
                <a:spcPts val="0"/>
              </a:spcBef>
              <a:spcAft>
                <a:spcPts val="0"/>
              </a:spcAft>
              <a:buNone/>
            </a:pPr>
            <a:r>
              <a:rPr lang="en-IN" sz="1250" dirty="0">
                <a:solidFill>
                  <a:srgbClr val="0F172A"/>
                </a:solidFill>
                <a:latin typeface="Arial"/>
                <a:cs typeface="Arial"/>
              </a:rPr>
              <a:t>at 30 min (POD)*</a:t>
            </a:r>
            <a:endParaRPr sz="1250"/>
          </a:p>
        </p:txBody>
      </p:sp>
      <p:sp>
        <p:nvSpPr>
          <p:cNvPr id="74" name="Rounded Rectangle 73"/>
          <p:cNvSpPr/>
          <p:nvPr/>
        </p:nvSpPr>
        <p:spPr>
          <a:xfrm>
            <a:off x="1328166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100" dirty="0" b="1">
                <a:solidFill>
                  <a:srgbClr val="0066CC"/>
                </a:solidFill>
                <a:latin typeface="Arial"/>
                <a:cs typeface="Arial"/>
              </a:rPr>
              <a:t>15 min</a:t>
            </a:r>
            <a:endParaRPr sz="3600"/>
          </a:p>
          <a:p>
            <a:pPr algn="ctr" marL="0" indent="0">
              <a:spcBef>
                <a:spcPts val="400"/>
              </a:spcBef>
              <a:spcAft>
                <a:spcPts val="0"/>
              </a:spcAft>
              <a:buNone/>
            </a:pPr>
            <a:r>
              <a:rPr lang="en-IN" sz="1250" dirty="0">
                <a:solidFill>
                  <a:srgbClr val="0F172A"/>
                </a:solidFill>
                <a:latin typeface="Arial"/>
                <a:cs typeface="Arial"/>
              </a:rPr>
              <a:t>new storms flagged</a:t>
            </a:r>
            <a:endParaRPr sz="1250"/>
          </a:p>
          <a:p>
            <a:pPr algn="ctr" marL="0" indent="0">
              <a:spcBef>
                <a:spcPts val="0"/>
              </a:spcBef>
              <a:spcAft>
                <a:spcPts val="0"/>
              </a:spcAft>
              <a:buNone/>
            </a:pPr>
            <a:r>
              <a:rPr lang="en-IN" sz="1250" dirty="0">
                <a:solidFill>
                  <a:srgbClr val="0F172A"/>
                </a:solidFill>
                <a:latin typeface="Arial"/>
                <a:cs typeface="Arial"/>
              </a:rPr>
              <a:t>before radar*</a:t>
            </a:r>
            <a:endParaRPr sz="1250"/>
          </a:p>
        </p:txBody>
      </p:sp>
      <p:sp>
        <p:nvSpPr>
          <p:cNvPr id="75" name="Rounded Rectangle 74"/>
          <p:cNvSpPr/>
          <p:nvPr/>
        </p:nvSpPr>
        <p:spPr>
          <a:xfrm>
            <a:off x="1535049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&lt;15 s</a:t>
            </a:r>
            <a:endParaRPr sz="3600"/>
          </a:p>
          <a:p>
            <a:pPr algn="ctr" marL="0" indent="0">
              <a:spcBef>
                <a:spcPts val="400"/>
              </a:spcBef>
              <a:spcAft>
                <a:spcPts val="0"/>
              </a:spcAft>
              <a:buNone/>
            </a:pPr>
            <a:r>
              <a:rPr lang="en-IN" sz="1250" dirty="0">
                <a:solidFill>
                  <a:srgbClr val="0F172A"/>
                </a:solidFill>
                <a:latin typeface="Arial"/>
                <a:cs typeface="Arial"/>
              </a:rPr>
              <a:t>full 0–6 h forecast</a:t>
            </a:r>
            <a:endParaRPr sz="1250"/>
          </a:p>
          <a:p>
            <a:pPr algn="ctr" marL="0" indent="0">
              <a:spcBef>
                <a:spcPts val="0"/>
              </a:spcBef>
              <a:spcAft>
                <a:spcPts val="0"/>
              </a:spcAft>
              <a:buNone/>
            </a:pPr>
            <a:r>
              <a:rPr lang="en-IN" sz="1250" dirty="0">
                <a:solidFill>
                  <a:srgbClr val="0F172A"/>
                </a:solidFill>
                <a:latin typeface="Arial"/>
                <a:cs typeface="Arial"/>
              </a:rPr>
              <a:t>on a laptop CPU</a:t>
            </a:r>
            <a:endParaRPr sz="1250"/>
          </a:p>
        </p:txBody>
      </p:sp>
      <p:sp>
        <p:nvSpPr>
          <p:cNvPr id="76" name="TextBox 75"/>
          <p:cNvSpPr txBox="1"/>
          <p:nvPr/>
        </p:nvSpPr>
        <p:spPr>
          <a:xfrm>
            <a:off x="11521440" y="6144768"/>
            <a:ext cx="5760720" cy="274320"/>
          </a:xfrm>
          <a:prstGeom prst="rect">
            <a:avLst/>
          </a:prstGeom>
          <a:noFill/>
        </p:spPr>
        <p:txBody>
          <a:bodyPr wrap="square" lIns="0" rIns="0" tIns="0" bIns="0">
            <a:spAutoFit/>
          </a:bodyPr>
          <a:lstStyle/>
          <a:p>
            <a:pPr algn="r"/>
            <a:r>
              <a:rPr sz="1000" b="0">
                <a:solidFill>
                  <a:srgbClr val="5B6B82"/>
                </a:solidFill>
                <a:latin typeface="Arial"/>
              </a:rPr>
              <a:t>* 150-min simulated Nor'wester benchmark, 24 verification samples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object 61"/>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62" name="object 62"/>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63" name="Hexagon 62"/>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TextBox 63"/>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5" name="TextBox 64"/>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IMPACT AND BENEFITS</a:t>
            </a:r>
            <a:endParaRPr sz="5400"/>
          </a:p>
        </p:txBody>
      </p:sp>
      <p:pic>
        <p:nvPicPr>
          <p:cNvPr id="66" name="Picture 65" descr="image.png"/>
          <p:cNvPicPr>
            <a:picLocks noChangeAspect="1"/>
          </p:cNvPicPr>
          <p:nvPr/>
        </p:nvPicPr>
        <p:blipFill>
          <a:blip r:embed="rId2"/>
          <a:stretch>
            <a:fillRect/>
          </a:stretch>
        </p:blipFill>
        <p:spPr>
          <a:xfrm>
            <a:off x="14666976" y="0"/>
            <a:ext cx="3374136" cy="1591056"/>
          </a:xfrm>
          <a:prstGeom prst="rect">
            <a:avLst/>
          </a:prstGeom>
        </p:spPr>
      </p:pic>
      <p:sp>
        <p:nvSpPr>
          <p:cNvPr id="67" name="Rounded Rectangle 66"/>
          <p:cNvSpPr/>
          <p:nvPr/>
        </p:nvSpPr>
        <p:spPr>
          <a:xfrm>
            <a:off x="822960" y="1600200"/>
            <a:ext cx="3145536" cy="1874519"/>
          </a:xfrm>
          <a:prstGeom prst="roundRect">
            <a:avLst>
              <a:gd name="adj" fmla="val 10000"/>
            </a:avLst>
          </a:prstGeom>
          <a:solidFill>
            <a:srgbClr val="FFEDD5"/>
          </a:solidFill>
          <a:ln w="15875">
            <a:solidFill>
              <a:srgbClr val="FB923C"/>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68" name="Picture 67" descr="image.png"/>
          <p:cNvPicPr>
            <a:picLocks noChangeAspect="1"/>
          </p:cNvPicPr>
          <p:nvPr/>
        </p:nvPicPr>
        <p:blipFill>
          <a:blip r:embed="rId4"/>
          <a:stretch>
            <a:fillRect/>
          </a:stretch>
        </p:blipFill>
        <p:spPr>
          <a:xfrm>
            <a:off x="2121408" y="1783080"/>
            <a:ext cx="548640" cy="548640"/>
          </a:xfrm>
          <a:prstGeom prst="rect">
            <a:avLst/>
          </a:prstGeom>
        </p:spPr>
      </p:pic>
      <p:sp>
        <p:nvSpPr>
          <p:cNvPr id="69" name="TextBox 68"/>
          <p:cNvSpPr txBox="1"/>
          <p:nvPr/>
        </p:nvSpPr>
        <p:spPr>
          <a:xfrm>
            <a:off x="914400"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C2410C"/>
                </a:solidFill>
                <a:latin typeface="Arial"/>
                <a:cs typeface="Arial"/>
              </a:rPr>
              <a:t>Social</a:t>
            </a:r>
            <a:endParaRPr sz="1700"/>
          </a:p>
        </p:txBody>
      </p:sp>
      <p:sp>
        <p:nvSpPr>
          <p:cNvPr id="70" name="TextBox 69"/>
          <p:cNvSpPr txBox="1"/>
          <p:nvPr/>
        </p:nvSpPr>
        <p:spPr>
          <a:xfrm>
            <a:off x="960120"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Alerts in English &amp; हिन्दी for all</a:t>
            </a:r>
            <a:endParaRPr sz="1350"/>
          </a:p>
        </p:txBody>
      </p:sp>
      <p:sp>
        <p:nvSpPr>
          <p:cNvPr id="71" name="Rounded Rectangle 70"/>
          <p:cNvSpPr/>
          <p:nvPr/>
        </p:nvSpPr>
        <p:spPr>
          <a:xfrm>
            <a:off x="4197096" y="1600200"/>
            <a:ext cx="3145536" cy="1874519"/>
          </a:xfrm>
          <a:prstGeom prst="roundRect">
            <a:avLst>
              <a:gd name="adj" fmla="val 10000"/>
            </a:avLst>
          </a:prstGeom>
          <a:solidFill>
            <a:srgbClr val="DBEAFE"/>
          </a:solidFill>
          <a:ln w="15875">
            <a:solidFill>
              <a:srgbClr val="60A5FA"/>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2" name="Picture 71" descr="image.png"/>
          <p:cNvPicPr>
            <a:picLocks noChangeAspect="1"/>
          </p:cNvPicPr>
          <p:nvPr/>
        </p:nvPicPr>
        <p:blipFill>
          <a:blip r:embed="rId5"/>
          <a:stretch>
            <a:fillRect/>
          </a:stretch>
        </p:blipFill>
        <p:spPr>
          <a:xfrm>
            <a:off x="5495544" y="1783080"/>
            <a:ext cx="548640" cy="548640"/>
          </a:xfrm>
          <a:prstGeom prst="rect">
            <a:avLst/>
          </a:prstGeom>
        </p:spPr>
      </p:pic>
      <p:sp>
        <p:nvSpPr>
          <p:cNvPr id="73" name="TextBox 72"/>
          <p:cNvSpPr txBox="1"/>
          <p:nvPr/>
        </p:nvSpPr>
        <p:spPr>
          <a:xfrm>
            <a:off x="4288536"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1D4ED8"/>
                </a:solidFill>
                <a:latin typeface="Arial"/>
                <a:cs typeface="Arial"/>
              </a:rPr>
              <a:t>Safety</a:t>
            </a:r>
            <a:endParaRPr sz="1700"/>
          </a:p>
        </p:txBody>
      </p:sp>
      <p:sp>
        <p:nvSpPr>
          <p:cNvPr id="74" name="TextBox 73"/>
          <p:cNvSpPr txBox="1"/>
          <p:nvPr/>
        </p:nvSpPr>
        <p:spPr>
          <a:xfrm>
            <a:off x="4334256"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Early shelter from lightning &amp; squalls</a:t>
            </a:r>
            <a:endParaRPr sz="1350"/>
          </a:p>
        </p:txBody>
      </p:sp>
      <p:sp>
        <p:nvSpPr>
          <p:cNvPr id="75" name="Rounded Rectangle 74"/>
          <p:cNvSpPr/>
          <p:nvPr/>
        </p:nvSpPr>
        <p:spPr>
          <a:xfrm>
            <a:off x="7571232" y="1600200"/>
            <a:ext cx="3145536" cy="1874519"/>
          </a:xfrm>
          <a:prstGeom prst="roundRect">
            <a:avLst>
              <a:gd name="adj" fmla="val 10000"/>
            </a:avLst>
          </a:prstGeom>
          <a:solidFill>
            <a:srgbClr val="DCFCE7"/>
          </a:solidFill>
          <a:ln w="15875">
            <a:solidFill>
              <a:srgbClr val="4ADE8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6" name="Picture 75" descr="image.png"/>
          <p:cNvPicPr>
            <a:picLocks noChangeAspect="1"/>
          </p:cNvPicPr>
          <p:nvPr/>
        </p:nvPicPr>
        <p:blipFill>
          <a:blip r:embed="rId6"/>
          <a:stretch>
            <a:fillRect/>
          </a:stretch>
        </p:blipFill>
        <p:spPr>
          <a:xfrm>
            <a:off x="8869680" y="1783080"/>
            <a:ext cx="548640" cy="548640"/>
          </a:xfrm>
          <a:prstGeom prst="rect">
            <a:avLst/>
          </a:prstGeom>
        </p:spPr>
      </p:pic>
      <p:sp>
        <p:nvSpPr>
          <p:cNvPr id="77" name="TextBox 76"/>
          <p:cNvSpPr txBox="1"/>
          <p:nvPr/>
        </p:nvSpPr>
        <p:spPr>
          <a:xfrm>
            <a:off x="7662672"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15803D"/>
                </a:solidFill>
                <a:latin typeface="Arial"/>
                <a:cs typeface="Arial"/>
              </a:rPr>
              <a:t>Environmental</a:t>
            </a:r>
            <a:endParaRPr sz="1700"/>
          </a:p>
        </p:txBody>
      </p:sp>
      <p:sp>
        <p:nvSpPr>
          <p:cNvPr id="78" name="TextBox 77"/>
          <p:cNvSpPr txBox="1"/>
          <p:nvPr/>
        </p:nvSpPr>
        <p:spPr>
          <a:xfrm>
            <a:off x="7708392"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Climate-resilient cloudburst alerts</a:t>
            </a:r>
            <a:endParaRPr sz="1350"/>
          </a:p>
        </p:txBody>
      </p:sp>
      <p:sp>
        <p:nvSpPr>
          <p:cNvPr id="79" name="Rounded Rectangle 78"/>
          <p:cNvSpPr/>
          <p:nvPr/>
        </p:nvSpPr>
        <p:spPr>
          <a:xfrm>
            <a:off x="10945368" y="1600200"/>
            <a:ext cx="3145536" cy="1874519"/>
          </a:xfrm>
          <a:prstGeom prst="roundRect">
            <a:avLst>
              <a:gd name="adj" fmla="val 10000"/>
            </a:avLst>
          </a:prstGeom>
          <a:solidFill>
            <a:srgbClr val="FFE4E6"/>
          </a:solidFill>
          <a:ln w="15875">
            <a:solidFill>
              <a:srgbClr val="FB718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80" name="Picture 79" descr="image.png"/>
          <p:cNvPicPr>
            <a:picLocks noChangeAspect="1"/>
          </p:cNvPicPr>
          <p:nvPr/>
        </p:nvPicPr>
        <p:blipFill>
          <a:blip r:embed="rId7"/>
          <a:stretch>
            <a:fillRect/>
          </a:stretch>
        </p:blipFill>
        <p:spPr>
          <a:xfrm>
            <a:off x="12243816" y="1783080"/>
            <a:ext cx="548640" cy="548640"/>
          </a:xfrm>
          <a:prstGeom prst="rect">
            <a:avLst/>
          </a:prstGeom>
        </p:spPr>
      </p:pic>
      <p:sp>
        <p:nvSpPr>
          <p:cNvPr id="81" name="TextBox 80"/>
          <p:cNvSpPr txBox="1"/>
          <p:nvPr/>
        </p:nvSpPr>
        <p:spPr>
          <a:xfrm>
            <a:off x="11036808"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BE123C"/>
                </a:solidFill>
                <a:latin typeface="Arial"/>
                <a:cs typeface="Arial"/>
              </a:rPr>
              <a:t>Economical</a:t>
            </a:r>
            <a:endParaRPr sz="1700"/>
          </a:p>
        </p:txBody>
      </p:sp>
      <p:sp>
        <p:nvSpPr>
          <p:cNvPr id="82" name="TextBox 81"/>
          <p:cNvSpPr txBox="1"/>
          <p:nvPr/>
        </p:nvSpPr>
        <p:spPr>
          <a:xfrm>
            <a:off x="11082528"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Protects crops, flights &amp; power</a:t>
            </a:r>
            <a:endParaRPr sz="1350"/>
          </a:p>
        </p:txBody>
      </p:sp>
      <p:sp>
        <p:nvSpPr>
          <p:cNvPr id="83" name="Rounded Rectangle 82"/>
          <p:cNvSpPr/>
          <p:nvPr/>
        </p:nvSpPr>
        <p:spPr>
          <a:xfrm>
            <a:off x="14319504" y="1600200"/>
            <a:ext cx="3145536" cy="1874519"/>
          </a:xfrm>
          <a:prstGeom prst="roundRect">
            <a:avLst>
              <a:gd name="adj" fmla="val 10000"/>
            </a:avLst>
          </a:prstGeom>
          <a:solidFill>
            <a:srgbClr val="E2E8F0"/>
          </a:solidFill>
          <a:ln w="15875">
            <a:solidFill>
              <a:srgbClr val="94A3B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84" name="Picture 83" descr="image.png"/>
          <p:cNvPicPr>
            <a:picLocks noChangeAspect="1"/>
          </p:cNvPicPr>
          <p:nvPr/>
        </p:nvPicPr>
        <p:blipFill>
          <a:blip r:embed="rId8"/>
          <a:stretch>
            <a:fillRect/>
          </a:stretch>
        </p:blipFill>
        <p:spPr>
          <a:xfrm>
            <a:off x="15617952" y="1783080"/>
            <a:ext cx="548640" cy="548640"/>
          </a:xfrm>
          <a:prstGeom prst="rect">
            <a:avLst/>
          </a:prstGeom>
        </p:spPr>
      </p:pic>
      <p:sp>
        <p:nvSpPr>
          <p:cNvPr id="85" name="TextBox 84"/>
          <p:cNvSpPr txBox="1"/>
          <p:nvPr/>
        </p:nvSpPr>
        <p:spPr>
          <a:xfrm>
            <a:off x="14410944"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334155"/>
                </a:solidFill>
                <a:latin typeface="Arial"/>
                <a:cs typeface="Arial"/>
              </a:rPr>
              <a:t>Technological</a:t>
            </a:r>
            <a:endParaRPr sz="1700"/>
          </a:p>
        </p:txBody>
      </p:sp>
      <p:sp>
        <p:nvSpPr>
          <p:cNvPr id="86" name="TextBox 85"/>
          <p:cNvSpPr txBox="1"/>
          <p:nvPr/>
        </p:nvSpPr>
        <p:spPr>
          <a:xfrm>
            <a:off x="14456664"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AI data fusion + live GIS nowcasts</a:t>
            </a:r>
            <a:endParaRPr sz="1350"/>
          </a:p>
        </p:txBody>
      </p:sp>
      <p:sp>
        <p:nvSpPr>
          <p:cNvPr id="87" name="Rectangle 86"/>
          <p:cNvSpPr/>
          <p:nvPr/>
        </p:nvSpPr>
        <p:spPr>
          <a:xfrm>
            <a:off x="822960" y="3749039"/>
            <a:ext cx="8206740" cy="553212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WHO BENEFITS</a:t>
            </a:r>
            <a:endParaRPr sz="1800"/>
          </a:p>
          <a:p>
            <a:pPr algn="l" marL="0" indent="0">
              <a:spcBef>
                <a:spcPts val="1800"/>
              </a:spcBef>
              <a:spcAft>
                <a:spcPts val="0"/>
              </a:spcAft>
              <a:buNone/>
            </a:pPr>
            <a:r>
              <a:rPr lang="en-IN" sz="1600" dirty="0" b="1">
                <a:solidFill>
                  <a:srgbClr val="1B559B"/>
                </a:solidFill>
                <a:latin typeface="Arial"/>
                <a:cs typeface="Arial"/>
              </a:rPr>
              <a:t>District &amp; State Disaster Authorities</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Targeted Warnings – </a:t>
            </a:r>
            <a:r>
              <a:rPr lang="en-IN" sz="1650" dirty="0" b="1">
                <a:solidFill>
                  <a:srgbClr val="0066CC"/>
                </a:solidFill>
                <a:latin typeface="Arial"/>
                <a:cs typeface="Arial"/>
              </a:rPr>
              <a:t>ETA per city &amp; block</a:t>
            </a:r>
            <a:r>
              <a:rPr lang="en-IN" sz="1650" dirty="0">
                <a:solidFill>
                  <a:srgbClr val="0F172A"/>
                </a:solidFill>
                <a:latin typeface="Arial"/>
                <a:cs typeface="Arial"/>
              </a:rPr>
              <a:t>, not whole districts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Faster Response – </a:t>
            </a:r>
            <a:r>
              <a:rPr lang="en-IN" sz="1650" dirty="0">
                <a:solidFill>
                  <a:srgbClr val="0F172A"/>
                </a:solidFill>
                <a:latin typeface="Arial"/>
                <a:cs typeface="Arial"/>
              </a:rPr>
              <a:t>teams deployed before the storm arrives</a:t>
            </a:r>
            <a:endParaRPr sz="1650"/>
          </a:p>
          <a:p>
            <a:pPr algn="l" marL="0" indent="0">
              <a:spcBef>
                <a:spcPts val="2800"/>
              </a:spcBef>
              <a:spcAft>
                <a:spcPts val="0"/>
              </a:spcAft>
              <a:buNone/>
            </a:pPr>
            <a:r>
              <a:rPr lang="en-IN" sz="1600" dirty="0" b="1">
                <a:solidFill>
                  <a:srgbClr val="1B559B"/>
                </a:solidFill>
                <a:latin typeface="Arial"/>
                <a:cs typeface="Arial"/>
              </a:rPr>
              <a:t>Airports &amp; Aviation</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Gust &amp; Wind-Shear Alerts – </a:t>
            </a:r>
            <a:r>
              <a:rPr lang="en-IN" sz="1650" dirty="0">
                <a:solidFill>
                  <a:srgbClr val="0F172A"/>
                </a:solidFill>
                <a:latin typeface="Arial"/>
                <a:cs typeface="Arial"/>
              </a:rPr>
              <a:t>live countdown for each airport</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Safer Operations – </a:t>
            </a:r>
            <a:r>
              <a:rPr lang="en-IN" sz="1650" dirty="0">
                <a:solidFill>
                  <a:srgbClr val="0F172A"/>
                </a:solidFill>
                <a:latin typeface="Arial"/>
                <a:cs typeface="Arial"/>
              </a:rPr>
              <a:t>plan holds &amp; diversions in advance</a:t>
            </a:r>
            <a:endParaRPr sz="1650"/>
          </a:p>
          <a:p>
            <a:pPr algn="l" marL="0" indent="0">
              <a:spcBef>
                <a:spcPts val="2800"/>
              </a:spcBef>
              <a:spcAft>
                <a:spcPts val="0"/>
              </a:spcAft>
              <a:buNone/>
            </a:pPr>
            <a:r>
              <a:rPr lang="en-IN" sz="1600" dirty="0" b="1">
                <a:solidFill>
                  <a:srgbClr val="1B559B"/>
                </a:solidFill>
                <a:latin typeface="Arial"/>
                <a:cs typeface="Arial"/>
              </a:rPr>
              <a:t>Farmers &amp; Rural Communities</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Hail &amp; Cloudburst Warnings – </a:t>
            </a:r>
            <a:r>
              <a:rPr lang="en-IN" sz="1650" dirty="0">
                <a:solidFill>
                  <a:srgbClr val="0F172A"/>
                </a:solidFill>
                <a:latin typeface="Arial"/>
                <a:cs typeface="Arial"/>
              </a:rPr>
              <a:t>protect crops &amp; livestock</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Lightning Safety – </a:t>
            </a:r>
            <a:r>
              <a:rPr lang="en-IN" sz="1650" dirty="0">
                <a:solidFill>
                  <a:srgbClr val="0F172A"/>
                </a:solidFill>
                <a:latin typeface="Arial"/>
                <a:cs typeface="Arial"/>
              </a:rPr>
              <a:t>shelter advice in the local language</a:t>
            </a:r>
            <a:endParaRPr sz="1650"/>
          </a:p>
        </p:txBody>
      </p:sp>
      <p:sp>
        <p:nvSpPr>
          <p:cNvPr id="88" name="Rectangle 87"/>
          <p:cNvSpPr/>
          <p:nvPr/>
        </p:nvSpPr>
        <p:spPr>
          <a:xfrm>
            <a:off x="9258300" y="3749039"/>
            <a:ext cx="8206740" cy="553212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NATIONAL IMPACT</a:t>
            </a:r>
            <a:endParaRPr sz="1800"/>
          </a:p>
          <a:p>
            <a:pPr algn="l" marL="0" indent="0">
              <a:spcBef>
                <a:spcPts val="1800"/>
              </a:spcBef>
              <a:spcAft>
                <a:spcPts val="0"/>
              </a:spcAft>
              <a:buNone/>
            </a:pPr>
            <a:r>
              <a:rPr lang="en-IN" sz="1600" dirty="0" b="1">
                <a:solidFill>
                  <a:srgbClr val="1B559B"/>
                </a:solidFill>
                <a:latin typeface="Arial"/>
                <a:cs typeface="Arial"/>
              </a:rPr>
              <a:t>Lives &amp; Safety</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Fewer Casualties – </a:t>
            </a:r>
            <a:r>
              <a:rPr lang="en-IN" sz="1650" dirty="0">
                <a:solidFill>
                  <a:srgbClr val="0F172A"/>
                </a:solidFill>
                <a:latin typeface="Arial"/>
                <a:cs typeface="Arial"/>
              </a:rPr>
              <a:t>lightning &amp; storms kill thousands yearly</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Disaster Resilience – </a:t>
            </a:r>
            <a:r>
              <a:rPr lang="en-IN" sz="1650" dirty="0">
                <a:solidFill>
                  <a:srgbClr val="0F172A"/>
                </a:solidFill>
                <a:latin typeface="Arial"/>
                <a:cs typeface="Arial"/>
              </a:rPr>
              <a:t>strengthens IMD &amp; NDMA early warnings</a:t>
            </a:r>
            <a:endParaRPr sz="1650"/>
          </a:p>
          <a:p>
            <a:pPr algn="l" marL="0" indent="0">
              <a:spcBef>
                <a:spcPts val="2800"/>
              </a:spcBef>
              <a:spcAft>
                <a:spcPts val="0"/>
              </a:spcAft>
              <a:buNone/>
            </a:pPr>
            <a:r>
              <a:rPr lang="en-IN" sz="1600" dirty="0" b="1">
                <a:solidFill>
                  <a:srgbClr val="1B559B"/>
                </a:solidFill>
                <a:latin typeface="Arial"/>
                <a:cs typeface="Arial"/>
              </a:rPr>
              <a:t>Economic Growth</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Crop Protection – </a:t>
            </a:r>
            <a:r>
              <a:rPr lang="en-IN" sz="1650" dirty="0">
                <a:solidFill>
                  <a:srgbClr val="0F172A"/>
                </a:solidFill>
                <a:latin typeface="Arial"/>
                <a:cs typeface="Arial"/>
              </a:rPr>
              <a:t>timely hail &amp; heavy-rain alerts cut losses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Aviation &amp; Power – </a:t>
            </a:r>
            <a:r>
              <a:rPr lang="en-IN" sz="1650" dirty="0">
                <a:solidFill>
                  <a:srgbClr val="0F172A"/>
                </a:solidFill>
                <a:latin typeface="Arial"/>
                <a:cs typeface="Arial"/>
              </a:rPr>
              <a:t>fewer diversions and line outages</a:t>
            </a:r>
            <a:endParaRPr sz="1650"/>
          </a:p>
          <a:p>
            <a:pPr algn="l" marL="0" indent="0">
              <a:spcBef>
                <a:spcPts val="2800"/>
              </a:spcBef>
              <a:spcAft>
                <a:spcPts val="0"/>
              </a:spcAft>
              <a:buNone/>
            </a:pPr>
            <a:r>
              <a:rPr lang="en-IN" sz="1600" dirty="0" b="1">
                <a:solidFill>
                  <a:srgbClr val="1B559B"/>
                </a:solidFill>
                <a:latin typeface="Arial"/>
                <a:cs typeface="Arial"/>
              </a:rPr>
              <a:t>Digital Leadership</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Mission Mausam – </a:t>
            </a:r>
            <a:r>
              <a:rPr lang="en-IN" sz="1650" dirty="0">
                <a:solidFill>
                  <a:srgbClr val="0F172A"/>
                </a:solidFill>
                <a:latin typeface="Arial"/>
                <a:cs typeface="Arial"/>
              </a:rPr>
              <a:t>supports India's weather-ready goals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Open Integration – </a:t>
            </a:r>
            <a:r>
              <a:rPr lang="en-IN" sz="1650" dirty="0">
                <a:solidFill>
                  <a:srgbClr val="0F172A"/>
                </a:solidFill>
                <a:latin typeface="Arial"/>
                <a:cs typeface="Arial"/>
              </a:rPr>
              <a:t>GeoJSON, ODIM &amp; REST plug into existing systems</a:t>
            </a:r>
            <a:endParaRPr sz="16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bject 56"/>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7" name="object 57"/>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8" name="Hexagon 57"/>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TextBox 58"/>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0" name="TextBox 59"/>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RESEARCH AND REFERENCES</a:t>
            </a:r>
            <a:endParaRPr sz="5400"/>
          </a:p>
        </p:txBody>
      </p:sp>
      <p:pic>
        <p:nvPicPr>
          <p:cNvPr id="61" name="Picture 60" descr="image.png"/>
          <p:cNvPicPr>
            <a:picLocks noChangeAspect="1"/>
          </p:cNvPicPr>
          <p:nvPr/>
        </p:nvPicPr>
        <p:blipFill>
          <a:blip r:embed="rId2"/>
          <a:stretch>
            <a:fillRect/>
          </a:stretch>
        </p:blipFill>
        <p:spPr>
          <a:xfrm>
            <a:off x="14666976" y="0"/>
            <a:ext cx="3374136" cy="1591056"/>
          </a:xfrm>
          <a:prstGeom prst="rect">
            <a:avLst/>
          </a:prstGeom>
        </p:spPr>
      </p:pic>
      <p:sp>
        <p:nvSpPr>
          <p:cNvPr id="62" name="Rectangle 61"/>
          <p:cNvSpPr/>
          <p:nvPr/>
        </p:nvSpPr>
        <p:spPr>
          <a:xfrm>
            <a:off x="822960" y="1600200"/>
            <a:ext cx="78638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RESEARCH BASE</a:t>
            </a:r>
            <a:endParaRPr sz="1800"/>
          </a:p>
          <a:p>
            <a:pPr algn="l" marL="0" indent="0">
              <a:spcBef>
                <a:spcPts val="1600"/>
              </a:spcBef>
              <a:spcAft>
                <a:spcPts val="0"/>
              </a:spcAft>
              <a:buNone/>
            </a:pPr>
            <a:r>
              <a:rPr lang="en-IN" sz="1600" dirty="0" b="1">
                <a:solidFill>
                  <a:srgbClr val="1B559B"/>
                </a:solidFill>
                <a:latin typeface="Arial"/>
                <a:cs typeface="Arial"/>
              </a:rPr>
              <a:t>Nowcasting &amp; Storm Tracking</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Radar Extrapolation – </a:t>
            </a:r>
            <a:r>
              <a:rPr lang="en-IN" sz="1550" dirty="0">
                <a:solidFill>
                  <a:srgbClr val="0F172A"/>
                </a:solidFill>
                <a:latin typeface="Arial"/>
                <a:cs typeface="Arial"/>
              </a:rPr>
              <a:t>Germann &amp; Zawadzki (2002), Mon. Wea. Rev.</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pySTEPS Nowcasting – </a:t>
            </a:r>
            <a:r>
              <a:rPr lang="en-IN" sz="1550" dirty="0">
                <a:solidFill>
                  <a:srgbClr val="0F172A"/>
                </a:solidFill>
                <a:latin typeface="Arial"/>
                <a:cs typeface="Arial"/>
              </a:rPr>
              <a:t>Pulkkinen et al. (2019), Geosci. Model Dev.</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Cell Tracking – </a:t>
            </a:r>
            <a:r>
              <a:rPr lang="en-IN" sz="1550" dirty="0">
                <a:solidFill>
                  <a:srgbClr val="0F172A"/>
                </a:solidFill>
                <a:latin typeface="Arial"/>
                <a:cs typeface="Arial"/>
              </a:rPr>
              <a:t>Dixon &amp; Wiener (1993) TITAN, J. Atmos. Ocean. Tech.</a:t>
            </a:r>
            <a:endParaRPr sz="1550"/>
          </a:p>
          <a:p>
            <a:pPr algn="l" marL="0" indent="0">
              <a:spcBef>
                <a:spcPts val="2200"/>
              </a:spcBef>
              <a:spcAft>
                <a:spcPts val="0"/>
              </a:spcAft>
              <a:buNone/>
            </a:pPr>
            <a:r>
              <a:rPr lang="en-IN" sz="1600" dirty="0" b="1">
                <a:solidFill>
                  <a:srgbClr val="1B559B"/>
                </a:solidFill>
                <a:latin typeface="Arial"/>
                <a:cs typeface="Arial"/>
              </a:rPr>
              <a:t>Convection &amp; Hazards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Convective Initiation – </a:t>
            </a:r>
            <a:r>
              <a:rPr lang="en-IN" sz="1550" dirty="0">
                <a:solidFill>
                  <a:srgbClr val="0F172A"/>
                </a:solidFill>
                <a:latin typeface="Arial"/>
                <a:cs typeface="Arial"/>
              </a:rPr>
              <a:t>Mecikalski &amp; Bedka (2006) SATCAST, MWR</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Lightning Jump – </a:t>
            </a:r>
            <a:r>
              <a:rPr lang="en-IN" sz="1550" dirty="0">
                <a:solidFill>
                  <a:srgbClr val="0F172A"/>
                </a:solidFill>
                <a:latin typeface="Arial"/>
                <a:cs typeface="Arial"/>
              </a:rPr>
              <a:t>Schultz et al. (2009), J. Appl. Meteor. Climatol.</a:t>
            </a:r>
            <a:endParaRPr sz="1550"/>
          </a:p>
          <a:p>
            <a:pPr algn="l" marL="0" indent="0">
              <a:spcBef>
                <a:spcPts val="2200"/>
              </a:spcBef>
              <a:spcAft>
                <a:spcPts val="0"/>
              </a:spcAft>
              <a:buNone/>
            </a:pPr>
            <a:r>
              <a:rPr lang="en-IN" sz="1600" dirty="0" b="1">
                <a:solidFill>
                  <a:srgbClr val="1B559B"/>
                </a:solidFill>
                <a:latin typeface="Arial"/>
                <a:cs typeface="Arial"/>
              </a:rPr>
              <a:t>Hail &amp; Gusts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VIL Density Hail – </a:t>
            </a:r>
            <a:r>
              <a:rPr lang="en-IN" sz="1550" dirty="0">
                <a:solidFill>
                  <a:srgbClr val="0F172A"/>
                </a:solidFill>
                <a:latin typeface="Arial"/>
                <a:cs typeface="Arial"/>
              </a:rPr>
              <a:t>Amburn &amp; Wolf (1997), Weather &amp; Forecasting</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Downburst Gust – </a:t>
            </a:r>
            <a:r>
              <a:rPr lang="en-IN" sz="1550" dirty="0">
                <a:solidFill>
                  <a:srgbClr val="0F172A"/>
                </a:solidFill>
                <a:latin typeface="Arial"/>
                <a:cs typeface="Arial"/>
              </a:rPr>
              <a:t>Stewart (1991) VIL + echo-top relation</a:t>
            </a:r>
            <a:endParaRPr sz="1550"/>
          </a:p>
          <a:p>
            <a:pPr algn="l" marL="0" indent="0">
              <a:spcBef>
                <a:spcPts val="2200"/>
              </a:spcBef>
              <a:spcAft>
                <a:spcPts val="0"/>
              </a:spcAft>
              <a:buNone/>
            </a:pPr>
            <a:r>
              <a:rPr lang="en-IN" sz="1600" dirty="0" b="1">
                <a:solidFill>
                  <a:srgbClr val="1B559B"/>
                </a:solidFill>
                <a:latin typeface="Arial"/>
                <a:cs typeface="Arial"/>
              </a:rPr>
              <a:t>Proven Implementations &amp; Benchmarks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Benchmarked vs – </a:t>
            </a:r>
            <a:r>
              <a:rPr lang="en-IN" sz="1550" dirty="0">
                <a:solidFill>
                  <a:srgbClr val="0F172A"/>
                </a:solidFill>
                <a:latin typeface="Arial"/>
                <a:cs typeface="Arial"/>
              </a:rPr>
              <a:t>NOAA MRMS, UK Met Office STEPS, NCAR TITAN</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Operational peers – </a:t>
            </a:r>
            <a:r>
              <a:rPr lang="en-IN" sz="1550" dirty="0">
                <a:solidFill>
                  <a:srgbClr val="0F172A"/>
                </a:solidFill>
                <a:latin typeface="Arial"/>
                <a:cs typeface="Arial"/>
              </a:rPr>
              <a:t>EUMETSAT NWC SAF CI, IMD district nowcasts</a:t>
            </a:r>
            <a:endParaRPr sz="1550"/>
          </a:p>
        </p:txBody>
      </p:sp>
      <p:sp>
        <p:nvSpPr>
          <p:cNvPr id="63" name="Rectangle 62"/>
          <p:cNvSpPr/>
          <p:nvPr/>
        </p:nvSpPr>
        <p:spPr>
          <a:xfrm>
            <a:off x="8915400" y="1600200"/>
            <a:ext cx="85496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91440">
            <a:noAutofit/>
          </a:bodyPr>
          <a:lstStyle/>
          <a:p>
            <a:pPr algn="ctr" marL="0" indent="0">
              <a:spcBef>
                <a:spcPts val="0"/>
              </a:spcBef>
              <a:spcAft>
                <a:spcPts val="0"/>
              </a:spcAft>
              <a:buNone/>
            </a:pPr>
            <a:r>
              <a:rPr lang="en-IN" sz="1800" dirty="0" b="1">
                <a:solidFill>
                  <a:srgbClr val="0066CC"/>
                </a:solidFill>
                <a:latin typeface="Arial"/>
                <a:cs typeface="Arial"/>
              </a:rPr>
              <a:t>WORKING PROTOTYPE · LIVE PROOF</a:t>
            </a:r>
            <a:endParaRPr sz="1800"/>
          </a:p>
        </p:txBody>
      </p:sp>
      <p:pic>
        <p:nvPicPr>
          <p:cNvPr id="64" name="Picture 63" descr="c_hail.jpg"/>
          <p:cNvPicPr>
            <a:picLocks noChangeAspect="1"/>
          </p:cNvPicPr>
          <p:nvPr/>
        </p:nvPicPr>
        <p:blipFill>
          <a:blip r:embed="rId4"/>
          <a:stretch>
            <a:fillRect/>
          </a:stretch>
        </p:blipFill>
        <p:spPr>
          <a:xfrm>
            <a:off x="9235440" y="2194560"/>
            <a:ext cx="4423117" cy="3520440"/>
          </a:xfrm>
          <a:prstGeom prst="rect">
            <a:avLst/>
          </a:prstGeom>
          <a:ln w="12700">
            <a:solidFill>
              <a:srgbClr val="C9D6E8"/>
            </a:solidFill>
          </a:ln>
        </p:spPr>
      </p:pic>
      <p:pic>
        <p:nvPicPr>
          <p:cNvPr id="65" name="Picture 64" descr="c_ai.jpg"/>
          <p:cNvPicPr>
            <a:picLocks noChangeAspect="1"/>
          </p:cNvPicPr>
          <p:nvPr/>
        </p:nvPicPr>
        <p:blipFill>
          <a:blip r:embed="rId5"/>
          <a:stretch>
            <a:fillRect/>
          </a:stretch>
        </p:blipFill>
        <p:spPr>
          <a:xfrm>
            <a:off x="13807440" y="2194560"/>
            <a:ext cx="3113257" cy="3520440"/>
          </a:xfrm>
          <a:prstGeom prst="rect">
            <a:avLst/>
          </a:prstGeom>
          <a:ln w="12700">
            <a:solidFill>
              <a:srgbClr val="C9D6E8"/>
            </a:solidFill>
          </a:ln>
        </p:spPr>
      </p:pic>
      <p:sp>
        <p:nvSpPr>
          <p:cNvPr id="66" name="TextBox 65"/>
          <p:cNvSpPr txBox="1"/>
          <p:nvPr/>
        </p:nvSpPr>
        <p:spPr>
          <a:xfrm>
            <a:off x="9235440" y="5779008"/>
            <a:ext cx="4425696" cy="274320"/>
          </a:xfrm>
          <a:prstGeom prst="rect">
            <a:avLst/>
          </a:prstGeom>
          <a:noFill/>
        </p:spPr>
        <p:txBody>
          <a:bodyPr wrap="square" lIns="0" rIns="0" tIns="0" bIns="0">
            <a:spAutoFit/>
          </a:bodyPr>
          <a:lstStyle/>
          <a:p>
            <a:pPr algn="ctr"/>
            <a:r>
              <a:rPr sz="1050" b="0">
                <a:solidFill>
                  <a:srgbClr val="5B6B82"/>
                </a:solidFill>
                <a:latin typeface="Arial"/>
              </a:rPr>
              <a:t>Hail probability · +30 min forecast</a:t>
            </a:r>
          </a:p>
        </p:txBody>
      </p:sp>
      <p:sp>
        <p:nvSpPr>
          <p:cNvPr id="67" name="TextBox 66"/>
          <p:cNvSpPr txBox="1"/>
          <p:nvPr/>
        </p:nvSpPr>
        <p:spPr>
          <a:xfrm>
            <a:off x="13807440" y="5779008"/>
            <a:ext cx="3108960" cy="274320"/>
          </a:xfrm>
          <a:prstGeom prst="rect">
            <a:avLst/>
          </a:prstGeom>
          <a:noFill/>
        </p:spPr>
        <p:txBody>
          <a:bodyPr wrap="square" lIns="0" rIns="0" tIns="0" bIns="0">
            <a:spAutoFit/>
          </a:bodyPr>
          <a:lstStyle/>
          <a:p>
            <a:pPr algn="ctr"/>
            <a:r>
              <a:rPr sz="1050" b="0">
                <a:solidFill>
                  <a:srgbClr val="5B6B82"/>
                </a:solidFill>
                <a:latin typeface="Arial"/>
              </a:rPr>
              <a:t>AI assistant · live answer</a:t>
            </a:r>
          </a:p>
        </p:txBody>
      </p:sp>
      <p:sp>
        <p:nvSpPr>
          <p:cNvPr id="68" name="Rounded Rectangle 67"/>
          <p:cNvSpPr/>
          <p:nvPr/>
        </p:nvSpPr>
        <p:spPr>
          <a:xfrm>
            <a:off x="9235440"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9/9</a:t>
            </a:r>
          </a:p>
          <a:p>
            <a:pPr algn="ctr"/>
            <a:r>
              <a:rPr sz="1150" b="0">
                <a:solidFill>
                  <a:srgbClr val="0F172A"/>
                </a:solidFill>
                <a:latin typeface="Arial"/>
              </a:rPr>
              <a:t>automated tests pass</a:t>
            </a:r>
          </a:p>
        </p:txBody>
      </p:sp>
      <p:sp>
        <p:nvSpPr>
          <p:cNvPr id="69" name="Rounded Rectangle 68"/>
          <p:cNvSpPr/>
          <p:nvPr/>
        </p:nvSpPr>
        <p:spPr>
          <a:xfrm>
            <a:off x="11964924"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37</a:t>
            </a:r>
          </a:p>
          <a:p>
            <a:pPr algn="ctr"/>
            <a:r>
              <a:rPr sz="1150" b="0">
                <a:solidFill>
                  <a:srgbClr val="0F172A"/>
                </a:solidFill>
                <a:latin typeface="Arial"/>
              </a:rPr>
              <a:t>forecast steps, 0–6 h</a:t>
            </a:r>
          </a:p>
        </p:txBody>
      </p:sp>
      <p:sp>
        <p:nvSpPr>
          <p:cNvPr id="70" name="Rounded Rectangle 69"/>
          <p:cNvSpPr/>
          <p:nvPr/>
        </p:nvSpPr>
        <p:spPr>
          <a:xfrm>
            <a:off x="14694408"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80+</a:t>
            </a:r>
          </a:p>
          <a:p>
            <a:pPr algn="ctr"/>
            <a:r>
              <a:rPr sz="1150" b="0">
                <a:solidFill>
                  <a:srgbClr val="0F172A"/>
                </a:solidFill>
                <a:latin typeface="Arial"/>
              </a:rPr>
              <a:t>places with countdowns</a:t>
            </a:r>
          </a:p>
        </p:txBody>
      </p:sp>
      <p:sp>
        <p:nvSpPr>
          <p:cNvPr id="71" name="TextBox 70"/>
          <p:cNvSpPr txBox="1"/>
          <p:nvPr/>
        </p:nvSpPr>
        <p:spPr>
          <a:xfrm>
            <a:off x="9235440" y="7635240"/>
            <a:ext cx="8001000" cy="1097280"/>
          </a:xfrm>
          <a:prstGeom prst="rect">
            <a:avLst/>
          </a:prstGeom>
          <a:noFill/>
        </p:spPr>
        <p:txBody>
          <a:bodyPr wrap="square" lIns="0" rIns="0" tIns="0" bIns="0">
            <a:spAutoFit/>
          </a:bodyPr>
          <a:lstStyle/>
          <a:p>
            <a:pPr algn="l" marL="292608" indent="-292608">
              <a:spcBef>
                <a:spcPts val="800"/>
              </a:spcBef>
              <a:spcAft>
                <a:spcPts val="0"/>
              </a:spcAft>
              <a:buClr>
                <a:srgbClr val="0066CC"/>
              </a:buClr>
              <a:buSzPct val="90000"/>
              <a:buFont typeface="Wingdings" pitchFamily="2" charset="2"/>
              <a:buChar char="v"/>
            </a:pPr>
            <a:r>
              <a:rPr lang="en-IN" sz="1500" dirty="0" b="1">
                <a:solidFill>
                  <a:srgbClr val="0F172A"/>
                </a:solidFill>
                <a:latin typeface="Arial"/>
                <a:cs typeface="Arial"/>
              </a:rPr>
              <a:t>Real data – </a:t>
            </a:r>
            <a:r>
              <a:rPr lang="en-IN" sz="1500" dirty="0">
                <a:solidFill>
                  <a:srgbClr val="0F172A"/>
                </a:solidFill>
                <a:latin typeface="Arial"/>
                <a:cs typeface="Arial"/>
              </a:rPr>
              <a:t>live RainViewer radar frames every 10 min</a:t>
            </a:r>
            <a:endParaRPr sz="1550"/>
          </a:p>
          <a:p>
            <a:pPr algn="l" marL="292608" indent="-292608">
              <a:spcBef>
                <a:spcPts val="800"/>
              </a:spcBef>
              <a:spcAft>
                <a:spcPts val="0"/>
              </a:spcAft>
              <a:buClr>
                <a:srgbClr val="0066CC"/>
              </a:buClr>
              <a:buSzPct val="90000"/>
              <a:buFont typeface="Wingdings" pitchFamily="2" charset="2"/>
              <a:buChar char="v"/>
            </a:pPr>
            <a:r>
              <a:rPr lang="en-IN" sz="1500" dirty="0" b="1">
                <a:solidFill>
                  <a:srgbClr val="0F172A"/>
                </a:solidFill>
                <a:latin typeface="Arial"/>
                <a:cs typeface="Arial"/>
              </a:rPr>
              <a:t>Deploy anywhere – </a:t>
            </a:r>
            <a:r>
              <a:rPr lang="en-IN" sz="1500" dirty="0">
                <a:solidFill>
                  <a:srgbClr val="0F172A"/>
                </a:solidFill>
                <a:latin typeface="Arial"/>
                <a:cs typeface="Arial"/>
              </a:rPr>
              <a:t>one Docker container · free cloud hosting</a:t>
            </a:r>
            <a:endParaRPr sz="15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6C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2026-09-18T21:56:14Z</dcterms:created>
  <dcterms:modified xsi:type="dcterms:W3CDTF">2026-09-18T21:56:14Z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StructuredOutput v10.0.19912.1</vt:lpwstr>
  </property>
  <property fmtid="{D5CDD505-2E9C-101B-9397-08002B2CF9AE}" pid="3" name="Created">
    <vt:filetime>2026-09-18T00:00:00Z</vt:filetime>
  </property>
  <property fmtid="{D5CDD505-2E9C-101B-9397-08002B2CF9AE}" pid="4" name="CreationClient">
    <vt:lpwstr>pptx-direct-import</vt:lpwstr>
  </property>
  <property fmtid="{D5CDD505-2E9C-101B-9397-08002B2CF9AE}" pid="5" name="Creator">
    <vt:lpwstr>Adobe Express</vt:lpwstr>
  </property>
  <property fmtid="{D5CDD505-2E9C-101B-9397-08002B2CF9AE}" pid="6" name="LastSaved">
    <vt:filetime>2026-09-18T00:00:00Z</vt:filetime>
  </property>
  <property fmtid="{D5CDD505-2E9C-101B-9397-08002B2CF9AE}" pid="7" name="Producer">
    <vt:lpwstr>Adobe Express</vt:lpwstr>
  </property>
</Properties>
</file>
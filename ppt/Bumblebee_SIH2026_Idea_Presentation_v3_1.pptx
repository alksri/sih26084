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59506"/>
            <a:ext cx="18288000" cy="72749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32137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8000" y="0"/>
                </a:moveTo>
                <a:lnTo>
                  <a:pt x="0" y="0"/>
                </a:lnTo>
                <a:lnTo>
                  <a:pt x="0" y="754862"/>
                </a:lnTo>
                <a:lnTo>
                  <a:pt x="18288000" y="754862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9199" y="298276"/>
            <a:ext cx="1040960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3399" y="2395538"/>
            <a:ext cx="8640444" cy="214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750099" y="9635368"/>
            <a:ext cx="3250565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104614" y="9656285"/>
            <a:ext cx="182880" cy="28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hyperlink" Target="https://sih26188sampleeee.vercel.ap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8400" y="1783080"/>
            <a:ext cx="6958330" cy="7733030"/>
            <a:chOff x="8485169" y="1277282"/>
            <a:chExt cx="6958330" cy="7733030"/>
          </a:xfrm>
        </p:grpSpPr>
        <p:sp>
          <p:nvSpPr>
            <p:cNvPr id="3" name="object 3"/>
            <p:cNvSpPr/>
            <p:nvPr/>
          </p:nvSpPr>
          <p:spPr>
            <a:xfrm>
              <a:off x="8485169" y="1277282"/>
              <a:ext cx="6958330" cy="7733030"/>
            </a:xfrm>
            <a:custGeom>
              <a:avLst/>
              <a:gdLst/>
              <a:ahLst/>
              <a:cxnLst/>
              <a:rect l="l" t="t" r="r" b="b"/>
              <a:pathLst>
                <a:path w="6958330" h="7733030">
                  <a:moveTo>
                    <a:pt x="2809862" y="0"/>
                  </a:moveTo>
                  <a:lnTo>
                    <a:pt x="1769922" y="0"/>
                  </a:lnTo>
                  <a:lnTo>
                    <a:pt x="1730468" y="5586"/>
                  </a:lnTo>
                  <a:lnTo>
                    <a:pt x="1693600" y="21773"/>
                  </a:lnTo>
                  <a:lnTo>
                    <a:pt x="1660289" y="47698"/>
                  </a:lnTo>
                  <a:lnTo>
                    <a:pt x="1631508" y="82502"/>
                  </a:lnTo>
                  <a:lnTo>
                    <a:pt x="1608226" y="125323"/>
                  </a:lnTo>
                  <a:lnTo>
                    <a:pt x="1089367" y="1321790"/>
                  </a:lnTo>
                  <a:lnTo>
                    <a:pt x="1073189" y="1368721"/>
                  </a:lnTo>
                  <a:lnTo>
                    <a:pt x="1065099" y="1418659"/>
                  </a:lnTo>
                  <a:lnTo>
                    <a:pt x="1065099" y="1469599"/>
                  </a:lnTo>
                  <a:lnTo>
                    <a:pt x="1073189" y="1519537"/>
                  </a:lnTo>
                  <a:lnTo>
                    <a:pt x="1089367" y="1566468"/>
                  </a:lnTo>
                  <a:lnTo>
                    <a:pt x="1608226" y="2762948"/>
                  </a:lnTo>
                  <a:lnTo>
                    <a:pt x="1638222" y="2815250"/>
                  </a:lnTo>
                  <a:lnTo>
                    <a:pt x="1676438" y="2854693"/>
                  </a:lnTo>
                  <a:lnTo>
                    <a:pt x="1677797" y="2855468"/>
                  </a:lnTo>
                  <a:lnTo>
                    <a:pt x="1180401" y="4002455"/>
                  </a:lnTo>
                  <a:lnTo>
                    <a:pt x="1162019" y="4047839"/>
                  </a:lnTo>
                  <a:lnTo>
                    <a:pt x="1146979" y="4094949"/>
                  </a:lnTo>
                  <a:lnTo>
                    <a:pt x="1135281" y="4143441"/>
                  </a:lnTo>
                  <a:lnTo>
                    <a:pt x="1126926" y="4192968"/>
                  </a:lnTo>
                  <a:lnTo>
                    <a:pt x="1121912" y="4243186"/>
                  </a:lnTo>
                  <a:lnTo>
                    <a:pt x="1120241" y="4293749"/>
                  </a:lnTo>
                  <a:lnTo>
                    <a:pt x="1121912" y="4344312"/>
                  </a:lnTo>
                  <a:lnTo>
                    <a:pt x="1126926" y="4394530"/>
                  </a:lnTo>
                  <a:lnTo>
                    <a:pt x="1135281" y="4444057"/>
                  </a:lnTo>
                  <a:lnTo>
                    <a:pt x="1146979" y="4492548"/>
                  </a:lnTo>
                  <a:lnTo>
                    <a:pt x="1162019" y="4539659"/>
                  </a:lnTo>
                  <a:lnTo>
                    <a:pt x="1180401" y="4585042"/>
                  </a:lnTo>
                  <a:lnTo>
                    <a:pt x="2415870" y="7434059"/>
                  </a:lnTo>
                  <a:lnTo>
                    <a:pt x="2439302" y="7482644"/>
                  </a:lnTo>
                  <a:lnTo>
                    <a:pt x="2465700" y="7527513"/>
                  </a:lnTo>
                  <a:lnTo>
                    <a:pt x="2494847" y="7568475"/>
                  </a:lnTo>
                  <a:lnTo>
                    <a:pt x="2526527" y="7605337"/>
                  </a:lnTo>
                  <a:lnTo>
                    <a:pt x="2560521" y="7637907"/>
                  </a:lnTo>
                  <a:lnTo>
                    <a:pt x="2596613" y="7665993"/>
                  </a:lnTo>
                  <a:lnTo>
                    <a:pt x="2634587" y="7689404"/>
                  </a:lnTo>
                  <a:lnTo>
                    <a:pt x="2674224" y="7707946"/>
                  </a:lnTo>
                  <a:lnTo>
                    <a:pt x="2715307" y="7721429"/>
                  </a:lnTo>
                  <a:lnTo>
                    <a:pt x="2757621" y="7729659"/>
                  </a:lnTo>
                  <a:lnTo>
                    <a:pt x="2800946" y="7732445"/>
                  </a:lnTo>
                  <a:lnTo>
                    <a:pt x="5277205" y="7732445"/>
                  </a:lnTo>
                  <a:lnTo>
                    <a:pt x="5319321" y="7729659"/>
                  </a:lnTo>
                  <a:lnTo>
                    <a:pt x="5360859" y="7721429"/>
                  </a:lnTo>
                  <a:lnTo>
                    <a:pt x="5401503" y="7707946"/>
                  </a:lnTo>
                  <a:lnTo>
                    <a:pt x="5440942" y="7689404"/>
                  </a:lnTo>
                  <a:lnTo>
                    <a:pt x="5478862" y="7665993"/>
                  </a:lnTo>
                  <a:lnTo>
                    <a:pt x="5514950" y="7637907"/>
                  </a:lnTo>
                  <a:lnTo>
                    <a:pt x="5548892" y="7605337"/>
                  </a:lnTo>
                  <a:lnTo>
                    <a:pt x="5580375" y="7568475"/>
                  </a:lnTo>
                  <a:lnTo>
                    <a:pt x="5609085" y="7527513"/>
                  </a:lnTo>
                  <a:lnTo>
                    <a:pt x="5634710" y="7482644"/>
                  </a:lnTo>
                  <a:lnTo>
                    <a:pt x="5656935" y="7434059"/>
                  </a:lnTo>
                  <a:lnTo>
                    <a:pt x="6897738" y="4585042"/>
                  </a:lnTo>
                  <a:lnTo>
                    <a:pt x="6916120" y="4539659"/>
                  </a:lnTo>
                  <a:lnTo>
                    <a:pt x="6931160" y="4492548"/>
                  </a:lnTo>
                  <a:lnTo>
                    <a:pt x="6942858" y="4444057"/>
                  </a:lnTo>
                  <a:lnTo>
                    <a:pt x="6951213" y="4394530"/>
                  </a:lnTo>
                  <a:lnTo>
                    <a:pt x="6956227" y="4344312"/>
                  </a:lnTo>
                  <a:lnTo>
                    <a:pt x="6957898" y="4293749"/>
                  </a:lnTo>
                  <a:lnTo>
                    <a:pt x="6956227" y="4243186"/>
                  </a:lnTo>
                  <a:lnTo>
                    <a:pt x="6951213" y="4192968"/>
                  </a:lnTo>
                  <a:lnTo>
                    <a:pt x="6942858" y="4143441"/>
                  </a:lnTo>
                  <a:lnTo>
                    <a:pt x="6931160" y="4094949"/>
                  </a:lnTo>
                  <a:lnTo>
                    <a:pt x="6916120" y="4047839"/>
                  </a:lnTo>
                  <a:lnTo>
                    <a:pt x="6897738" y="4002455"/>
                  </a:lnTo>
                  <a:lnTo>
                    <a:pt x="6406386" y="2874264"/>
                  </a:lnTo>
                  <a:lnTo>
                    <a:pt x="1765515" y="2874264"/>
                  </a:lnTo>
                  <a:lnTo>
                    <a:pt x="1752967" y="2873706"/>
                  </a:lnTo>
                  <a:lnTo>
                    <a:pt x="1740603" y="2872055"/>
                  </a:lnTo>
                  <a:lnTo>
                    <a:pt x="1728455" y="2869340"/>
                  </a:lnTo>
                  <a:lnTo>
                    <a:pt x="1716559" y="2865590"/>
                  </a:lnTo>
                  <a:lnTo>
                    <a:pt x="1687626" y="2849397"/>
                  </a:lnTo>
                  <a:lnTo>
                    <a:pt x="1753044" y="2698534"/>
                  </a:lnTo>
                  <a:lnTo>
                    <a:pt x="1746046" y="2694647"/>
                  </a:lnTo>
                  <a:lnTo>
                    <a:pt x="1712167" y="2659665"/>
                  </a:lnTo>
                  <a:lnTo>
                    <a:pt x="1685556" y="2613291"/>
                  </a:lnTo>
                  <a:lnTo>
                    <a:pt x="1225588" y="1552587"/>
                  </a:lnTo>
                  <a:lnTo>
                    <a:pt x="1211250" y="1510983"/>
                  </a:lnTo>
                  <a:lnTo>
                    <a:pt x="1204081" y="1466711"/>
                  </a:lnTo>
                  <a:lnTo>
                    <a:pt x="1204081" y="1421551"/>
                  </a:lnTo>
                  <a:lnTo>
                    <a:pt x="1211250" y="1377282"/>
                  </a:lnTo>
                  <a:lnTo>
                    <a:pt x="1225588" y="1335684"/>
                  </a:lnTo>
                  <a:lnTo>
                    <a:pt x="1685556" y="274967"/>
                  </a:lnTo>
                  <a:lnTo>
                    <a:pt x="1712160" y="228590"/>
                  </a:lnTo>
                  <a:lnTo>
                    <a:pt x="1746045" y="193624"/>
                  </a:lnTo>
                  <a:lnTo>
                    <a:pt x="1785528" y="171554"/>
                  </a:lnTo>
                  <a:lnTo>
                    <a:pt x="1828927" y="163868"/>
                  </a:lnTo>
                  <a:lnTo>
                    <a:pt x="2986136" y="163868"/>
                  </a:lnTo>
                  <a:lnTo>
                    <a:pt x="2969348" y="125323"/>
                  </a:lnTo>
                  <a:lnTo>
                    <a:pt x="2940323" y="73016"/>
                  </a:lnTo>
                  <a:lnTo>
                    <a:pt x="2902240" y="33572"/>
                  </a:lnTo>
                  <a:lnTo>
                    <a:pt x="2857840" y="8673"/>
                  </a:lnTo>
                  <a:lnTo>
                    <a:pt x="2809862" y="0"/>
                  </a:lnTo>
                  <a:close/>
                </a:path>
                <a:path w="6958330" h="7733030">
                  <a:moveTo>
                    <a:pt x="1010551" y="4687785"/>
                  </a:moveTo>
                  <a:lnTo>
                    <a:pt x="408584" y="4687785"/>
                  </a:lnTo>
                  <a:lnTo>
                    <a:pt x="380245" y="4692805"/>
                  </a:lnTo>
                  <a:lnTo>
                    <a:pt x="332339" y="4730042"/>
                  </a:lnTo>
                  <a:lnTo>
                    <a:pt x="14630" y="5452910"/>
                  </a:lnTo>
                  <a:lnTo>
                    <a:pt x="0" y="5523730"/>
                  </a:lnTo>
                  <a:lnTo>
                    <a:pt x="3657" y="5560271"/>
                  </a:lnTo>
                  <a:lnTo>
                    <a:pt x="314972" y="6287122"/>
                  </a:lnTo>
                  <a:lnTo>
                    <a:pt x="354463" y="6340238"/>
                  </a:lnTo>
                  <a:lnTo>
                    <a:pt x="408584" y="6359664"/>
                  </a:lnTo>
                  <a:lnTo>
                    <a:pt x="1010551" y="6359664"/>
                  </a:lnTo>
                  <a:lnTo>
                    <a:pt x="1064025" y="6340238"/>
                  </a:lnTo>
                  <a:lnTo>
                    <a:pt x="1102868" y="6287122"/>
                  </a:lnTo>
                  <a:lnTo>
                    <a:pt x="1404505" y="5594540"/>
                  </a:lnTo>
                  <a:lnTo>
                    <a:pt x="1419136" y="5523730"/>
                  </a:lnTo>
                  <a:lnTo>
                    <a:pt x="1415478" y="5487186"/>
                  </a:lnTo>
                  <a:lnTo>
                    <a:pt x="1102868" y="4760315"/>
                  </a:lnTo>
                  <a:lnTo>
                    <a:pt x="1064025" y="4707215"/>
                  </a:lnTo>
                  <a:lnTo>
                    <a:pt x="1010551" y="4687785"/>
                  </a:lnTo>
                  <a:close/>
                </a:path>
                <a:path w="6958330" h="7733030">
                  <a:moveTo>
                    <a:pt x="5277205" y="855052"/>
                  </a:moveTo>
                  <a:lnTo>
                    <a:pt x="3288855" y="855052"/>
                  </a:lnTo>
                  <a:lnTo>
                    <a:pt x="3486035" y="1307795"/>
                  </a:lnTo>
                  <a:lnTo>
                    <a:pt x="3502208" y="1354726"/>
                  </a:lnTo>
                  <a:lnTo>
                    <a:pt x="3510294" y="1404664"/>
                  </a:lnTo>
                  <a:lnTo>
                    <a:pt x="3510294" y="1455604"/>
                  </a:lnTo>
                  <a:lnTo>
                    <a:pt x="3502208" y="1505542"/>
                  </a:lnTo>
                  <a:lnTo>
                    <a:pt x="3485985" y="1552587"/>
                  </a:lnTo>
                  <a:lnTo>
                    <a:pt x="2964942" y="2748940"/>
                  </a:lnTo>
                  <a:lnTo>
                    <a:pt x="2935918" y="2801247"/>
                  </a:lnTo>
                  <a:lnTo>
                    <a:pt x="2897839" y="2840691"/>
                  </a:lnTo>
                  <a:lnTo>
                    <a:pt x="2853444" y="2865590"/>
                  </a:lnTo>
                  <a:lnTo>
                    <a:pt x="2805468" y="2874264"/>
                  </a:lnTo>
                  <a:lnTo>
                    <a:pt x="6406386" y="2874264"/>
                  </a:lnTo>
                  <a:lnTo>
                    <a:pt x="5656935" y="1153452"/>
                  </a:lnTo>
                  <a:lnTo>
                    <a:pt x="5634710" y="1104869"/>
                  </a:lnTo>
                  <a:lnTo>
                    <a:pt x="5609085" y="1060001"/>
                  </a:lnTo>
                  <a:lnTo>
                    <a:pt x="5580375" y="1019039"/>
                  </a:lnTo>
                  <a:lnTo>
                    <a:pt x="5548892" y="982176"/>
                  </a:lnTo>
                  <a:lnTo>
                    <a:pt x="5514950" y="949603"/>
                  </a:lnTo>
                  <a:lnTo>
                    <a:pt x="5478862" y="921514"/>
                  </a:lnTo>
                  <a:lnTo>
                    <a:pt x="5440942" y="898101"/>
                  </a:lnTo>
                  <a:lnTo>
                    <a:pt x="5401503" y="879556"/>
                  </a:lnTo>
                  <a:lnTo>
                    <a:pt x="5360859" y="866071"/>
                  </a:lnTo>
                  <a:lnTo>
                    <a:pt x="5319321" y="857839"/>
                  </a:lnTo>
                  <a:lnTo>
                    <a:pt x="5277205" y="855052"/>
                  </a:lnTo>
                  <a:close/>
                </a:path>
                <a:path w="6958330" h="7733030">
                  <a:moveTo>
                    <a:pt x="3146590" y="855052"/>
                  </a:moveTo>
                  <a:lnTo>
                    <a:pt x="2800946" y="855052"/>
                  </a:lnTo>
                  <a:lnTo>
                    <a:pt x="2757621" y="857839"/>
                  </a:lnTo>
                  <a:lnTo>
                    <a:pt x="2715307" y="866071"/>
                  </a:lnTo>
                  <a:lnTo>
                    <a:pt x="2674224" y="879556"/>
                  </a:lnTo>
                  <a:lnTo>
                    <a:pt x="2634587" y="898101"/>
                  </a:lnTo>
                  <a:lnTo>
                    <a:pt x="2596613" y="921514"/>
                  </a:lnTo>
                  <a:lnTo>
                    <a:pt x="2560521" y="949603"/>
                  </a:lnTo>
                  <a:lnTo>
                    <a:pt x="2526527" y="982176"/>
                  </a:lnTo>
                  <a:lnTo>
                    <a:pt x="2494847" y="1019039"/>
                  </a:lnTo>
                  <a:lnTo>
                    <a:pt x="2465700" y="1060001"/>
                  </a:lnTo>
                  <a:lnTo>
                    <a:pt x="2439302" y="1104869"/>
                  </a:lnTo>
                  <a:lnTo>
                    <a:pt x="2415870" y="1153452"/>
                  </a:lnTo>
                  <a:lnTo>
                    <a:pt x="1751266" y="2686024"/>
                  </a:lnTo>
                  <a:lnTo>
                    <a:pt x="1781124" y="2702712"/>
                  </a:lnTo>
                  <a:lnTo>
                    <a:pt x="1791671" y="2706034"/>
                  </a:lnTo>
                  <a:lnTo>
                    <a:pt x="1802436" y="2708440"/>
                  </a:lnTo>
                  <a:lnTo>
                    <a:pt x="1813394" y="2709902"/>
                  </a:lnTo>
                  <a:lnTo>
                    <a:pt x="1824520" y="2710395"/>
                  </a:lnTo>
                  <a:lnTo>
                    <a:pt x="2746463" y="2710395"/>
                  </a:lnTo>
                  <a:lnTo>
                    <a:pt x="2788966" y="2702712"/>
                  </a:lnTo>
                  <a:lnTo>
                    <a:pt x="2828347" y="2680635"/>
                  </a:lnTo>
                  <a:lnTo>
                    <a:pt x="2862099" y="2645668"/>
                  </a:lnTo>
                  <a:lnTo>
                    <a:pt x="2887827" y="2599296"/>
                  </a:lnTo>
                  <a:lnTo>
                    <a:pt x="3349802" y="1538579"/>
                  </a:lnTo>
                  <a:lnTo>
                    <a:pt x="3364146" y="1496981"/>
                  </a:lnTo>
                  <a:lnTo>
                    <a:pt x="3371318" y="1452712"/>
                  </a:lnTo>
                  <a:lnTo>
                    <a:pt x="3371318" y="1407552"/>
                  </a:lnTo>
                  <a:lnTo>
                    <a:pt x="3364146" y="1363280"/>
                  </a:lnTo>
                  <a:lnTo>
                    <a:pt x="3349842" y="1321790"/>
                  </a:lnTo>
                  <a:lnTo>
                    <a:pt x="3146590" y="855052"/>
                  </a:lnTo>
                  <a:close/>
                </a:path>
                <a:path w="6958330" h="7733030">
                  <a:moveTo>
                    <a:pt x="2986136" y="163868"/>
                  </a:moveTo>
                  <a:lnTo>
                    <a:pt x="2750870" y="163868"/>
                  </a:lnTo>
                  <a:lnTo>
                    <a:pt x="2793399" y="171554"/>
                  </a:lnTo>
                  <a:lnTo>
                    <a:pt x="2832760" y="193624"/>
                  </a:lnTo>
                  <a:lnTo>
                    <a:pt x="2866520" y="228590"/>
                  </a:lnTo>
                  <a:lnTo>
                    <a:pt x="2892247" y="274967"/>
                  </a:lnTo>
                  <a:lnTo>
                    <a:pt x="3138157" y="839584"/>
                  </a:lnTo>
                  <a:lnTo>
                    <a:pt x="3280435" y="839584"/>
                  </a:lnTo>
                  <a:lnTo>
                    <a:pt x="2986136" y="163868"/>
                  </a:lnTo>
                  <a:close/>
                </a:path>
              </a:pathLst>
            </a:custGeom>
            <a:solidFill>
              <a:srgbClr val="808080">
                <a:alpha val="1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2339" y="2573821"/>
              <a:ext cx="4805260" cy="5139358"/>
            </a:xfrm>
            <a:prstGeom prst="rect">
              <a:avLst/>
            </a:prstGeom>
          </p:spPr>
        </p:pic>
      </p:grpSp>
      <p:sp>
        <p:nvSpPr>
          <p:cNvPr id="5" name="Hexagon 4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TITLE PAGE</a:t>
            </a:r>
            <a:endParaRPr sz="54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377440"/>
            <a:ext cx="8778240" cy="6400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365760" indent="-365760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Problem Statement ID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SIH26188 (SIH26288)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Problem Statement Title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AI-Based Fake Identity &amp; Document Screening System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Theme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Security &amp; Surveillance / Smart Automation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PS Category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Software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Team ID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85508 (SIH26188_BUMBLEBEE)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Team Name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Bumblebee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Ministry / Agency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Ministry of Home Affairs &amp; Bureau of Immigration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1" name="Hexagon 50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53" name="TextBox 52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IDEA TITLE</a:t>
            </a:r>
            <a:endParaRPr sz="540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2960" y="1627632"/>
            <a:ext cx="1664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1B559B"/>
                </a:solidFill>
                <a:latin typeface="Arial"/>
                <a:cs typeface="Arial"/>
              </a:rPr>
              <a:t>GIST : </a:t>
            </a:r>
            <a:r>
              <a:rPr lang="en-IN" sz="1800" dirty="0">
                <a:solidFill>
                  <a:srgbClr val="0066CC"/>
                </a:solidFill>
                <a:latin typeface="Arial"/>
                <a:cs typeface="Arial"/>
              </a:rPr>
              <a:t>AI border-screening workstation that fuses multi-spectral forensics, OCR/MRZ checks and face biometrics to stop forged travel documents in real time.</a:t>
            </a:r>
            <a:endParaRPr sz="1800"/>
          </a:p>
        </p:txBody>
      </p:sp>
      <p:sp>
        <p:nvSpPr>
          <p:cNvPr id="56" name="Rectangle 55"/>
          <p:cNvSpPr/>
          <p:nvPr/>
        </p:nvSpPr>
        <p:spPr>
          <a:xfrm>
            <a:off x="822960" y="2395728"/>
            <a:ext cx="5394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IDEA / SOLUTION</a:t>
            </a:r>
            <a:endParaRPr sz="18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Multi-Spectral AI Forensics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UV 365nm, IR ink &amp; ELA analysis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Multimodal OCR + MRZ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ICAO 7-3-1 checksum on 10 fields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1:1 Face Match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FaceNet 128-d with 3D passive liveness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Explainable Verdict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XAI boxes + SHA-256 audit ledger</a:t>
            </a:r>
            <a:endParaRPr sz="1600"/>
          </a:p>
        </p:txBody>
      </p:sp>
      <p:sp>
        <p:nvSpPr>
          <p:cNvPr id="57" name="Rectangle 56"/>
          <p:cNvSpPr/>
          <p:nvPr/>
        </p:nvSpPr>
        <p:spPr>
          <a:xfrm>
            <a:off x="822960" y="5916168"/>
            <a:ext cx="5394960" cy="336499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PROBLEM RESOLUTION</a:t>
            </a:r>
            <a:endParaRPr sz="18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Manual checks take ~300s → </a:t>
            </a:r>
            <a:r>
              <a:rPr lang="en-IN" sz="1600" dirty="0" b="1">
                <a:solidFill>
                  <a:srgbClr val="0066CC"/>
                </a:solidFill>
                <a:latin typeface="Arial"/>
                <a:cs typeface="Arial"/>
              </a:rPr>
              <a:t>cleared in &lt;1.8s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Microscopic tampering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(photo swaps, font shifts) is caught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Spoofs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via screens, prints &amp; masks are blocked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Officer fatigue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replaced by evidence-backed decisions</a:t>
            </a:r>
            <a:endParaRPr sz="1600"/>
          </a:p>
        </p:txBody>
      </p:sp>
      <p:sp>
        <p:nvSpPr>
          <p:cNvPr id="58" name="Rectangle 57"/>
          <p:cNvSpPr/>
          <p:nvPr/>
        </p:nvSpPr>
        <p:spPr>
          <a:xfrm>
            <a:off x="12070080" y="2395728"/>
            <a:ext cx="5394960" cy="5559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UNIQUENESS</a:t>
            </a:r>
            <a:endParaRPr sz="18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Reads the "Digital DNA"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of passports, visas &amp; IDs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Simulates UV/IR physics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– no costly scanner hardware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Zero-Trust privacy: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biometrics processed in-memory, never stored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Auto-failover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(Gemini → heuristics) keeps screening running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Credit-optimized RAG: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&lt;140 tokens per scan</a:t>
            </a:r>
            <a:endParaRPr sz="1700"/>
          </a:p>
        </p:txBody>
      </p:sp>
      <p:sp>
        <p:nvSpPr>
          <p:cNvPr id="59" name="Rectangle 58"/>
          <p:cNvSpPr/>
          <p:nvPr/>
        </p:nvSpPr>
        <p:spPr>
          <a:xfrm>
            <a:off x="6446520" y="2395728"/>
            <a:ext cx="5394960" cy="5559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9144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BUMBLEBEE SCREENING FLOW</a:t>
            </a:r>
            <a:endParaRPr sz="1800"/>
          </a:p>
        </p:txBody>
      </p:sp>
      <p:sp>
        <p:nvSpPr>
          <p:cNvPr id="60" name="TextBox 59"/>
          <p:cNvSpPr txBox="1"/>
          <p:nvPr/>
        </p:nvSpPr>
        <p:spPr>
          <a:xfrm>
            <a:off x="6720840" y="29260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B559B"/>
                </a:solidFill>
                <a:latin typeface="Arial"/>
                <a:cs typeface="Arial"/>
              </a:rPr>
              <a:t>DOCUMENT GATE</a:t>
            </a:r>
            <a:endParaRPr sz="1200"/>
          </a:p>
        </p:txBody>
      </p:sp>
      <p:sp>
        <p:nvSpPr>
          <p:cNvPr id="61" name="Rounded Rectangle 60"/>
          <p:cNvSpPr/>
          <p:nvPr/>
        </p:nvSpPr>
        <p:spPr>
          <a:xfrm>
            <a:off x="6720840" y="3182112"/>
            <a:ext cx="48463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Document Intake &amp; Sanity Check</a:t>
            </a:r>
            <a:endParaRPr sz="1400"/>
          </a:p>
        </p:txBody>
      </p:sp>
      <p:sp>
        <p:nvSpPr>
          <p:cNvPr id="62" name="Down Arrow 61"/>
          <p:cNvSpPr/>
          <p:nvPr/>
        </p:nvSpPr>
        <p:spPr>
          <a:xfrm>
            <a:off x="9006840" y="3749039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6720840" y="3986784"/>
            <a:ext cx="4846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Multimodal OCR · MRZ 7-3-1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10 structured fields</a:t>
            </a:r>
            <a:endParaRPr sz="1100"/>
          </a:p>
        </p:txBody>
      </p:sp>
      <p:sp>
        <p:nvSpPr>
          <p:cNvPr id="64" name="Down Arrow 63"/>
          <p:cNvSpPr/>
          <p:nvPr/>
        </p:nvSpPr>
        <p:spPr>
          <a:xfrm>
            <a:off x="9006840" y="4590288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720840" y="4828032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B45309"/>
                </a:solidFill>
                <a:latin typeface="Arial"/>
                <a:cs typeface="Arial"/>
              </a:rPr>
              <a:t>Multi-Spectral Forensics &amp; ICAO Checksum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UV 365nm · IR ink · ELA · Modulo 7-3-1</a:t>
            </a:r>
            <a:endParaRPr sz="1100"/>
          </a:p>
        </p:txBody>
      </p:sp>
      <p:sp>
        <p:nvSpPr>
          <p:cNvPr id="66" name="TextBox 65"/>
          <p:cNvSpPr txBox="1"/>
          <p:nvPr/>
        </p:nvSpPr>
        <p:spPr>
          <a:xfrm>
            <a:off x="6720840" y="5541264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B559B"/>
                </a:solidFill>
                <a:latin typeface="Arial"/>
                <a:cs typeface="Arial"/>
              </a:rPr>
              <a:t>BIOMETRIC GATE</a:t>
            </a:r>
            <a:endParaRPr sz="1200"/>
          </a:p>
        </p:txBody>
      </p:sp>
      <p:sp>
        <p:nvSpPr>
          <p:cNvPr id="67" name="Rounded Rectangle 66"/>
          <p:cNvSpPr/>
          <p:nvPr/>
        </p:nvSpPr>
        <p:spPr>
          <a:xfrm>
            <a:off x="6720840" y="5797296"/>
            <a:ext cx="48463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CCTV Cam-04 → FaceNet 128-d + 3D Liveness</a:t>
            </a:r>
            <a:endParaRPr sz="1400"/>
          </a:p>
        </p:txBody>
      </p:sp>
      <p:sp>
        <p:nvSpPr>
          <p:cNvPr id="68" name="Down Arrow 67"/>
          <p:cNvSpPr/>
          <p:nvPr/>
        </p:nvSpPr>
        <p:spPr>
          <a:xfrm>
            <a:off x="7738110" y="6364224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Down Arrow 68"/>
          <p:cNvSpPr/>
          <p:nvPr/>
        </p:nvSpPr>
        <p:spPr>
          <a:xfrm>
            <a:off x="10275569" y="6364224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6720840" y="6601968"/>
            <a:ext cx="2308860" cy="9144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15803D"/>
                </a:solidFill>
                <a:latin typeface="Arial"/>
                <a:cs typeface="Arial"/>
              </a:rPr>
              <a:t>AUTHENTIC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5803D"/>
                </a:solidFill>
                <a:latin typeface="Arial"/>
                <a:cs typeface="Arial"/>
              </a:rPr>
              <a:t>e-Gate opens</a:t>
            </a:r>
            <a:endParaRPr sz="1200"/>
          </a:p>
        </p:txBody>
      </p:sp>
      <p:sp>
        <p:nvSpPr>
          <p:cNvPr id="71" name="Rounded Rectangle 70"/>
          <p:cNvSpPr/>
          <p:nvPr/>
        </p:nvSpPr>
        <p:spPr>
          <a:xfrm>
            <a:off x="9258300" y="6601968"/>
            <a:ext cx="2308860" cy="9144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B91C1C"/>
                </a:solidFill>
                <a:latin typeface="Arial"/>
                <a:cs typeface="Arial"/>
              </a:rPr>
              <a:t>FORGED / IMPOSTER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91C1C"/>
                </a:solidFill>
                <a:latin typeface="Arial"/>
                <a:cs typeface="Arial"/>
              </a:rPr>
              <a:t>Alert dispatched</a:t>
            </a:r>
            <a:endParaRPr sz="1200"/>
          </a:p>
        </p:txBody>
      </p:sp>
      <p:sp>
        <p:nvSpPr>
          <p:cNvPr id="72" name="Rounded Rectangle 71"/>
          <p:cNvSpPr/>
          <p:nvPr/>
        </p:nvSpPr>
        <p:spPr>
          <a:xfrm>
            <a:off x="6446520" y="813816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F172A"/>
                </a:solidFill>
                <a:latin typeface="Arial"/>
                <a:cs typeface="Arial"/>
              </a:rPr>
              <a:t>Live Demo</a:t>
            </a:r>
            <a:endParaRPr sz="1800"/>
          </a:p>
          <a:p>
            <a:pPr algn="ctr"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500" dirty="0">
                <a:solidFill>
                  <a:srgbClr val="0066CC"/>
                </a:solidFill>
                <a:latin typeface="Arial"/>
                <a:cs typeface="Arial"/>
                <a:hlinkClick r:id="rId9"/>
              </a:rPr>
              <a:t>https://sih26188sampleeee.vercel.app/</a:t>
            </a:r>
            <a:endParaRPr sz="1500"/>
          </a:p>
        </p:txBody>
      </p:sp>
      <p:sp>
        <p:nvSpPr>
          <p:cNvPr id="73" name="Rounded Rectangle 72"/>
          <p:cNvSpPr/>
          <p:nvPr/>
        </p:nvSpPr>
        <p:spPr>
          <a:xfrm>
            <a:off x="12070080" y="813816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Officer Login</a:t>
            </a:r>
            <a:endParaRPr sz="1600"/>
          </a:p>
          <a:p>
            <a:pPr algn="ctr"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ID: alkesh (or hardik / kshama) · Passcode: 8604058608</a:t>
            </a:r>
            <a:endParaRPr sz="125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475569"/>
                </a:solidFill>
                <a:latin typeface="Arial"/>
                <a:cs typeface="Arial"/>
              </a:rPr>
              <a:t>Role: Authorized Border Intelligence Officer</a:t>
            </a:r>
            <a:endParaRPr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object 112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114" name="Hexagon 113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116" name="TextBox 115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TECHNICAL APPROACH</a:t>
            </a:r>
            <a:endParaRPr sz="5400"/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118" name="Rectangle 117"/>
          <p:cNvSpPr/>
          <p:nvPr/>
        </p:nvSpPr>
        <p:spPr>
          <a:xfrm>
            <a:off x="822960" y="1600200"/>
            <a:ext cx="1229868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5783580" y="173736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B45309"/>
                </a:solidFill>
                <a:latin typeface="Arial"/>
                <a:cs typeface="Arial"/>
              </a:rPr>
              <a:t>FLOW-CHART</a:t>
            </a:r>
            <a:endParaRPr sz="1800"/>
          </a:p>
        </p:txBody>
      </p:sp>
      <p:sp>
        <p:nvSpPr>
          <p:cNvPr id="120" name="Rounded Rectangle 119"/>
          <p:cNvSpPr/>
          <p:nvPr/>
        </p:nvSpPr>
        <p:spPr>
          <a:xfrm>
            <a:off x="1097280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097280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1 · Document Forensics</a:t>
            </a:r>
            <a:endParaRPr sz="1500"/>
          </a:p>
        </p:txBody>
      </p:sp>
      <p:sp>
        <p:nvSpPr>
          <p:cNvPr id="122" name="Rounded Rectangle 121"/>
          <p:cNvSpPr/>
          <p:nvPr/>
        </p:nvSpPr>
        <p:spPr>
          <a:xfrm>
            <a:off x="1280160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Upload Travel Document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Passport / Visa / WebRTC Cam-04</a:t>
            </a:r>
            <a:endParaRPr sz="1100"/>
          </a:p>
        </p:txBody>
      </p:sp>
      <p:sp>
        <p:nvSpPr>
          <p:cNvPr id="123" name="Down Arrow 122"/>
          <p:cNvSpPr/>
          <p:nvPr/>
        </p:nvSpPr>
        <p:spPr>
          <a:xfrm>
            <a:off x="2811779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ounded Rectangle 123"/>
          <p:cNvSpPr/>
          <p:nvPr/>
        </p:nvSpPr>
        <p:spPr>
          <a:xfrm>
            <a:off x="1280160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OCR &amp; MRZ 7-3-1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10 fields · ICAO Doc 9303 checksums</a:t>
            </a:r>
            <a:endParaRPr sz="1100"/>
          </a:p>
        </p:txBody>
      </p:sp>
      <p:sp>
        <p:nvSpPr>
          <p:cNvPr id="125" name="Down Arrow 124"/>
          <p:cNvSpPr/>
          <p:nvPr/>
        </p:nvSpPr>
        <p:spPr>
          <a:xfrm>
            <a:off x="2811779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1280160" y="530352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AI Forensics Scan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UV fibres · IR ink · ELA · font kerning</a:t>
            </a:r>
            <a:endParaRPr sz="1100"/>
          </a:p>
        </p:txBody>
      </p:sp>
      <p:sp>
        <p:nvSpPr>
          <p:cNvPr id="127" name="Down Arrow 126"/>
          <p:cNvSpPr/>
          <p:nvPr/>
        </p:nvSpPr>
        <p:spPr>
          <a:xfrm>
            <a:off x="2811779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ounded Rectangle 127"/>
          <p:cNvSpPr/>
          <p:nvPr/>
        </p:nvSpPr>
        <p:spPr>
          <a:xfrm>
            <a:off x="1280160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B45309"/>
                </a:solidFill>
                <a:latin typeface="Arial"/>
                <a:cs typeface="Arial"/>
              </a:rPr>
              <a:t>Result: Verified / Flagged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XAI rationale + Bayesian risk score</a:t>
            </a:r>
            <a:endParaRPr sz="1100"/>
          </a:p>
        </p:txBody>
      </p:sp>
      <p:sp>
        <p:nvSpPr>
          <p:cNvPr id="129" name="Rounded Rectangle 128"/>
          <p:cNvSpPr/>
          <p:nvPr/>
        </p:nvSpPr>
        <p:spPr>
          <a:xfrm>
            <a:off x="5029200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029200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2 · Biometrics &amp; Ledger</a:t>
            </a:r>
            <a:endParaRPr sz="1500"/>
          </a:p>
        </p:txBody>
      </p:sp>
      <p:sp>
        <p:nvSpPr>
          <p:cNvPr id="131" name="Rounded Rectangle 130"/>
          <p:cNvSpPr/>
          <p:nvPr/>
        </p:nvSpPr>
        <p:spPr>
          <a:xfrm>
            <a:off x="5212080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FaceNet 128-d Face Match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Live CCTV Cam-04 vs document portrait</a:t>
            </a:r>
            <a:endParaRPr sz="1100"/>
          </a:p>
        </p:txBody>
      </p:sp>
      <p:sp>
        <p:nvSpPr>
          <p:cNvPr id="132" name="Down Arrow 131"/>
          <p:cNvSpPr/>
          <p:nvPr/>
        </p:nvSpPr>
        <p:spPr>
          <a:xfrm>
            <a:off x="6743700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ounded Rectangle 132"/>
          <p:cNvSpPr/>
          <p:nvPr/>
        </p:nvSpPr>
        <p:spPr>
          <a:xfrm>
            <a:off x="5212080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3D Passive Liveness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Blocks screens, prints &amp; silicone masks</a:t>
            </a:r>
            <a:endParaRPr sz="1100"/>
          </a:p>
        </p:txBody>
      </p:sp>
      <p:sp>
        <p:nvSpPr>
          <p:cNvPr id="134" name="Down Arrow 133"/>
          <p:cNvSpPr/>
          <p:nvPr/>
        </p:nvSpPr>
        <p:spPr>
          <a:xfrm>
            <a:off x="6743700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ounded Rectangle 134"/>
          <p:cNvSpPr/>
          <p:nvPr/>
        </p:nvSpPr>
        <p:spPr>
          <a:xfrm>
            <a:off x="5212080" y="530352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Cryptographic Integrity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SHA-256 hash + Modulo-7 validation</a:t>
            </a:r>
            <a:endParaRPr sz="1100"/>
          </a:p>
        </p:txBody>
      </p:sp>
      <p:sp>
        <p:nvSpPr>
          <p:cNvPr id="136" name="Down Arrow 135"/>
          <p:cNvSpPr/>
          <p:nvPr/>
        </p:nvSpPr>
        <p:spPr>
          <a:xfrm>
            <a:off x="6743700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5212080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B45309"/>
                </a:solidFill>
                <a:latin typeface="Arial"/>
                <a:cs typeface="Arial"/>
              </a:rPr>
              <a:t>Result: Passenger Verified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Cosine match &gt;85% · zero vector storage</a:t>
            </a:r>
            <a:endParaRPr sz="1100"/>
          </a:p>
        </p:txBody>
      </p:sp>
      <p:sp>
        <p:nvSpPr>
          <p:cNvPr id="138" name="Down Arrow 137"/>
          <p:cNvSpPr/>
          <p:nvPr/>
        </p:nvSpPr>
        <p:spPr>
          <a:xfrm>
            <a:off x="6743700" y="738835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ounded Rectangle 138"/>
          <p:cNvSpPr/>
          <p:nvPr/>
        </p:nvSpPr>
        <p:spPr>
          <a:xfrm>
            <a:off x="5212080" y="768096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15803D"/>
                </a:solidFill>
                <a:latin typeface="Arial"/>
                <a:cs typeface="Arial"/>
              </a:rPr>
              <a:t>Immutable Audit Trail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15803D"/>
                </a:solidFill>
                <a:latin typeface="Arial"/>
                <a:cs typeface="Arial"/>
              </a:rPr>
              <a:t>SHA-256 legal chain of custody</a:t>
            </a:r>
            <a:endParaRPr sz="1100"/>
          </a:p>
        </p:txBody>
      </p:sp>
      <p:sp>
        <p:nvSpPr>
          <p:cNvPr id="140" name="Rounded Rectangle 139"/>
          <p:cNvSpPr/>
          <p:nvPr/>
        </p:nvSpPr>
        <p:spPr>
          <a:xfrm>
            <a:off x="8961119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8961119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3 · Officer Review &amp; Learning</a:t>
            </a:r>
            <a:endParaRPr sz="1500"/>
          </a:p>
        </p:txBody>
      </p:sp>
      <p:sp>
        <p:nvSpPr>
          <p:cNvPr id="142" name="Rounded Rectangle 141"/>
          <p:cNvSpPr/>
          <p:nvPr/>
        </p:nvSpPr>
        <p:spPr>
          <a:xfrm>
            <a:off x="9143999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Flagged Document Queued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Sent for officer inspection</a:t>
            </a:r>
            <a:endParaRPr sz="1100"/>
          </a:p>
        </p:txBody>
      </p:sp>
      <p:sp>
        <p:nvSpPr>
          <p:cNvPr id="143" name="Down Arrow 142"/>
          <p:cNvSpPr/>
          <p:nvPr/>
        </p:nvSpPr>
        <p:spPr>
          <a:xfrm>
            <a:off x="10675619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9143999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Officer Forensics Workstation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UV / IR / ELA views + AI bounding boxes</a:t>
            </a:r>
            <a:endParaRPr sz="1100"/>
          </a:p>
        </p:txBody>
      </p:sp>
      <p:sp>
        <p:nvSpPr>
          <p:cNvPr id="145" name="Down Arrow 144"/>
          <p:cNvSpPr/>
          <p:nvPr/>
        </p:nvSpPr>
        <p:spPr>
          <a:xfrm>
            <a:off x="10675619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Diamond 145"/>
          <p:cNvSpPr/>
          <p:nvPr/>
        </p:nvSpPr>
        <p:spPr>
          <a:xfrm>
            <a:off x="9852659" y="5266944"/>
            <a:ext cx="1920240" cy="91440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B45309"/>
                </a:solidFill>
                <a:latin typeface="Arial"/>
                <a:cs typeface="Arial"/>
              </a:rPr>
              <a:t>Authentic?</a:t>
            </a:r>
            <a:endParaRPr sz="1250"/>
          </a:p>
        </p:txBody>
      </p:sp>
      <p:sp>
        <p:nvSpPr>
          <p:cNvPr id="147" name="TextBox 146"/>
          <p:cNvSpPr txBox="1"/>
          <p:nvPr/>
        </p:nvSpPr>
        <p:spPr>
          <a:xfrm>
            <a:off x="10995659" y="6199631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 b="1">
                <a:solidFill>
                  <a:srgbClr val="15803D"/>
                </a:solidFill>
                <a:latin typeface="Arial"/>
                <a:cs typeface="Arial"/>
              </a:rPr>
              <a:t>YES</a:t>
            </a:r>
            <a:endParaRPr sz="1000"/>
          </a:p>
        </p:txBody>
      </p:sp>
      <p:sp>
        <p:nvSpPr>
          <p:cNvPr id="148" name="Down Arrow 147"/>
          <p:cNvSpPr/>
          <p:nvPr/>
        </p:nvSpPr>
        <p:spPr>
          <a:xfrm>
            <a:off x="10675619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9143999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15803D"/>
                </a:solidFill>
                <a:latin typeface="Arial"/>
                <a:cs typeface="Arial"/>
              </a:rPr>
              <a:t>Ground-Truth Baseline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15803D"/>
                </a:solidFill>
                <a:latin typeface="Arial"/>
                <a:cs typeface="Arial"/>
              </a:rPr>
              <a:t>Expands RAG vector cache</a:t>
            </a:r>
            <a:endParaRPr sz="1100"/>
          </a:p>
        </p:txBody>
      </p:sp>
      <p:sp>
        <p:nvSpPr>
          <p:cNvPr id="150" name="Down Arrow 149"/>
          <p:cNvSpPr/>
          <p:nvPr/>
        </p:nvSpPr>
        <p:spPr>
          <a:xfrm>
            <a:off x="10675619" y="738835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ounded Rectangle 150"/>
          <p:cNvSpPr/>
          <p:nvPr/>
        </p:nvSpPr>
        <p:spPr>
          <a:xfrm>
            <a:off x="9143999" y="768096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Model Improves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Continuous few-shot tuning</a:t>
            </a:r>
            <a:endParaRPr sz="1100"/>
          </a:p>
        </p:txBody>
      </p:sp>
      <p:sp>
        <p:nvSpPr>
          <p:cNvPr id="152" name="TextBox 151"/>
          <p:cNvSpPr txBox="1"/>
          <p:nvPr/>
        </p:nvSpPr>
        <p:spPr>
          <a:xfrm>
            <a:off x="1280160" y="7589520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475569"/>
                </a:solidFill>
                <a:latin typeface="Arial"/>
                <a:cs typeface="Arial"/>
              </a:rPr>
              <a:t>Flagged documents route to</a:t>
            </a:r>
            <a:endParaRPr sz="1200"/>
          </a:p>
          <a:p>
            <a:pPr algn="ctr"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0066CC"/>
                </a:solidFill>
                <a:latin typeface="Arial"/>
                <a:cs typeface="Arial"/>
              </a:rPr>
              <a:t>3 · Officer Review →</a:t>
            </a:r>
            <a:endParaRPr sz="1200"/>
          </a:p>
        </p:txBody>
      </p:sp>
      <p:sp>
        <p:nvSpPr>
          <p:cNvPr id="153" name="Rectangle 152"/>
          <p:cNvSpPr/>
          <p:nvPr/>
        </p:nvSpPr>
        <p:spPr>
          <a:xfrm>
            <a:off x="13350240" y="1600200"/>
            <a:ext cx="411480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13350240" y="17373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TECH STACK</a:t>
            </a:r>
            <a:endParaRPr sz="1800"/>
          </a:p>
        </p:txBody>
      </p:sp>
      <p:sp>
        <p:nvSpPr>
          <p:cNvPr id="155" name="Rounded Rectangle 154"/>
          <p:cNvSpPr/>
          <p:nvPr/>
        </p:nvSpPr>
        <p:spPr>
          <a:xfrm>
            <a:off x="13578840" y="233172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8567" y="2523744"/>
            <a:ext cx="457200" cy="4572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14218919" y="233172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React 18</a:t>
            </a:r>
            <a:endParaRPr sz="1250"/>
          </a:p>
        </p:txBody>
      </p:sp>
      <p:sp>
        <p:nvSpPr>
          <p:cNvPr id="158" name="Rounded Rectangle 157"/>
          <p:cNvSpPr/>
          <p:nvPr/>
        </p:nvSpPr>
        <p:spPr>
          <a:xfrm>
            <a:off x="15476220" y="233172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85948" y="2523744"/>
            <a:ext cx="457200" cy="4572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6116300" y="233172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TypeScript</a:t>
            </a:r>
            <a:endParaRPr sz="1250"/>
          </a:p>
        </p:txBody>
      </p:sp>
      <p:sp>
        <p:nvSpPr>
          <p:cNvPr id="161" name="Rounded Rectangle 160"/>
          <p:cNvSpPr/>
          <p:nvPr/>
        </p:nvSpPr>
        <p:spPr>
          <a:xfrm>
            <a:off x="13578840" y="3282696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8567" y="3474720"/>
            <a:ext cx="457200" cy="4572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4218919" y="3282696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Python 3</a:t>
            </a:r>
            <a:endParaRPr sz="1250"/>
          </a:p>
        </p:txBody>
      </p:sp>
      <p:sp>
        <p:nvSpPr>
          <p:cNvPr id="164" name="Rounded Rectangle 163"/>
          <p:cNvSpPr/>
          <p:nvPr/>
        </p:nvSpPr>
        <p:spPr>
          <a:xfrm>
            <a:off x="15476220" y="3282696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85948" y="3474720"/>
            <a:ext cx="457200" cy="4572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6116300" y="3282696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OpenCV</a:t>
            </a:r>
            <a:endParaRPr sz="1250"/>
          </a:p>
        </p:txBody>
      </p:sp>
      <p:sp>
        <p:nvSpPr>
          <p:cNvPr id="167" name="Rounded Rectangle 166"/>
          <p:cNvSpPr/>
          <p:nvPr/>
        </p:nvSpPr>
        <p:spPr>
          <a:xfrm>
            <a:off x="13578840" y="4233672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88567" y="4425696"/>
            <a:ext cx="457200" cy="45720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4218919" y="4233672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Gemini Flash</a:t>
            </a:r>
            <a:endParaRPr sz="1250"/>
          </a:p>
        </p:txBody>
      </p:sp>
      <p:sp>
        <p:nvSpPr>
          <p:cNvPr id="170" name="Rounded Rectangle 169"/>
          <p:cNvSpPr/>
          <p:nvPr/>
        </p:nvSpPr>
        <p:spPr>
          <a:xfrm>
            <a:off x="15476220" y="4233672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85948" y="4425696"/>
            <a:ext cx="457200" cy="4572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6116300" y="4233672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FaceNet 3D</a:t>
            </a:r>
            <a:endParaRPr sz="1250"/>
          </a:p>
        </p:txBody>
      </p:sp>
      <p:sp>
        <p:nvSpPr>
          <p:cNvPr id="173" name="Rounded Rectangle 172"/>
          <p:cNvSpPr/>
          <p:nvPr/>
        </p:nvSpPr>
        <p:spPr>
          <a:xfrm>
            <a:off x="13578840" y="5184648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88567" y="5376672"/>
            <a:ext cx="457200" cy="4572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4218919" y="5184648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Tailwind CSS</a:t>
            </a:r>
            <a:endParaRPr sz="1250"/>
          </a:p>
        </p:txBody>
      </p:sp>
      <p:sp>
        <p:nvSpPr>
          <p:cNvPr id="176" name="Rounded Rectangle 175"/>
          <p:cNvSpPr/>
          <p:nvPr/>
        </p:nvSpPr>
        <p:spPr>
          <a:xfrm>
            <a:off x="15476220" y="5184648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85948" y="5376672"/>
            <a:ext cx="457200" cy="45720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6116300" y="5184648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Vite / Vercel</a:t>
            </a:r>
            <a:endParaRPr sz="1250"/>
          </a:p>
        </p:txBody>
      </p:sp>
      <p:sp>
        <p:nvSpPr>
          <p:cNvPr id="179" name="Rounded Rectangle 178"/>
          <p:cNvSpPr/>
          <p:nvPr/>
        </p:nvSpPr>
        <p:spPr>
          <a:xfrm>
            <a:off x="13578840" y="6135624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88567" y="6327648"/>
            <a:ext cx="457200" cy="45720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4218919" y="6135624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SHA-256</a:t>
            </a:r>
            <a:endParaRPr sz="1250"/>
          </a:p>
        </p:txBody>
      </p:sp>
      <p:sp>
        <p:nvSpPr>
          <p:cNvPr id="182" name="Rounded Rectangle 181"/>
          <p:cNvSpPr/>
          <p:nvPr/>
        </p:nvSpPr>
        <p:spPr>
          <a:xfrm>
            <a:off x="15476220" y="6135624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85948" y="6327648"/>
            <a:ext cx="457200" cy="45720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16116300" y="6135624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ICAO Doc 9303</a:t>
            </a:r>
            <a:endParaRPr sz="1250"/>
          </a:p>
        </p:txBody>
      </p:sp>
      <p:sp>
        <p:nvSpPr>
          <p:cNvPr id="185" name="Rounded Rectangle 184"/>
          <p:cNvSpPr/>
          <p:nvPr/>
        </p:nvSpPr>
        <p:spPr>
          <a:xfrm>
            <a:off x="13578840" y="708660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88567" y="7278624"/>
            <a:ext cx="457200" cy="45720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14218919" y="708660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Lucide React</a:t>
            </a:r>
            <a:endParaRPr sz="1250"/>
          </a:p>
        </p:txBody>
      </p:sp>
      <p:sp>
        <p:nvSpPr>
          <p:cNvPr id="188" name="Rounded Rectangle 187"/>
          <p:cNvSpPr/>
          <p:nvPr/>
        </p:nvSpPr>
        <p:spPr>
          <a:xfrm>
            <a:off x="15476220" y="708660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85948" y="7278624"/>
            <a:ext cx="457200" cy="45720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16116300" y="708660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RAG Engine</a:t>
            </a:r>
            <a:endParaRPr sz="1250"/>
          </a:p>
        </p:txBody>
      </p:sp>
      <p:sp>
        <p:nvSpPr>
          <p:cNvPr id="191" name="Rounded Rectangle 190"/>
          <p:cNvSpPr/>
          <p:nvPr/>
        </p:nvSpPr>
        <p:spPr>
          <a:xfrm>
            <a:off x="13578840" y="8037575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88567" y="8229600"/>
            <a:ext cx="457200" cy="45720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14218919" y="8037575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WebRTC Cam</a:t>
            </a:r>
            <a:endParaRPr sz="1250"/>
          </a:p>
        </p:txBody>
      </p:sp>
      <p:sp>
        <p:nvSpPr>
          <p:cNvPr id="194" name="Rounded Rectangle 193"/>
          <p:cNvSpPr/>
          <p:nvPr/>
        </p:nvSpPr>
        <p:spPr>
          <a:xfrm>
            <a:off x="15476220" y="8037575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85948" y="8229600"/>
            <a:ext cx="457200" cy="457200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16116300" y="8037575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Docker / K8s</a:t>
            </a:r>
            <a:endParaRPr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9" name="Hexagon 58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1" name="TextBox 60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FEASIBILITY AND VIABILITY</a:t>
            </a:r>
            <a:endParaRPr sz="5400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822960" y="1600200"/>
            <a:ext cx="78638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ANALYSIS OF FEASIBILITY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Economic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B2G revenue: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kiosk licences, e-Gate SaaS &amp; integrations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Funding: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CSR &amp; digitization grants (MHA, Bureau of Immigration)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Zero capex: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runs on existing border PCs &amp; scanners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Low marginal cost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→ national-scale public savings</a:t>
            </a:r>
            <a:endParaRPr sz="1600"/>
          </a:p>
          <a:p>
            <a:pPr algn="l" marL="0" indent="0">
              <a:spcBef>
                <a:spcPts val="2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Technical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Proven stack: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Gemini Flash, OpenCV, FaceNet, ICAO 9303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Live prototype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already deployed on Vercel Edge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Containerized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(Docker/K8s) → portable &amp; resilient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e-Gate ready: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REST APIs + WebRTC video streams</a:t>
            </a:r>
            <a:endParaRPr sz="1600"/>
          </a:p>
          <a:p>
            <a:pPr algn="l" marL="0" indent="0">
              <a:spcBef>
                <a:spcPts val="2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Scalability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Demand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across airports, seaports &amp; land borders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Modular 7-stage pipeline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→ phased national rollout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Compliance-ready: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BoI, MHA, ICAO &amp; DPDP Act</a:t>
            </a:r>
            <a:endParaRPr sz="1600"/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8915400" y="1600200"/>
          <a:ext cx="854964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46120"/>
                <a:gridCol w="5303520"/>
              </a:tblGrid>
              <a:tr h="54864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Challenges &amp; Risks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How We Overcome Them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Offline border outposts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Heuristic fallback engine + local caching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Adoption &amp; integration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Plug-and-play REST API / SDK + bulk scanner ingestion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AI accuracy &amp; deepfakes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UV/IR physics simulation + 3D passive liveness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Insider threats &amp; fraud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Immutable SHA-256 ledger + dual-officer sign-off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Passenger data privacy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In-memory matching, zero storage (DPDP / GDPR)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2322576"/>
            <a:ext cx="365760" cy="36576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3035808"/>
            <a:ext cx="365760" cy="36576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749040"/>
            <a:ext cx="365760" cy="36576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4462272"/>
            <a:ext cx="365760" cy="36576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175504"/>
            <a:ext cx="365760" cy="36576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915400" y="1600200"/>
            <a:ext cx="8549640" cy="4114800"/>
          </a:xfrm>
          <a:prstGeom prst="rect">
            <a:avLst/>
          </a:prstGeom>
          <a:noFill/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915400" y="5989320"/>
            <a:ext cx="85496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 rIns="228600" bIns="9144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KEY METRICS</a:t>
            </a:r>
            <a:endParaRPr sz="1800"/>
          </a:p>
        </p:txBody>
      </p:sp>
      <p:sp>
        <p:nvSpPr>
          <p:cNvPr id="72" name="Rounded Rectangle 71"/>
          <p:cNvSpPr/>
          <p:nvPr/>
        </p:nvSpPr>
        <p:spPr>
          <a:xfrm>
            <a:off x="914400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&lt;1.8s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per verification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(vs 300s manual)</a:t>
            </a:r>
            <a:endParaRPr sz="1250"/>
          </a:p>
        </p:txBody>
      </p:sp>
      <p:sp>
        <p:nvSpPr>
          <p:cNvPr id="73" name="Rounded Rectangle 72"/>
          <p:cNvSpPr/>
          <p:nvPr/>
        </p:nvSpPr>
        <p:spPr>
          <a:xfrm>
            <a:off x="1121283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60–70%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manpower &amp; admin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savings</a:t>
            </a:r>
            <a:endParaRPr sz="1250"/>
          </a:p>
        </p:txBody>
      </p:sp>
      <p:sp>
        <p:nvSpPr>
          <p:cNvPr id="74" name="Rounded Rectangle 73"/>
          <p:cNvSpPr/>
          <p:nvPr/>
        </p:nvSpPr>
        <p:spPr>
          <a:xfrm>
            <a:off x="1328166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&lt;₹0.05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cost per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passenger</a:t>
            </a:r>
            <a:endParaRPr sz="1250"/>
          </a:p>
        </p:txBody>
      </p:sp>
      <p:sp>
        <p:nvSpPr>
          <p:cNvPr id="75" name="Rounded Rectangle 74"/>
          <p:cNvSpPr/>
          <p:nvPr/>
        </p:nvSpPr>
        <p:spPr>
          <a:xfrm>
            <a:off x="1535049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100K+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daily screenings,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&lt;5% infra overhead</a:t>
            </a:r>
            <a:endParaRPr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63" name="Hexagon 62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IMPACT AND BENEFITS</a:t>
            </a:r>
            <a:endParaRPr sz="5400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22960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783080"/>
            <a:ext cx="548640" cy="5486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14400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C2410C"/>
                </a:solidFill>
                <a:latin typeface="Arial"/>
                <a:cs typeface="Arial"/>
              </a:rPr>
              <a:t>Social</a:t>
            </a:r>
            <a:endParaRPr sz="1700"/>
          </a:p>
        </p:txBody>
      </p:sp>
      <p:sp>
        <p:nvSpPr>
          <p:cNvPr id="70" name="TextBox 69"/>
          <p:cNvSpPr txBox="1"/>
          <p:nvPr/>
        </p:nvSpPr>
        <p:spPr>
          <a:xfrm>
            <a:off x="960120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Public trust in border governance</a:t>
            </a:r>
            <a:endParaRPr sz="1350"/>
          </a:p>
        </p:txBody>
      </p:sp>
      <p:sp>
        <p:nvSpPr>
          <p:cNvPr id="71" name="Rounded Rectangle 70"/>
          <p:cNvSpPr/>
          <p:nvPr/>
        </p:nvSpPr>
        <p:spPr>
          <a:xfrm>
            <a:off x="4197096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783080"/>
            <a:ext cx="548640" cy="54864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288536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1D4ED8"/>
                </a:solidFill>
                <a:latin typeface="Arial"/>
                <a:cs typeface="Arial"/>
              </a:rPr>
              <a:t>Security</a:t>
            </a:r>
            <a:endParaRPr sz="1700"/>
          </a:p>
        </p:txBody>
      </p:sp>
      <p:sp>
        <p:nvSpPr>
          <p:cNvPr id="74" name="TextBox 73"/>
          <p:cNvSpPr txBox="1"/>
          <p:nvPr/>
        </p:nvSpPr>
        <p:spPr>
          <a:xfrm>
            <a:off x="4334256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Stops trafficking &amp; fake identities</a:t>
            </a:r>
            <a:endParaRPr sz="1350"/>
          </a:p>
        </p:txBody>
      </p:sp>
      <p:sp>
        <p:nvSpPr>
          <p:cNvPr id="75" name="Rounded Rectangle 74"/>
          <p:cNvSpPr/>
          <p:nvPr/>
        </p:nvSpPr>
        <p:spPr>
          <a:xfrm>
            <a:off x="7571232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783080"/>
            <a:ext cx="548640" cy="54864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662672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15803D"/>
                </a:solidFill>
                <a:latin typeface="Arial"/>
                <a:cs typeface="Arial"/>
              </a:rPr>
              <a:t>Environmental</a:t>
            </a:r>
            <a:endParaRPr sz="1700"/>
          </a:p>
        </p:txBody>
      </p:sp>
      <p:sp>
        <p:nvSpPr>
          <p:cNvPr id="78" name="TextBox 77"/>
          <p:cNvSpPr txBox="1"/>
          <p:nvPr/>
        </p:nvSpPr>
        <p:spPr>
          <a:xfrm>
            <a:off x="7708392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Paperless dossiers, no idle queues</a:t>
            </a:r>
            <a:endParaRPr sz="1350"/>
          </a:p>
        </p:txBody>
      </p:sp>
      <p:sp>
        <p:nvSpPr>
          <p:cNvPr id="79" name="Rounded Rectangle 78"/>
          <p:cNvSpPr/>
          <p:nvPr/>
        </p:nvSpPr>
        <p:spPr>
          <a:xfrm>
            <a:off x="10945368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3816" y="1783080"/>
            <a:ext cx="548640" cy="54864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1036808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BE123C"/>
                </a:solidFill>
                <a:latin typeface="Arial"/>
                <a:cs typeface="Arial"/>
              </a:rPr>
              <a:t>Economical</a:t>
            </a:r>
            <a:endParaRPr sz="1700"/>
          </a:p>
        </p:txBody>
      </p:sp>
      <p:sp>
        <p:nvSpPr>
          <p:cNvPr id="82" name="TextBox 81"/>
          <p:cNvSpPr txBox="1"/>
          <p:nvPr/>
        </p:nvSpPr>
        <p:spPr>
          <a:xfrm>
            <a:off x="11082528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Saves crores lost to document fraud</a:t>
            </a:r>
            <a:endParaRPr sz="1350"/>
          </a:p>
        </p:txBody>
      </p:sp>
      <p:sp>
        <p:nvSpPr>
          <p:cNvPr id="83" name="Rounded Rectangle 82"/>
          <p:cNvSpPr/>
          <p:nvPr/>
        </p:nvSpPr>
        <p:spPr>
          <a:xfrm>
            <a:off x="14319504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7952" y="178308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4410944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334155"/>
                </a:solidFill>
                <a:latin typeface="Arial"/>
                <a:cs typeface="Arial"/>
              </a:rPr>
              <a:t>Technological</a:t>
            </a:r>
            <a:endParaRPr sz="1700"/>
          </a:p>
        </p:txBody>
      </p:sp>
      <p:sp>
        <p:nvSpPr>
          <p:cNvPr id="86" name="TextBox 85"/>
          <p:cNvSpPr txBox="1"/>
          <p:nvPr/>
        </p:nvSpPr>
        <p:spPr>
          <a:xfrm>
            <a:off x="14456664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Multimodal AI + SHA-256 ledger</a:t>
            </a:r>
            <a:endParaRPr sz="1350"/>
          </a:p>
        </p:txBody>
      </p:sp>
      <p:sp>
        <p:nvSpPr>
          <p:cNvPr id="87" name="Rectangle 86"/>
          <p:cNvSpPr/>
          <p:nvPr/>
        </p:nvSpPr>
        <p:spPr>
          <a:xfrm>
            <a:off x="822960" y="3749039"/>
            <a:ext cx="8206740" cy="5532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WHO BENEFITS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Immigration Bureau &amp; MHA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Clearance Throughput – </a:t>
            </a:r>
            <a:r>
              <a:rPr lang="en-IN" sz="1650" dirty="0" b="1">
                <a:solidFill>
                  <a:srgbClr val="0066CC"/>
                </a:solidFill>
                <a:latin typeface="Arial"/>
                <a:cs typeface="Arial"/>
              </a:rPr>
              <a:t>300% boost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 at automated e-Gates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Reduced Workload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officers review only AI-flagged documents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Border Control Officers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Instant Authenticity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real-time Modulo-7 &amp; multi-spectral checks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Cognitive Relief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XAI rationale removes guesswork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International Travellers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Frictionless Transit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no waiting queues at e-Gates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Biometric Privacy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in-memory matching, zero storage</a:t>
            </a:r>
            <a:endParaRPr sz="1650"/>
          </a:p>
        </p:txBody>
      </p:sp>
      <p:sp>
        <p:nvSpPr>
          <p:cNvPr id="88" name="Rectangle 87"/>
          <p:cNvSpPr/>
          <p:nvPr/>
        </p:nvSpPr>
        <p:spPr>
          <a:xfrm>
            <a:off x="9258300" y="3749039"/>
            <a:ext cx="8206740" cy="5532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NATIONAL IMPACT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Trust &amp; Enforcement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Border Integrity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blocks forged &amp; synthetic identities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Global Enforcement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links border data to Interpol &amp; MHA watchlists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Economic Growth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Cost Efficiency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lower verification cost per traveller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Tourism &amp; Commerce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faster transit boosts trade &amp; business travel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Digital Leadership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Global Standards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India as a pioneer in ICAO 9303 AI screening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Tech Adoption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drives multimodal AI &amp; biometric innovation</a:t>
            </a:r>
            <a:endParaRPr sz="1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8" name="Hexagon 57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RESEARCH AND REFERENCES</a:t>
            </a:r>
            <a:endParaRPr sz="5400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822960" y="1600200"/>
            <a:ext cx="78638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RESEARCH BASE</a:t>
            </a:r>
            <a:endParaRPr sz="1800"/>
          </a:p>
          <a:p>
            <a:pPr algn="l" marL="0" indent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AI Forensics &amp; OCR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Deep Learning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CNNs (Springer 2020) + Vision Transformers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Error Level Analysis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Krawetz (2007), JPEG quantization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Multimodal Vision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Google Gemini Flash technical report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Biometrics &amp; Identity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Facial Embeddings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Schroff et al. (2015) FaceNet, IEEE CVPR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Presentation Attack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ISO/IEC 30107 liveness framework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Security Standards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ICAO Doc 9303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MRTDs &amp; Modulo-7 check digits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ISO/IEC 19794-5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facial image interchange format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NIST FIPS 180-4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SHA-256 hashing; TLS 1.3 transport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DPDP Act 2023 &amp; GDPR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zero-persistence biometrics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Proven Implementations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DigiLocker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India's credential verification benchmark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Estonia e-Gates &amp; Singapore Changi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automated border clearance</a:t>
            </a:r>
            <a:endParaRPr sz="1550"/>
          </a:p>
        </p:txBody>
      </p:sp>
      <p:sp>
        <p:nvSpPr>
          <p:cNvPr id="63" name="Rectangle 62"/>
          <p:cNvSpPr/>
          <p:nvPr/>
        </p:nvSpPr>
        <p:spPr>
          <a:xfrm>
            <a:off x="8915400" y="1600200"/>
            <a:ext cx="85496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9144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BENCHMARKING: OUR TECH VS REAL-WORLD SYSTEMS</a:t>
            </a:r>
            <a:endParaRPr sz="1800"/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9144000" y="2377440"/>
          <a:ext cx="8092440" cy="6675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2926080"/>
                <a:gridCol w="2926080"/>
              </a:tblGrid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Our Research Base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Real-World Benchmark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Document Forensics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CNNs, ViT anomaly detection, ELA, UV/IR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Frontex &amp; Interpol forensic audits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OCR &amp; MRZ Standards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Multimodal Vision + ICAO 9303 checksums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DigiLocker OCR pipelines, e-Passports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Biometric Identity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FaceNet 128-d + 3D liveness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Singapore Changi, US CBP e-Gates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Security Protocols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AES-256, TLS 1.3, SHA-256 ledger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Govt. standards (India + EU e-Gov)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Digital Audit Trail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SHA-256 evidentiary chain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Estonia e-Gov KSI Blockchain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6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2026-09-18T21:56:14Z</dcterms:created>
  <dcterms:modified xsi:type="dcterms:W3CDTF">2026-09-18T21:56:14Z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2026-09-18T00:00:00Z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2026-09-18T00:00:00Z</vt:filetime>
  </property>
  <property fmtid="{D5CDD505-2E9C-101B-9397-08002B2CF9AE}" pid="7" name="Producer">
    <vt:lpwstr>Adobe Express</vt:lpwstr>
  </property>
</Properties>
</file>